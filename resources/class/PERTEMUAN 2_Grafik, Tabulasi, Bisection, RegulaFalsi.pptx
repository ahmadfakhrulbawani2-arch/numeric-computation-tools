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3" r:id="rId16"/>
    <p:sldId id="282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4" r:id="rId25"/>
    <p:sldId id="285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TDTD가온" panose="020B0604020202020204" charset="-127"/>
      <p:regular r:id="rId33"/>
    </p:embeddedFont>
    <p:embeddedFont>
      <p:font typeface="TDTD갬성명조" panose="020B0604020202020204" charset="-127"/>
      <p:regular r:id="rId34"/>
    </p:embeddedFont>
    <p:embeddedFont>
      <p:font typeface="Funtastic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" y="6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61AEA-7693-4711-ADD6-7F49C0798D9D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A8767-D018-4136-A9EC-BB5537C280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848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A8767-D018-4136-A9EC-BB5537C28008}" type="slidenum">
              <a:rPr lang="en-ID" smtClean="0"/>
              <a:t>25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2879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svg"/><Relationship Id="rId7" Type="http://schemas.openxmlformats.org/officeDocument/2006/relationships/image" Target="../media/image18.svg"/><Relationship Id="rId12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20.sv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8.svg"/><Relationship Id="rId7" Type="http://schemas.openxmlformats.org/officeDocument/2006/relationships/image" Target="../media/image1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5.svg"/><Relationship Id="rId3" Type="http://schemas.openxmlformats.org/officeDocument/2006/relationships/image" Target="../media/image8.svg"/><Relationship Id="rId7" Type="http://schemas.openxmlformats.org/officeDocument/2006/relationships/image" Target="../media/image13.png"/><Relationship Id="rId12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5" Type="http://schemas.openxmlformats.org/officeDocument/2006/relationships/image" Target="../media/image18.svg"/><Relationship Id="rId10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4.png"/><Relationship Id="rId3" Type="http://schemas.openxmlformats.org/officeDocument/2006/relationships/image" Target="../media/image8.svg"/><Relationship Id="rId7" Type="http://schemas.openxmlformats.org/officeDocument/2006/relationships/image" Target="../media/image13.png"/><Relationship Id="rId12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18.svg"/><Relationship Id="rId10" Type="http://schemas.openxmlformats.org/officeDocument/2006/relationships/image" Target="../media/image38.png"/><Relationship Id="rId4" Type="http://schemas.openxmlformats.org/officeDocument/2006/relationships/image" Target="../media/image17.png"/><Relationship Id="rId9" Type="http://schemas.openxmlformats.org/officeDocument/2006/relationships/image" Target="../media/image37.png"/><Relationship Id="rId1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8.svg"/><Relationship Id="rId7" Type="http://schemas.openxmlformats.org/officeDocument/2006/relationships/image" Target="../media/image4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8.svg"/><Relationship Id="rId7" Type="http://schemas.openxmlformats.org/officeDocument/2006/relationships/image" Target="../media/image5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3" Type="http://schemas.openxmlformats.org/officeDocument/2006/relationships/image" Target="../media/image8.sv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5" Type="http://schemas.openxmlformats.org/officeDocument/2006/relationships/image" Target="../media/image75.svg"/><Relationship Id="rId2" Type="http://schemas.openxmlformats.org/officeDocument/2006/relationships/image" Target="../media/image7.png"/><Relationship Id="rId16" Type="http://schemas.openxmlformats.org/officeDocument/2006/relationships/image" Target="../media/image66.svg"/><Relationship Id="rId20" Type="http://schemas.openxmlformats.org/officeDocument/2006/relationships/image" Target="../media/image7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10" Type="http://schemas.openxmlformats.org/officeDocument/2006/relationships/image" Target="../media/image60.svg"/><Relationship Id="rId19" Type="http://schemas.openxmlformats.org/officeDocument/2006/relationships/image" Target="../media/image69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svg"/><Relationship Id="rId22" Type="http://schemas.openxmlformats.org/officeDocument/2006/relationships/image" Target="../media/image7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13" Type="http://schemas.openxmlformats.org/officeDocument/2006/relationships/image" Target="../media/image85.svg"/><Relationship Id="rId3" Type="http://schemas.openxmlformats.org/officeDocument/2006/relationships/image" Target="../media/image8.sv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sv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sv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13" Type="http://schemas.openxmlformats.org/officeDocument/2006/relationships/image" Target="../media/image101.png"/><Relationship Id="rId3" Type="http://schemas.openxmlformats.org/officeDocument/2006/relationships/image" Target="../media/image8.svg"/><Relationship Id="rId7" Type="http://schemas.openxmlformats.org/officeDocument/2006/relationships/image" Target="../media/image95.png"/><Relationship Id="rId12" Type="http://schemas.openxmlformats.org/officeDocument/2006/relationships/image" Target="../media/image10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sv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sv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13.png"/><Relationship Id="rId3" Type="http://schemas.openxmlformats.org/officeDocument/2006/relationships/image" Target="../media/image8.svg"/><Relationship Id="rId7" Type="http://schemas.openxmlformats.org/officeDocument/2006/relationships/image" Target="../media/image107.png"/><Relationship Id="rId12" Type="http://schemas.openxmlformats.org/officeDocument/2006/relationships/image" Target="../media/image1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sv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sv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13" Type="http://schemas.openxmlformats.org/officeDocument/2006/relationships/image" Target="../media/image125.png"/><Relationship Id="rId3" Type="http://schemas.openxmlformats.org/officeDocument/2006/relationships/image" Target="../media/image8.svg"/><Relationship Id="rId7" Type="http://schemas.openxmlformats.org/officeDocument/2006/relationships/image" Target="../media/image119.png"/><Relationship Id="rId12" Type="http://schemas.openxmlformats.org/officeDocument/2006/relationships/image" Target="../media/image12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sv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10" Type="http://schemas.openxmlformats.org/officeDocument/2006/relationships/image" Target="../media/image122.sv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8.svg"/><Relationship Id="rId7" Type="http://schemas.openxmlformats.org/officeDocument/2006/relationships/image" Target="../media/image129.svg"/><Relationship Id="rId12" Type="http://schemas.openxmlformats.org/officeDocument/2006/relationships/image" Target="../media/image1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31.svg"/><Relationship Id="rId5" Type="http://schemas.openxmlformats.org/officeDocument/2006/relationships/image" Target="../media/image18.svg"/><Relationship Id="rId10" Type="http://schemas.openxmlformats.org/officeDocument/2006/relationships/image" Target="../media/image130.png"/><Relationship Id="rId4" Type="http://schemas.openxmlformats.org/officeDocument/2006/relationships/image" Target="../media/image17.png"/><Relationship Id="rId9" Type="http://schemas.openxmlformats.org/officeDocument/2006/relationships/image" Target="../media/image11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13" Type="http://schemas.openxmlformats.org/officeDocument/2006/relationships/image" Target="../media/image139.png"/><Relationship Id="rId3" Type="http://schemas.openxmlformats.org/officeDocument/2006/relationships/image" Target="../media/image7.png"/><Relationship Id="rId7" Type="http://schemas.openxmlformats.org/officeDocument/2006/relationships/image" Target="../media/image135.png"/><Relationship Id="rId12" Type="http://schemas.openxmlformats.org/officeDocument/2006/relationships/image" Target="../media/image100.svg"/><Relationship Id="rId2" Type="http://schemas.openxmlformats.org/officeDocument/2006/relationships/image" Target="../media/image134.png"/><Relationship Id="rId16" Type="http://schemas.openxmlformats.org/officeDocument/2006/relationships/image" Target="../media/image1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svg"/><Relationship Id="rId11" Type="http://schemas.openxmlformats.org/officeDocument/2006/relationships/image" Target="../media/image99.png"/><Relationship Id="rId5" Type="http://schemas.openxmlformats.org/officeDocument/2006/relationships/image" Target="../media/image130.png"/><Relationship Id="rId15" Type="http://schemas.openxmlformats.org/officeDocument/2006/relationships/image" Target="../media/image141.png"/><Relationship Id="rId10" Type="http://schemas.openxmlformats.org/officeDocument/2006/relationships/image" Target="../media/image138.svg"/><Relationship Id="rId4" Type="http://schemas.openxmlformats.org/officeDocument/2006/relationships/image" Target="../media/image8.svg"/><Relationship Id="rId9" Type="http://schemas.openxmlformats.org/officeDocument/2006/relationships/image" Target="../media/image137.png"/><Relationship Id="rId14" Type="http://schemas.openxmlformats.org/officeDocument/2006/relationships/image" Target="../media/image14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svg"/><Relationship Id="rId18" Type="http://schemas.openxmlformats.org/officeDocument/2006/relationships/image" Target="../media/image157.png"/><Relationship Id="rId3" Type="http://schemas.openxmlformats.org/officeDocument/2006/relationships/image" Target="../media/image8.svg"/><Relationship Id="rId21" Type="http://schemas.openxmlformats.org/officeDocument/2006/relationships/image" Target="../media/image160.svg"/><Relationship Id="rId7" Type="http://schemas.openxmlformats.org/officeDocument/2006/relationships/image" Target="../media/image146.svg"/><Relationship Id="rId12" Type="http://schemas.openxmlformats.org/officeDocument/2006/relationships/image" Target="../media/image151.png"/><Relationship Id="rId17" Type="http://schemas.openxmlformats.org/officeDocument/2006/relationships/image" Target="../media/image156.svg"/><Relationship Id="rId2" Type="http://schemas.openxmlformats.org/officeDocument/2006/relationships/image" Target="../media/image7.png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50.svg"/><Relationship Id="rId5" Type="http://schemas.openxmlformats.org/officeDocument/2006/relationships/image" Target="../media/image144.svg"/><Relationship Id="rId15" Type="http://schemas.openxmlformats.org/officeDocument/2006/relationships/image" Target="../media/image154.svg"/><Relationship Id="rId23" Type="http://schemas.openxmlformats.org/officeDocument/2006/relationships/image" Target="../media/image162.svg"/><Relationship Id="rId10" Type="http://schemas.openxmlformats.org/officeDocument/2006/relationships/image" Target="../media/image149.png"/><Relationship Id="rId19" Type="http://schemas.openxmlformats.org/officeDocument/2006/relationships/image" Target="../media/image158.svg"/><Relationship Id="rId4" Type="http://schemas.openxmlformats.org/officeDocument/2006/relationships/image" Target="../media/image143.png"/><Relationship Id="rId9" Type="http://schemas.openxmlformats.org/officeDocument/2006/relationships/image" Target="../media/image148.sv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svg"/><Relationship Id="rId13" Type="http://schemas.openxmlformats.org/officeDocument/2006/relationships/image" Target="../media/image176.png"/><Relationship Id="rId3" Type="http://schemas.openxmlformats.org/officeDocument/2006/relationships/image" Target="../media/image8.svg"/><Relationship Id="rId7" Type="http://schemas.openxmlformats.org/officeDocument/2006/relationships/image" Target="../media/image172.png"/><Relationship Id="rId12" Type="http://schemas.openxmlformats.org/officeDocument/2006/relationships/image" Target="../media/image10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.svg"/><Relationship Id="rId11" Type="http://schemas.openxmlformats.org/officeDocument/2006/relationships/image" Target="../media/image99.png"/><Relationship Id="rId5" Type="http://schemas.openxmlformats.org/officeDocument/2006/relationships/image" Target="../media/image170.png"/><Relationship Id="rId10" Type="http://schemas.openxmlformats.org/officeDocument/2006/relationships/image" Target="../media/image175.sv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14" Type="http://schemas.openxmlformats.org/officeDocument/2006/relationships/image" Target="../media/image17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7.svg"/><Relationship Id="rId3" Type="http://schemas.openxmlformats.org/officeDocument/2006/relationships/image" Target="../media/image8.svg"/><Relationship Id="rId7" Type="http://schemas.openxmlformats.org/officeDocument/2006/relationships/image" Target="../media/image181.svg"/><Relationship Id="rId12" Type="http://schemas.openxmlformats.org/officeDocument/2006/relationships/image" Target="../media/image18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185.svg"/><Relationship Id="rId5" Type="http://schemas.openxmlformats.org/officeDocument/2006/relationships/image" Target="../media/image179.svg"/><Relationship Id="rId10" Type="http://schemas.openxmlformats.org/officeDocument/2006/relationships/image" Target="../media/image184.png"/><Relationship Id="rId4" Type="http://schemas.openxmlformats.org/officeDocument/2006/relationships/image" Target="../media/image178.png"/><Relationship Id="rId9" Type="http://schemas.openxmlformats.org/officeDocument/2006/relationships/image" Target="../media/image183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7.svg"/><Relationship Id="rId3" Type="http://schemas.openxmlformats.org/officeDocument/2006/relationships/image" Target="../media/image8.svg"/><Relationship Id="rId7" Type="http://schemas.openxmlformats.org/officeDocument/2006/relationships/image" Target="../media/image191.svg"/><Relationship Id="rId12" Type="http://schemas.openxmlformats.org/officeDocument/2006/relationships/image" Target="../media/image19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png"/><Relationship Id="rId11" Type="http://schemas.openxmlformats.org/officeDocument/2006/relationships/image" Target="../media/image195.svg"/><Relationship Id="rId5" Type="http://schemas.openxmlformats.org/officeDocument/2006/relationships/image" Target="../media/image189.svg"/><Relationship Id="rId15" Type="http://schemas.openxmlformats.org/officeDocument/2006/relationships/image" Target="../media/image140.svg"/><Relationship Id="rId10" Type="http://schemas.openxmlformats.org/officeDocument/2006/relationships/image" Target="../media/image194.png"/><Relationship Id="rId4" Type="http://schemas.openxmlformats.org/officeDocument/2006/relationships/image" Target="../media/image188.png"/><Relationship Id="rId9" Type="http://schemas.openxmlformats.org/officeDocument/2006/relationships/image" Target="../media/image193.svg"/><Relationship Id="rId14" Type="http://schemas.openxmlformats.org/officeDocument/2006/relationships/image" Target="../media/image1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99.svg"/><Relationship Id="rId4" Type="http://schemas.openxmlformats.org/officeDocument/2006/relationships/image" Target="../media/image19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7058800"/>
            <a:ext cx="19479934" cy="3787638"/>
            <a:chOff x="0" y="0"/>
            <a:chExt cx="5130518" cy="9975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997567"/>
            </a:xfrm>
            <a:custGeom>
              <a:avLst/>
              <a:gdLst/>
              <a:ahLst/>
              <a:cxnLst/>
              <a:rect l="l" t="t" r="r" b="b"/>
              <a:pathLst>
                <a:path w="5130517" h="997567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985644"/>
                  </a:lnTo>
                  <a:cubicBezTo>
                    <a:pt x="5130517" y="988806"/>
                    <a:pt x="5129261" y="991839"/>
                    <a:pt x="5127025" y="994075"/>
                  </a:cubicBezTo>
                  <a:cubicBezTo>
                    <a:pt x="5124790" y="996311"/>
                    <a:pt x="5121757" y="997567"/>
                    <a:pt x="5118595" y="997567"/>
                  </a:cubicBezTo>
                  <a:lnTo>
                    <a:pt x="11923" y="997567"/>
                  </a:lnTo>
                  <a:cubicBezTo>
                    <a:pt x="8761" y="997567"/>
                    <a:pt x="5728" y="996311"/>
                    <a:pt x="3492" y="994075"/>
                  </a:cubicBezTo>
                  <a:cubicBezTo>
                    <a:pt x="1256" y="991839"/>
                    <a:pt x="0" y="988806"/>
                    <a:pt x="0" y="985644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054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91717" y="2142024"/>
            <a:ext cx="11904565" cy="6002953"/>
            <a:chOff x="0" y="0"/>
            <a:chExt cx="3135359" cy="15810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359" cy="1581025"/>
            </a:xfrm>
            <a:custGeom>
              <a:avLst/>
              <a:gdLst/>
              <a:ahLst/>
              <a:cxnLst/>
              <a:rect l="l" t="t" r="r" b="b"/>
              <a:pathLst>
                <a:path w="3135359" h="1581025">
                  <a:moveTo>
                    <a:pt x="19510" y="0"/>
                  </a:moveTo>
                  <a:lnTo>
                    <a:pt x="3115849" y="0"/>
                  </a:lnTo>
                  <a:cubicBezTo>
                    <a:pt x="3121023" y="0"/>
                    <a:pt x="3125986" y="2056"/>
                    <a:pt x="3129644" y="5714"/>
                  </a:cubicBezTo>
                  <a:cubicBezTo>
                    <a:pt x="3133303" y="9373"/>
                    <a:pt x="3135359" y="14336"/>
                    <a:pt x="3135359" y="19510"/>
                  </a:cubicBezTo>
                  <a:lnTo>
                    <a:pt x="3135359" y="1561515"/>
                  </a:lnTo>
                  <a:cubicBezTo>
                    <a:pt x="3135359" y="1572290"/>
                    <a:pt x="3126624" y="1581025"/>
                    <a:pt x="3115849" y="1581025"/>
                  </a:cubicBezTo>
                  <a:lnTo>
                    <a:pt x="19510" y="1581025"/>
                  </a:lnTo>
                  <a:cubicBezTo>
                    <a:pt x="14336" y="1581025"/>
                    <a:pt x="9373" y="1578969"/>
                    <a:pt x="5714" y="1575310"/>
                  </a:cubicBezTo>
                  <a:cubicBezTo>
                    <a:pt x="2056" y="1571651"/>
                    <a:pt x="0" y="1566689"/>
                    <a:pt x="0" y="1561515"/>
                  </a:cubicBezTo>
                  <a:lnTo>
                    <a:pt x="0" y="19510"/>
                  </a:lnTo>
                  <a:cubicBezTo>
                    <a:pt x="0" y="14336"/>
                    <a:pt x="2056" y="9373"/>
                    <a:pt x="5714" y="5714"/>
                  </a:cubicBezTo>
                  <a:cubicBezTo>
                    <a:pt x="9373" y="2056"/>
                    <a:pt x="14336" y="0"/>
                    <a:pt x="1951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135359" cy="1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4450575" y="6675656"/>
            <a:ext cx="2313392" cy="1931682"/>
          </a:xfrm>
          <a:custGeom>
            <a:avLst/>
            <a:gdLst/>
            <a:ahLst/>
            <a:cxnLst/>
            <a:rect l="l" t="t" r="r" b="b"/>
            <a:pathLst>
              <a:path w="2313392" h="1931682">
                <a:moveTo>
                  <a:pt x="0" y="1931682"/>
                </a:moveTo>
                <a:lnTo>
                  <a:pt x="2313392" y="1931682"/>
                </a:lnTo>
                <a:lnTo>
                  <a:pt x="2313392" y="0"/>
                </a:lnTo>
                <a:lnTo>
                  <a:pt x="0" y="0"/>
                </a:lnTo>
                <a:lnTo>
                  <a:pt x="0" y="193168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6430917" y="2880883"/>
            <a:ext cx="5426165" cy="667266"/>
            <a:chOff x="0" y="0"/>
            <a:chExt cx="1429114" cy="1757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29114" cy="175741"/>
            </a:xfrm>
            <a:custGeom>
              <a:avLst/>
              <a:gdLst/>
              <a:ahLst/>
              <a:cxnLst/>
              <a:rect l="l" t="t" r="r" b="b"/>
              <a:pathLst>
                <a:path w="1429114" h="175741">
                  <a:moveTo>
                    <a:pt x="87870" y="0"/>
                  </a:moveTo>
                  <a:lnTo>
                    <a:pt x="1341243" y="0"/>
                  </a:lnTo>
                  <a:cubicBezTo>
                    <a:pt x="1389773" y="0"/>
                    <a:pt x="1429114" y="39341"/>
                    <a:pt x="1429114" y="87870"/>
                  </a:cubicBezTo>
                  <a:lnTo>
                    <a:pt x="1429114" y="87870"/>
                  </a:lnTo>
                  <a:cubicBezTo>
                    <a:pt x="1429114" y="111175"/>
                    <a:pt x="1419856" y="133525"/>
                    <a:pt x="1403377" y="150004"/>
                  </a:cubicBezTo>
                  <a:cubicBezTo>
                    <a:pt x="1386898" y="166483"/>
                    <a:pt x="1364548" y="175741"/>
                    <a:pt x="1341243" y="175741"/>
                  </a:cubicBezTo>
                  <a:lnTo>
                    <a:pt x="87870" y="175741"/>
                  </a:lnTo>
                  <a:cubicBezTo>
                    <a:pt x="39341" y="175741"/>
                    <a:pt x="0" y="136400"/>
                    <a:pt x="0" y="87870"/>
                  </a:cubicBezTo>
                  <a:lnTo>
                    <a:pt x="0" y="87870"/>
                  </a:lnTo>
                  <a:cubicBezTo>
                    <a:pt x="0" y="39341"/>
                    <a:pt x="39341" y="0"/>
                    <a:pt x="87870" y="0"/>
                  </a:cubicBezTo>
                  <a:close/>
                </a:path>
              </a:pathLst>
            </a:custGeom>
            <a:solidFill>
              <a:srgbClr val="FFCB6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429114" cy="232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13972" y="3097571"/>
            <a:ext cx="233890" cy="23389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740138" y="3097571"/>
            <a:ext cx="233890" cy="23389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12016" y="6639830"/>
            <a:ext cx="4463967" cy="766288"/>
            <a:chOff x="0" y="0"/>
            <a:chExt cx="1175695" cy="20182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75695" cy="201821"/>
            </a:xfrm>
            <a:custGeom>
              <a:avLst/>
              <a:gdLst/>
              <a:ahLst/>
              <a:cxnLst/>
              <a:rect l="l" t="t" r="r" b="b"/>
              <a:pathLst>
                <a:path w="1175695" h="201821">
                  <a:moveTo>
                    <a:pt x="100910" y="0"/>
                  </a:moveTo>
                  <a:lnTo>
                    <a:pt x="1074785" y="0"/>
                  </a:lnTo>
                  <a:cubicBezTo>
                    <a:pt x="1130516" y="0"/>
                    <a:pt x="1175695" y="45179"/>
                    <a:pt x="1175695" y="100910"/>
                  </a:cubicBezTo>
                  <a:lnTo>
                    <a:pt x="1175695" y="100910"/>
                  </a:lnTo>
                  <a:cubicBezTo>
                    <a:pt x="1175695" y="127673"/>
                    <a:pt x="1165063" y="153340"/>
                    <a:pt x="1146139" y="172265"/>
                  </a:cubicBezTo>
                  <a:cubicBezTo>
                    <a:pt x="1127215" y="191189"/>
                    <a:pt x="1101548" y="201821"/>
                    <a:pt x="1074785" y="201821"/>
                  </a:cubicBezTo>
                  <a:lnTo>
                    <a:pt x="100910" y="201821"/>
                  </a:lnTo>
                  <a:cubicBezTo>
                    <a:pt x="74147" y="201821"/>
                    <a:pt x="48480" y="191189"/>
                    <a:pt x="29556" y="172265"/>
                  </a:cubicBezTo>
                  <a:cubicBezTo>
                    <a:pt x="10632" y="153340"/>
                    <a:pt x="0" y="127673"/>
                    <a:pt x="0" y="100910"/>
                  </a:cubicBezTo>
                  <a:lnTo>
                    <a:pt x="0" y="100910"/>
                  </a:lnTo>
                  <a:cubicBezTo>
                    <a:pt x="0" y="74147"/>
                    <a:pt x="10632" y="48480"/>
                    <a:pt x="29556" y="29556"/>
                  </a:cubicBezTo>
                  <a:cubicBezTo>
                    <a:pt x="48480" y="10632"/>
                    <a:pt x="74147" y="0"/>
                    <a:pt x="100910" y="0"/>
                  </a:cubicBezTo>
                  <a:close/>
                </a:path>
              </a:pathLst>
            </a:custGeom>
            <a:solidFill>
              <a:srgbClr val="FFF0D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175695" cy="258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680108" y="679437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4166552" y="3680150"/>
            <a:ext cx="9954896" cy="159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dirty="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PERTEMUAN 2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887688" y="3443116"/>
            <a:ext cx="1233760" cy="1064619"/>
            <a:chOff x="0" y="0"/>
            <a:chExt cx="737117" cy="6360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7117" cy="608415"/>
            </a:xfrm>
            <a:custGeom>
              <a:avLst/>
              <a:gdLst/>
              <a:ahLst/>
              <a:cxnLst/>
              <a:rect l="l" t="t" r="r" b="b"/>
              <a:pathLst>
                <a:path w="737117" h="608415">
                  <a:moveTo>
                    <a:pt x="674366" y="0"/>
                  </a:moveTo>
                  <a:lnTo>
                    <a:pt x="62751" y="0"/>
                  </a:lnTo>
                  <a:cubicBezTo>
                    <a:pt x="28094" y="0"/>
                    <a:pt x="0" y="28094"/>
                    <a:pt x="0" y="62751"/>
                  </a:cubicBezTo>
                  <a:lnTo>
                    <a:pt x="0" y="385352"/>
                  </a:lnTo>
                  <a:cubicBezTo>
                    <a:pt x="0" y="420008"/>
                    <a:pt x="28094" y="448102"/>
                    <a:pt x="62751" y="448102"/>
                  </a:cubicBezTo>
                  <a:lnTo>
                    <a:pt x="94729" y="448102"/>
                  </a:lnTo>
                  <a:cubicBezTo>
                    <a:pt x="129386" y="448102"/>
                    <a:pt x="157480" y="476197"/>
                    <a:pt x="157480" y="510853"/>
                  </a:cubicBezTo>
                  <a:lnTo>
                    <a:pt x="157480" y="573312"/>
                  </a:lnTo>
                  <a:cubicBezTo>
                    <a:pt x="157480" y="586023"/>
                    <a:pt x="164352" y="597741"/>
                    <a:pt x="175445" y="603947"/>
                  </a:cubicBezTo>
                  <a:cubicBezTo>
                    <a:pt x="186539" y="610153"/>
                    <a:pt x="200121" y="609876"/>
                    <a:pt x="210953" y="603224"/>
                  </a:cubicBezTo>
                  <a:lnTo>
                    <a:pt x="410077" y="480940"/>
                  </a:lnTo>
                  <a:cubicBezTo>
                    <a:pt x="445041" y="459469"/>
                    <a:pt x="485270" y="448102"/>
                    <a:pt x="526301" y="448102"/>
                  </a:cubicBezTo>
                  <a:lnTo>
                    <a:pt x="674366" y="448102"/>
                  </a:lnTo>
                  <a:cubicBezTo>
                    <a:pt x="709022" y="448102"/>
                    <a:pt x="737117" y="420008"/>
                    <a:pt x="737117" y="385352"/>
                  </a:cubicBezTo>
                  <a:lnTo>
                    <a:pt x="737117" y="62751"/>
                  </a:lnTo>
                  <a:cubicBezTo>
                    <a:pt x="737117" y="28094"/>
                    <a:pt x="709022" y="0"/>
                    <a:pt x="674366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737117" cy="502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3141860" y="3548149"/>
            <a:ext cx="725415" cy="533180"/>
          </a:xfrm>
          <a:custGeom>
            <a:avLst/>
            <a:gdLst/>
            <a:ahLst/>
            <a:cxnLst/>
            <a:rect l="l" t="t" r="r" b="b"/>
            <a:pathLst>
              <a:path w="725415" h="533180">
                <a:moveTo>
                  <a:pt x="0" y="0"/>
                </a:moveTo>
                <a:lnTo>
                  <a:pt x="725416" y="0"/>
                </a:lnTo>
                <a:lnTo>
                  <a:pt x="725416" y="533180"/>
                </a:lnTo>
                <a:lnTo>
                  <a:pt x="0" y="5331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4621471" y="3975425"/>
            <a:ext cx="664979" cy="954930"/>
          </a:xfrm>
          <a:custGeom>
            <a:avLst/>
            <a:gdLst/>
            <a:ahLst/>
            <a:cxnLst/>
            <a:rect l="l" t="t" r="r" b="b"/>
            <a:pathLst>
              <a:path w="664979" h="954930">
                <a:moveTo>
                  <a:pt x="0" y="0"/>
                </a:moveTo>
                <a:lnTo>
                  <a:pt x="664979" y="0"/>
                </a:lnTo>
                <a:lnTo>
                  <a:pt x="664979" y="954930"/>
                </a:lnTo>
                <a:lnTo>
                  <a:pt x="0" y="954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4166552" y="5487995"/>
            <a:ext cx="995489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Grafik + Tabulasi + Bagi dua + Regula Falsi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09215" y="2919241"/>
            <a:ext cx="46695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Komputasi Numerik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50692" y="6727699"/>
            <a:ext cx="339161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2026</a:t>
            </a:r>
          </a:p>
        </p:txBody>
      </p:sp>
      <p:sp>
        <p:nvSpPr>
          <p:cNvPr id="31" name="Freeform 31"/>
          <p:cNvSpPr/>
          <p:nvPr/>
        </p:nvSpPr>
        <p:spPr>
          <a:xfrm>
            <a:off x="-1282169" y="-1303529"/>
            <a:ext cx="2981576" cy="4851677"/>
          </a:xfrm>
          <a:custGeom>
            <a:avLst/>
            <a:gdLst/>
            <a:ahLst/>
            <a:cxnLst/>
            <a:rect l="l" t="t" r="r" b="b"/>
            <a:pathLst>
              <a:path w="2981576" h="4851677">
                <a:moveTo>
                  <a:pt x="0" y="0"/>
                </a:moveTo>
                <a:lnTo>
                  <a:pt x="2981576" y="0"/>
                </a:lnTo>
                <a:lnTo>
                  <a:pt x="2981576" y="4851678"/>
                </a:lnTo>
                <a:lnTo>
                  <a:pt x="0" y="48516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flipH="1" flipV="1">
            <a:off x="16763199" y="7022974"/>
            <a:ext cx="2806970" cy="4567555"/>
          </a:xfrm>
          <a:custGeom>
            <a:avLst/>
            <a:gdLst/>
            <a:ahLst/>
            <a:cxnLst/>
            <a:rect l="l" t="t" r="r" b="b"/>
            <a:pathLst>
              <a:path w="2806970" h="4567555">
                <a:moveTo>
                  <a:pt x="2806970" y="4567555"/>
                </a:moveTo>
                <a:lnTo>
                  <a:pt x="0" y="4567555"/>
                </a:lnTo>
                <a:lnTo>
                  <a:pt x="0" y="0"/>
                </a:lnTo>
                <a:lnTo>
                  <a:pt x="2806970" y="0"/>
                </a:lnTo>
                <a:lnTo>
                  <a:pt x="2806970" y="456755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5412367"/>
            <a:ext cx="19479934" cy="5434071"/>
            <a:chOff x="0" y="0"/>
            <a:chExt cx="5130518" cy="14311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431196"/>
            </a:xfrm>
            <a:custGeom>
              <a:avLst/>
              <a:gdLst/>
              <a:ahLst/>
              <a:cxnLst/>
              <a:rect l="l" t="t" r="r" b="b"/>
              <a:pathLst>
                <a:path w="5130517" h="143119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419273"/>
                  </a:lnTo>
                  <a:cubicBezTo>
                    <a:pt x="5130517" y="1422435"/>
                    <a:pt x="5129261" y="1425468"/>
                    <a:pt x="5127025" y="1427704"/>
                  </a:cubicBezTo>
                  <a:cubicBezTo>
                    <a:pt x="5124790" y="1429940"/>
                    <a:pt x="5121757" y="1431196"/>
                    <a:pt x="5118595" y="1431196"/>
                  </a:cubicBezTo>
                  <a:lnTo>
                    <a:pt x="11923" y="1431196"/>
                  </a:lnTo>
                  <a:cubicBezTo>
                    <a:pt x="8761" y="1431196"/>
                    <a:pt x="5728" y="1429940"/>
                    <a:pt x="3492" y="1427704"/>
                  </a:cubicBezTo>
                  <a:cubicBezTo>
                    <a:pt x="1256" y="1425468"/>
                    <a:pt x="0" y="1422435"/>
                    <a:pt x="0" y="141927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488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5672" y="4975088"/>
            <a:ext cx="7142534" cy="951767"/>
            <a:chOff x="0" y="0"/>
            <a:chExt cx="1881161" cy="2506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81161" cy="250671"/>
            </a:xfrm>
            <a:custGeom>
              <a:avLst/>
              <a:gdLst/>
              <a:ahLst/>
              <a:cxnLst/>
              <a:rect l="l" t="t" r="r" b="b"/>
              <a:pathLst>
                <a:path w="1881161" h="250671">
                  <a:moveTo>
                    <a:pt x="108392" y="0"/>
                  </a:moveTo>
                  <a:lnTo>
                    <a:pt x="1772769" y="0"/>
                  </a:lnTo>
                  <a:cubicBezTo>
                    <a:pt x="1832633" y="0"/>
                    <a:pt x="1881161" y="48529"/>
                    <a:pt x="1881161" y="108392"/>
                  </a:cubicBezTo>
                  <a:lnTo>
                    <a:pt x="1881161" y="142279"/>
                  </a:lnTo>
                  <a:cubicBezTo>
                    <a:pt x="1881161" y="171027"/>
                    <a:pt x="1869741" y="198597"/>
                    <a:pt x="1849414" y="218924"/>
                  </a:cubicBezTo>
                  <a:cubicBezTo>
                    <a:pt x="1829087" y="239251"/>
                    <a:pt x="1801517" y="250671"/>
                    <a:pt x="1772769" y="250671"/>
                  </a:cubicBezTo>
                  <a:lnTo>
                    <a:pt x="108392" y="250671"/>
                  </a:lnTo>
                  <a:cubicBezTo>
                    <a:pt x="79644" y="250671"/>
                    <a:pt x="52075" y="239251"/>
                    <a:pt x="31747" y="218924"/>
                  </a:cubicBezTo>
                  <a:cubicBezTo>
                    <a:pt x="11420" y="198597"/>
                    <a:pt x="0" y="171027"/>
                    <a:pt x="0" y="142279"/>
                  </a:cubicBezTo>
                  <a:lnTo>
                    <a:pt x="0" y="108392"/>
                  </a:lnTo>
                  <a:cubicBezTo>
                    <a:pt x="0" y="79644"/>
                    <a:pt x="11420" y="52075"/>
                    <a:pt x="31747" y="31747"/>
                  </a:cubicBezTo>
                  <a:cubicBezTo>
                    <a:pt x="52075" y="11420"/>
                    <a:pt x="79644" y="0"/>
                    <a:pt x="10839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81161" cy="307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5672" y="6257649"/>
            <a:ext cx="7142534" cy="1323154"/>
            <a:chOff x="0" y="0"/>
            <a:chExt cx="1881161" cy="3484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81161" cy="348485"/>
            </a:xfrm>
            <a:custGeom>
              <a:avLst/>
              <a:gdLst/>
              <a:ahLst/>
              <a:cxnLst/>
              <a:rect l="l" t="t" r="r" b="b"/>
              <a:pathLst>
                <a:path w="1881161" h="348485">
                  <a:moveTo>
                    <a:pt x="108392" y="0"/>
                  </a:moveTo>
                  <a:lnTo>
                    <a:pt x="1772769" y="0"/>
                  </a:lnTo>
                  <a:cubicBezTo>
                    <a:pt x="1832633" y="0"/>
                    <a:pt x="1881161" y="48529"/>
                    <a:pt x="1881161" y="108392"/>
                  </a:cubicBezTo>
                  <a:lnTo>
                    <a:pt x="1881161" y="240093"/>
                  </a:lnTo>
                  <a:cubicBezTo>
                    <a:pt x="1881161" y="268840"/>
                    <a:pt x="1869741" y="296410"/>
                    <a:pt x="1849414" y="316738"/>
                  </a:cubicBezTo>
                  <a:cubicBezTo>
                    <a:pt x="1829087" y="337065"/>
                    <a:pt x="1801517" y="348485"/>
                    <a:pt x="1772769" y="348485"/>
                  </a:cubicBezTo>
                  <a:lnTo>
                    <a:pt x="108392" y="348485"/>
                  </a:lnTo>
                  <a:cubicBezTo>
                    <a:pt x="79644" y="348485"/>
                    <a:pt x="52075" y="337065"/>
                    <a:pt x="31747" y="316738"/>
                  </a:cubicBezTo>
                  <a:cubicBezTo>
                    <a:pt x="11420" y="296410"/>
                    <a:pt x="0" y="268840"/>
                    <a:pt x="0" y="240093"/>
                  </a:cubicBezTo>
                  <a:lnTo>
                    <a:pt x="0" y="108392"/>
                  </a:lnTo>
                  <a:cubicBezTo>
                    <a:pt x="0" y="79644"/>
                    <a:pt x="11420" y="52075"/>
                    <a:pt x="31747" y="31747"/>
                  </a:cubicBezTo>
                  <a:cubicBezTo>
                    <a:pt x="52075" y="11420"/>
                    <a:pt x="79644" y="0"/>
                    <a:pt x="10839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881161" cy="405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5672" y="7914178"/>
            <a:ext cx="7142534" cy="951767"/>
            <a:chOff x="0" y="0"/>
            <a:chExt cx="1881161" cy="2506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81161" cy="250671"/>
            </a:xfrm>
            <a:custGeom>
              <a:avLst/>
              <a:gdLst/>
              <a:ahLst/>
              <a:cxnLst/>
              <a:rect l="l" t="t" r="r" b="b"/>
              <a:pathLst>
                <a:path w="1881161" h="250671">
                  <a:moveTo>
                    <a:pt x="108392" y="0"/>
                  </a:moveTo>
                  <a:lnTo>
                    <a:pt x="1772769" y="0"/>
                  </a:lnTo>
                  <a:cubicBezTo>
                    <a:pt x="1832633" y="0"/>
                    <a:pt x="1881161" y="48529"/>
                    <a:pt x="1881161" y="108392"/>
                  </a:cubicBezTo>
                  <a:lnTo>
                    <a:pt x="1881161" y="142279"/>
                  </a:lnTo>
                  <a:cubicBezTo>
                    <a:pt x="1881161" y="171027"/>
                    <a:pt x="1869741" y="198597"/>
                    <a:pt x="1849414" y="218924"/>
                  </a:cubicBezTo>
                  <a:cubicBezTo>
                    <a:pt x="1829087" y="239251"/>
                    <a:pt x="1801517" y="250671"/>
                    <a:pt x="1772769" y="250671"/>
                  </a:cubicBezTo>
                  <a:lnTo>
                    <a:pt x="108392" y="250671"/>
                  </a:lnTo>
                  <a:cubicBezTo>
                    <a:pt x="79644" y="250671"/>
                    <a:pt x="52075" y="239251"/>
                    <a:pt x="31747" y="218924"/>
                  </a:cubicBezTo>
                  <a:cubicBezTo>
                    <a:pt x="11420" y="198597"/>
                    <a:pt x="0" y="171027"/>
                    <a:pt x="0" y="142279"/>
                  </a:cubicBezTo>
                  <a:lnTo>
                    <a:pt x="0" y="108392"/>
                  </a:lnTo>
                  <a:cubicBezTo>
                    <a:pt x="0" y="79644"/>
                    <a:pt x="11420" y="52075"/>
                    <a:pt x="31747" y="31747"/>
                  </a:cubicBezTo>
                  <a:cubicBezTo>
                    <a:pt x="52075" y="11420"/>
                    <a:pt x="79644" y="0"/>
                    <a:pt x="10839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881161" cy="307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666004" y="5098435"/>
            <a:ext cx="669180" cy="705074"/>
          </a:xfrm>
          <a:custGeom>
            <a:avLst/>
            <a:gdLst/>
            <a:ahLst/>
            <a:cxnLst/>
            <a:rect l="l" t="t" r="r" b="b"/>
            <a:pathLst>
              <a:path w="669180" h="705074">
                <a:moveTo>
                  <a:pt x="0" y="0"/>
                </a:moveTo>
                <a:lnTo>
                  <a:pt x="669180" y="0"/>
                </a:lnTo>
                <a:lnTo>
                  <a:pt x="669180" y="705074"/>
                </a:lnTo>
                <a:lnTo>
                  <a:pt x="0" y="70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666004" y="6380996"/>
            <a:ext cx="669180" cy="705074"/>
          </a:xfrm>
          <a:custGeom>
            <a:avLst/>
            <a:gdLst/>
            <a:ahLst/>
            <a:cxnLst/>
            <a:rect l="l" t="t" r="r" b="b"/>
            <a:pathLst>
              <a:path w="669180" h="705074">
                <a:moveTo>
                  <a:pt x="0" y="0"/>
                </a:moveTo>
                <a:lnTo>
                  <a:pt x="669180" y="0"/>
                </a:lnTo>
                <a:lnTo>
                  <a:pt x="669180" y="705074"/>
                </a:lnTo>
                <a:lnTo>
                  <a:pt x="0" y="70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9666004" y="8018675"/>
            <a:ext cx="669180" cy="705074"/>
          </a:xfrm>
          <a:custGeom>
            <a:avLst/>
            <a:gdLst/>
            <a:ahLst/>
            <a:cxnLst/>
            <a:rect l="l" t="t" r="r" b="b"/>
            <a:pathLst>
              <a:path w="669180" h="705074">
                <a:moveTo>
                  <a:pt x="0" y="0"/>
                </a:moveTo>
                <a:lnTo>
                  <a:pt x="669180" y="0"/>
                </a:lnTo>
                <a:lnTo>
                  <a:pt x="669180" y="705074"/>
                </a:lnTo>
                <a:lnTo>
                  <a:pt x="0" y="70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518561" y="5214752"/>
            <a:ext cx="554931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Pengertian Akar Persamaan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18561" y="6497313"/>
            <a:ext cx="5549312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Metoda</a:t>
            </a:r>
            <a:r>
              <a:rPr lang="en-US" sz="23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3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Akolade</a:t>
            </a:r>
            <a:r>
              <a:rPr lang="en-US" sz="23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; </a:t>
            </a:r>
            <a:r>
              <a:rPr lang="en-US" sz="23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Grafik</a:t>
            </a:r>
            <a:r>
              <a:rPr lang="en-US" sz="23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</a:t>
            </a:r>
            <a:r>
              <a:rPr lang="en-US" sz="23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Tabulasi</a:t>
            </a:r>
            <a:r>
              <a:rPr lang="en-US" sz="23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Bolzano (Bagi dua/</a:t>
            </a:r>
            <a:r>
              <a:rPr lang="en-US" sz="23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biseksi</a:t>
            </a:r>
            <a:r>
              <a:rPr lang="en-US" sz="23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), Regula </a:t>
            </a:r>
            <a:r>
              <a:rPr lang="en-US" sz="23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Falsi</a:t>
            </a:r>
            <a:endParaRPr lang="en-US" sz="23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518561" y="8152303"/>
            <a:ext cx="554931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Tugas</a:t>
            </a:r>
            <a:r>
              <a:rPr lang="en-US" sz="23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84246" y="5214752"/>
            <a:ext cx="43269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67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84246" y="6497313"/>
            <a:ext cx="43269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67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84246" y="8098033"/>
            <a:ext cx="43269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67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03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849794" y="1792442"/>
            <a:ext cx="6541811" cy="654181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8771" tIns="48771" rIns="48771" bIns="48771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2645893" y="2416239"/>
            <a:ext cx="4949612" cy="5918014"/>
          </a:xfrm>
          <a:custGeom>
            <a:avLst/>
            <a:gdLst/>
            <a:ahLst/>
            <a:cxnLst/>
            <a:rect l="l" t="t" r="r" b="b"/>
            <a:pathLst>
              <a:path w="4949612" h="5918014">
                <a:moveTo>
                  <a:pt x="0" y="0"/>
                </a:moveTo>
                <a:lnTo>
                  <a:pt x="4949612" y="0"/>
                </a:lnTo>
                <a:lnTo>
                  <a:pt x="4949612" y="5918014"/>
                </a:lnTo>
                <a:lnTo>
                  <a:pt x="0" y="59180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849794" y="8173948"/>
            <a:ext cx="6541811" cy="320611"/>
            <a:chOff x="0" y="0"/>
            <a:chExt cx="1301812" cy="6380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01812" cy="63801"/>
            </a:xfrm>
            <a:custGeom>
              <a:avLst/>
              <a:gdLst/>
              <a:ahLst/>
              <a:cxnLst/>
              <a:rect l="l" t="t" r="r" b="b"/>
              <a:pathLst>
                <a:path w="1301812" h="63801">
                  <a:moveTo>
                    <a:pt x="31901" y="0"/>
                  </a:moveTo>
                  <a:lnTo>
                    <a:pt x="1269911" y="0"/>
                  </a:lnTo>
                  <a:cubicBezTo>
                    <a:pt x="1287529" y="0"/>
                    <a:pt x="1301812" y="14282"/>
                    <a:pt x="1301812" y="31901"/>
                  </a:cubicBezTo>
                  <a:lnTo>
                    <a:pt x="1301812" y="31901"/>
                  </a:lnTo>
                  <a:cubicBezTo>
                    <a:pt x="1301812" y="49519"/>
                    <a:pt x="1287529" y="63801"/>
                    <a:pt x="1269911" y="63801"/>
                  </a:cubicBezTo>
                  <a:lnTo>
                    <a:pt x="31901" y="63801"/>
                  </a:lnTo>
                  <a:cubicBezTo>
                    <a:pt x="14282" y="63801"/>
                    <a:pt x="0" y="49519"/>
                    <a:pt x="0" y="31901"/>
                  </a:cubicBezTo>
                  <a:lnTo>
                    <a:pt x="0" y="31901"/>
                  </a:lnTo>
                  <a:cubicBezTo>
                    <a:pt x="0" y="14282"/>
                    <a:pt x="14282" y="0"/>
                    <a:pt x="31901" y="0"/>
                  </a:cubicBezTo>
                  <a:close/>
                </a:path>
              </a:pathLst>
            </a:custGeom>
            <a:solidFill>
              <a:srgbClr val="D8AA8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301812" cy="120951"/>
            </a:xfrm>
            <a:prstGeom prst="rect">
              <a:avLst/>
            </a:prstGeom>
          </p:spPr>
          <p:txBody>
            <a:bodyPr lIns="48771" tIns="48771" rIns="48771" bIns="48771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849794" y="2142578"/>
            <a:ext cx="554376" cy="547320"/>
          </a:xfrm>
          <a:custGeom>
            <a:avLst/>
            <a:gdLst/>
            <a:ahLst/>
            <a:cxnLst/>
            <a:rect l="l" t="t" r="r" b="b"/>
            <a:pathLst>
              <a:path w="554376" h="547320">
                <a:moveTo>
                  <a:pt x="0" y="0"/>
                </a:moveTo>
                <a:lnTo>
                  <a:pt x="554376" y="0"/>
                </a:lnTo>
                <a:lnTo>
                  <a:pt x="554376" y="547321"/>
                </a:lnTo>
                <a:lnTo>
                  <a:pt x="0" y="547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8114417" y="7033483"/>
            <a:ext cx="554376" cy="547320"/>
          </a:xfrm>
          <a:custGeom>
            <a:avLst/>
            <a:gdLst/>
            <a:ahLst/>
            <a:cxnLst/>
            <a:rect l="l" t="t" r="r" b="b"/>
            <a:pathLst>
              <a:path w="554376" h="547320">
                <a:moveTo>
                  <a:pt x="0" y="0"/>
                </a:moveTo>
                <a:lnTo>
                  <a:pt x="554376" y="0"/>
                </a:lnTo>
                <a:lnTo>
                  <a:pt x="554376" y="547320"/>
                </a:lnTo>
                <a:lnTo>
                  <a:pt x="0" y="5473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9295672" y="2581537"/>
            <a:ext cx="6106186" cy="191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6599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Apa Yang Akan Kita Pelajari?</a:t>
            </a:r>
          </a:p>
        </p:txBody>
      </p:sp>
      <p:sp>
        <p:nvSpPr>
          <p:cNvPr id="33" name="Freeform 33"/>
          <p:cNvSpPr/>
          <p:nvPr/>
        </p:nvSpPr>
        <p:spPr>
          <a:xfrm flipH="1">
            <a:off x="14817244" y="3605897"/>
            <a:ext cx="463828" cy="666072"/>
          </a:xfrm>
          <a:custGeom>
            <a:avLst/>
            <a:gdLst/>
            <a:ahLst/>
            <a:cxnLst/>
            <a:rect l="l" t="t" r="r" b="b"/>
            <a:pathLst>
              <a:path w="463828" h="666072">
                <a:moveTo>
                  <a:pt x="463828" y="0"/>
                </a:moveTo>
                <a:lnTo>
                  <a:pt x="0" y="0"/>
                </a:lnTo>
                <a:lnTo>
                  <a:pt x="0" y="666071"/>
                </a:lnTo>
                <a:lnTo>
                  <a:pt x="463828" y="666071"/>
                </a:lnTo>
                <a:lnTo>
                  <a:pt x="46382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9295672" y="1863222"/>
            <a:ext cx="4265778" cy="622144"/>
            <a:chOff x="0" y="0"/>
            <a:chExt cx="1123497" cy="16385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92937" y="1792442"/>
            <a:ext cx="141561" cy="141561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808509" y="1792442"/>
            <a:ext cx="141561" cy="141561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907052" y="1792442"/>
            <a:ext cx="141561" cy="141561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122625" y="1792442"/>
            <a:ext cx="141561" cy="141561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592937" y="1938074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5414" y="406556"/>
            <a:ext cx="4265778" cy="622144"/>
            <a:chOff x="0" y="0"/>
            <a:chExt cx="1123497" cy="163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2679" y="335775"/>
            <a:ext cx="141561" cy="1415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8252" y="335775"/>
            <a:ext cx="141561" cy="1415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256795" y="335775"/>
            <a:ext cx="141561" cy="1415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72367" y="335775"/>
            <a:ext cx="141561" cy="1415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7473505" y="3283180"/>
            <a:ext cx="510299" cy="732806"/>
          </a:xfrm>
          <a:custGeom>
            <a:avLst/>
            <a:gdLst/>
            <a:ahLst/>
            <a:cxnLst/>
            <a:rect l="l" t="t" r="r" b="b"/>
            <a:pathLst>
              <a:path w="510299" h="732806">
                <a:moveTo>
                  <a:pt x="510299" y="0"/>
                </a:moveTo>
                <a:lnTo>
                  <a:pt x="0" y="0"/>
                </a:lnTo>
                <a:lnTo>
                  <a:pt x="0" y="732806"/>
                </a:lnTo>
                <a:lnTo>
                  <a:pt x="510299" y="732806"/>
                </a:lnTo>
                <a:lnTo>
                  <a:pt x="5102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-595967" y="6795245"/>
            <a:ext cx="19479934" cy="4051193"/>
            <a:chOff x="0" y="0"/>
            <a:chExt cx="5130518" cy="10669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30517" cy="1066981"/>
            </a:xfrm>
            <a:custGeom>
              <a:avLst/>
              <a:gdLst/>
              <a:ahLst/>
              <a:cxnLst/>
              <a:rect l="l" t="t" r="r" b="b"/>
              <a:pathLst>
                <a:path w="5130517" h="1066981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055058"/>
                  </a:lnTo>
                  <a:cubicBezTo>
                    <a:pt x="5130517" y="1058220"/>
                    <a:pt x="5129261" y="1061253"/>
                    <a:pt x="5127025" y="1063489"/>
                  </a:cubicBezTo>
                  <a:cubicBezTo>
                    <a:pt x="5124790" y="1065725"/>
                    <a:pt x="5121757" y="1066981"/>
                    <a:pt x="5118595" y="1066981"/>
                  </a:cubicBezTo>
                  <a:lnTo>
                    <a:pt x="11923" y="1066981"/>
                  </a:lnTo>
                  <a:cubicBezTo>
                    <a:pt x="8761" y="1066981"/>
                    <a:pt x="5728" y="1065725"/>
                    <a:pt x="3492" y="1063489"/>
                  </a:cubicBezTo>
                  <a:cubicBezTo>
                    <a:pt x="1256" y="1061253"/>
                    <a:pt x="0" y="1058220"/>
                    <a:pt x="0" y="1055058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5130518" cy="1124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513981" y="4584295"/>
            <a:ext cx="4280343" cy="428034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2066253" y="5425912"/>
            <a:ext cx="5175800" cy="3315879"/>
          </a:xfrm>
          <a:custGeom>
            <a:avLst/>
            <a:gdLst/>
            <a:ahLst/>
            <a:cxnLst/>
            <a:rect l="l" t="t" r="r" b="b"/>
            <a:pathLst>
              <a:path w="5175800" h="3315879">
                <a:moveTo>
                  <a:pt x="0" y="0"/>
                </a:moveTo>
                <a:lnTo>
                  <a:pt x="5175800" y="0"/>
                </a:lnTo>
                <a:lnTo>
                  <a:pt x="5175800" y="3315880"/>
                </a:lnTo>
                <a:lnTo>
                  <a:pt x="0" y="3315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7922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915854" y="8618945"/>
            <a:ext cx="5476596" cy="245692"/>
            <a:chOff x="0" y="0"/>
            <a:chExt cx="1012663" cy="454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2663" cy="45430"/>
            </a:xfrm>
            <a:custGeom>
              <a:avLst/>
              <a:gdLst/>
              <a:ahLst/>
              <a:cxnLst/>
              <a:rect l="l" t="t" r="r" b="b"/>
              <a:pathLst>
                <a:path w="1012663" h="45430">
                  <a:moveTo>
                    <a:pt x="22715" y="0"/>
                  </a:moveTo>
                  <a:lnTo>
                    <a:pt x="989948" y="0"/>
                  </a:lnTo>
                  <a:cubicBezTo>
                    <a:pt x="995972" y="0"/>
                    <a:pt x="1001750" y="2393"/>
                    <a:pt x="1006010" y="6653"/>
                  </a:cubicBezTo>
                  <a:cubicBezTo>
                    <a:pt x="1010270" y="10913"/>
                    <a:pt x="1012663" y="16691"/>
                    <a:pt x="1012663" y="22715"/>
                  </a:cubicBezTo>
                  <a:lnTo>
                    <a:pt x="1012663" y="22715"/>
                  </a:lnTo>
                  <a:cubicBezTo>
                    <a:pt x="1012663" y="28740"/>
                    <a:pt x="1010270" y="34517"/>
                    <a:pt x="1006010" y="38777"/>
                  </a:cubicBezTo>
                  <a:cubicBezTo>
                    <a:pt x="1001750" y="43037"/>
                    <a:pt x="995972" y="45430"/>
                    <a:pt x="989948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40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8AA8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012663" cy="102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481598" y="5137305"/>
            <a:ext cx="584655" cy="577214"/>
          </a:xfrm>
          <a:custGeom>
            <a:avLst/>
            <a:gdLst/>
            <a:ahLst/>
            <a:cxnLst/>
            <a:rect l="l" t="t" r="r" b="b"/>
            <a:pathLst>
              <a:path w="584655" h="577214">
                <a:moveTo>
                  <a:pt x="0" y="0"/>
                </a:moveTo>
                <a:lnTo>
                  <a:pt x="584655" y="0"/>
                </a:lnTo>
                <a:lnTo>
                  <a:pt x="584655" y="577214"/>
                </a:lnTo>
                <a:lnTo>
                  <a:pt x="0" y="577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7242053" y="6795245"/>
            <a:ext cx="584655" cy="577214"/>
          </a:xfrm>
          <a:custGeom>
            <a:avLst/>
            <a:gdLst/>
            <a:ahLst/>
            <a:cxnLst/>
            <a:rect l="l" t="t" r="r" b="b"/>
            <a:pathLst>
              <a:path w="584655" h="577214">
                <a:moveTo>
                  <a:pt x="0" y="0"/>
                </a:moveTo>
                <a:lnTo>
                  <a:pt x="584654" y="0"/>
                </a:lnTo>
                <a:lnTo>
                  <a:pt x="584654" y="577214"/>
                </a:lnTo>
                <a:lnTo>
                  <a:pt x="0" y="577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8574354" y="1422362"/>
            <a:ext cx="8232048" cy="3648645"/>
            <a:chOff x="0" y="0"/>
            <a:chExt cx="2151633" cy="9536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1633" cy="953657"/>
            </a:xfrm>
            <a:custGeom>
              <a:avLst/>
              <a:gdLst/>
              <a:ahLst/>
              <a:cxnLst/>
              <a:rect l="l" t="t" r="r" b="b"/>
              <a:pathLst>
                <a:path w="2151633" h="953657">
                  <a:moveTo>
                    <a:pt x="18809" y="0"/>
                  </a:moveTo>
                  <a:lnTo>
                    <a:pt x="2132824" y="0"/>
                  </a:lnTo>
                  <a:cubicBezTo>
                    <a:pt x="2143212" y="0"/>
                    <a:pt x="2151633" y="8421"/>
                    <a:pt x="2151633" y="18809"/>
                  </a:cubicBezTo>
                  <a:lnTo>
                    <a:pt x="2151633" y="934847"/>
                  </a:lnTo>
                  <a:cubicBezTo>
                    <a:pt x="2151633" y="945235"/>
                    <a:pt x="2143212" y="953657"/>
                    <a:pt x="2132824" y="953657"/>
                  </a:cubicBezTo>
                  <a:lnTo>
                    <a:pt x="18809" y="953657"/>
                  </a:lnTo>
                  <a:cubicBezTo>
                    <a:pt x="8421" y="953657"/>
                    <a:pt x="0" y="945235"/>
                    <a:pt x="0" y="934847"/>
                  </a:cubicBezTo>
                  <a:lnTo>
                    <a:pt x="0" y="18809"/>
                  </a:lnTo>
                  <a:cubicBezTo>
                    <a:pt x="0" y="8421"/>
                    <a:pt x="8421" y="0"/>
                    <a:pt x="1880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2151633" cy="1010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TDTD갬성명조"/>
                  <a:ea typeface="TDTD갬성명조"/>
                  <a:cs typeface="TDTD갬성명조"/>
                  <a:sym typeface="TDTD갬성명조"/>
                </a:rPr>
                <a:t>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74354" y="5223000"/>
            <a:ext cx="4033578" cy="3641638"/>
            <a:chOff x="0" y="0"/>
            <a:chExt cx="1054268" cy="9518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4268" cy="951825"/>
            </a:xfrm>
            <a:custGeom>
              <a:avLst/>
              <a:gdLst/>
              <a:ahLst/>
              <a:cxnLst/>
              <a:rect l="l" t="t" r="r" b="b"/>
              <a:pathLst>
                <a:path w="1054268" h="951825">
                  <a:moveTo>
                    <a:pt x="38387" y="0"/>
                  </a:moveTo>
                  <a:lnTo>
                    <a:pt x="1015880" y="0"/>
                  </a:lnTo>
                  <a:cubicBezTo>
                    <a:pt x="1026061" y="0"/>
                    <a:pt x="1035825" y="4044"/>
                    <a:pt x="1043024" y="11243"/>
                  </a:cubicBezTo>
                  <a:cubicBezTo>
                    <a:pt x="1050223" y="18442"/>
                    <a:pt x="1054268" y="28206"/>
                    <a:pt x="1054268" y="38387"/>
                  </a:cubicBezTo>
                  <a:lnTo>
                    <a:pt x="1054268" y="913438"/>
                  </a:lnTo>
                  <a:cubicBezTo>
                    <a:pt x="1054268" y="923619"/>
                    <a:pt x="1050223" y="933383"/>
                    <a:pt x="1043024" y="940582"/>
                  </a:cubicBezTo>
                  <a:cubicBezTo>
                    <a:pt x="1035825" y="947781"/>
                    <a:pt x="1026061" y="951825"/>
                    <a:pt x="1015880" y="951825"/>
                  </a:cubicBezTo>
                  <a:lnTo>
                    <a:pt x="38387" y="951825"/>
                  </a:lnTo>
                  <a:cubicBezTo>
                    <a:pt x="28206" y="951825"/>
                    <a:pt x="18442" y="947781"/>
                    <a:pt x="11243" y="940582"/>
                  </a:cubicBezTo>
                  <a:cubicBezTo>
                    <a:pt x="4044" y="933383"/>
                    <a:pt x="0" y="923619"/>
                    <a:pt x="0" y="913438"/>
                  </a:cubicBezTo>
                  <a:lnTo>
                    <a:pt x="0" y="38387"/>
                  </a:lnTo>
                  <a:cubicBezTo>
                    <a:pt x="0" y="28206"/>
                    <a:pt x="4044" y="18442"/>
                    <a:pt x="11243" y="11243"/>
                  </a:cubicBezTo>
                  <a:cubicBezTo>
                    <a:pt x="18442" y="4044"/>
                    <a:pt x="28206" y="0"/>
                    <a:pt x="3838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054268" cy="100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772824" y="5223000"/>
            <a:ext cx="4033578" cy="3641638"/>
            <a:chOff x="0" y="0"/>
            <a:chExt cx="1054268" cy="95182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54268" cy="951825"/>
            </a:xfrm>
            <a:custGeom>
              <a:avLst/>
              <a:gdLst/>
              <a:ahLst/>
              <a:cxnLst/>
              <a:rect l="l" t="t" r="r" b="b"/>
              <a:pathLst>
                <a:path w="1054268" h="951825">
                  <a:moveTo>
                    <a:pt x="38387" y="0"/>
                  </a:moveTo>
                  <a:lnTo>
                    <a:pt x="1015880" y="0"/>
                  </a:lnTo>
                  <a:cubicBezTo>
                    <a:pt x="1026061" y="0"/>
                    <a:pt x="1035825" y="4044"/>
                    <a:pt x="1043024" y="11243"/>
                  </a:cubicBezTo>
                  <a:cubicBezTo>
                    <a:pt x="1050223" y="18442"/>
                    <a:pt x="1054268" y="28206"/>
                    <a:pt x="1054268" y="38387"/>
                  </a:cubicBezTo>
                  <a:lnTo>
                    <a:pt x="1054268" y="913438"/>
                  </a:lnTo>
                  <a:cubicBezTo>
                    <a:pt x="1054268" y="923619"/>
                    <a:pt x="1050223" y="933383"/>
                    <a:pt x="1043024" y="940582"/>
                  </a:cubicBezTo>
                  <a:cubicBezTo>
                    <a:pt x="1035825" y="947781"/>
                    <a:pt x="1026061" y="951825"/>
                    <a:pt x="1015880" y="951825"/>
                  </a:cubicBezTo>
                  <a:lnTo>
                    <a:pt x="38387" y="951825"/>
                  </a:lnTo>
                  <a:cubicBezTo>
                    <a:pt x="28206" y="951825"/>
                    <a:pt x="18442" y="947781"/>
                    <a:pt x="11243" y="940582"/>
                  </a:cubicBezTo>
                  <a:cubicBezTo>
                    <a:pt x="4044" y="933383"/>
                    <a:pt x="0" y="923619"/>
                    <a:pt x="0" y="913438"/>
                  </a:cubicBezTo>
                  <a:lnTo>
                    <a:pt x="0" y="38387"/>
                  </a:lnTo>
                  <a:cubicBezTo>
                    <a:pt x="0" y="28206"/>
                    <a:pt x="4044" y="18442"/>
                    <a:pt x="11243" y="11243"/>
                  </a:cubicBezTo>
                  <a:cubicBezTo>
                    <a:pt x="18442" y="4044"/>
                    <a:pt x="28206" y="0"/>
                    <a:pt x="3838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054268" cy="100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9639742" y="2867048"/>
            <a:ext cx="1885414" cy="0"/>
          </a:xfrm>
          <a:prstGeom prst="line">
            <a:avLst/>
          </a:prstGeom>
          <a:ln w="28575" cap="rnd">
            <a:solidFill>
              <a:srgbClr val="6E4E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 flipV="1">
            <a:off x="12676091" y="1684069"/>
            <a:ext cx="0" cy="2973460"/>
          </a:xfrm>
          <a:prstGeom prst="line">
            <a:avLst/>
          </a:prstGeom>
          <a:ln w="28575" cap="rnd">
            <a:solidFill>
              <a:srgbClr val="D8AA8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 rot="-5400000">
            <a:off x="8557642" y="5037423"/>
            <a:ext cx="808898" cy="237176"/>
            <a:chOff x="0" y="0"/>
            <a:chExt cx="211424" cy="6199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1424" cy="61991"/>
            </a:xfrm>
            <a:custGeom>
              <a:avLst/>
              <a:gdLst/>
              <a:ahLst/>
              <a:cxnLst/>
              <a:rect l="l" t="t" r="r" b="b"/>
              <a:pathLst>
                <a:path w="211424" h="61991">
                  <a:moveTo>
                    <a:pt x="30996" y="0"/>
                  </a:moveTo>
                  <a:lnTo>
                    <a:pt x="180428" y="0"/>
                  </a:lnTo>
                  <a:cubicBezTo>
                    <a:pt x="197547" y="0"/>
                    <a:pt x="211424" y="13877"/>
                    <a:pt x="211424" y="30996"/>
                  </a:cubicBezTo>
                  <a:lnTo>
                    <a:pt x="211424" y="30996"/>
                  </a:lnTo>
                  <a:cubicBezTo>
                    <a:pt x="211424" y="39216"/>
                    <a:pt x="208158" y="47100"/>
                    <a:pt x="202346" y="52913"/>
                  </a:cubicBezTo>
                  <a:cubicBezTo>
                    <a:pt x="196533" y="58726"/>
                    <a:pt x="188649" y="61991"/>
                    <a:pt x="180428" y="61991"/>
                  </a:cubicBezTo>
                  <a:lnTo>
                    <a:pt x="30996" y="61991"/>
                  </a:lnTo>
                  <a:cubicBezTo>
                    <a:pt x="13877" y="61991"/>
                    <a:pt x="0" y="48114"/>
                    <a:pt x="0" y="30996"/>
                  </a:cubicBezTo>
                  <a:lnTo>
                    <a:pt x="0" y="30996"/>
                  </a:lnTo>
                  <a:cubicBezTo>
                    <a:pt x="0" y="13877"/>
                    <a:pt x="13877" y="0"/>
                    <a:pt x="30996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211424" cy="119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 rot="-5400000">
            <a:off x="16014216" y="5037423"/>
            <a:ext cx="808898" cy="237176"/>
            <a:chOff x="0" y="0"/>
            <a:chExt cx="211424" cy="6199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1424" cy="61991"/>
            </a:xfrm>
            <a:custGeom>
              <a:avLst/>
              <a:gdLst/>
              <a:ahLst/>
              <a:cxnLst/>
              <a:rect l="l" t="t" r="r" b="b"/>
              <a:pathLst>
                <a:path w="211424" h="61991">
                  <a:moveTo>
                    <a:pt x="30996" y="0"/>
                  </a:moveTo>
                  <a:lnTo>
                    <a:pt x="180428" y="0"/>
                  </a:lnTo>
                  <a:cubicBezTo>
                    <a:pt x="197547" y="0"/>
                    <a:pt x="211424" y="13877"/>
                    <a:pt x="211424" y="30996"/>
                  </a:cubicBezTo>
                  <a:lnTo>
                    <a:pt x="211424" y="30996"/>
                  </a:lnTo>
                  <a:cubicBezTo>
                    <a:pt x="211424" y="39216"/>
                    <a:pt x="208158" y="47100"/>
                    <a:pt x="202346" y="52913"/>
                  </a:cubicBezTo>
                  <a:cubicBezTo>
                    <a:pt x="196533" y="58726"/>
                    <a:pt x="188649" y="61991"/>
                    <a:pt x="180428" y="61991"/>
                  </a:cubicBezTo>
                  <a:lnTo>
                    <a:pt x="30996" y="61991"/>
                  </a:lnTo>
                  <a:cubicBezTo>
                    <a:pt x="13877" y="61991"/>
                    <a:pt x="0" y="48114"/>
                    <a:pt x="0" y="30996"/>
                  </a:cubicBezTo>
                  <a:lnTo>
                    <a:pt x="0" y="30996"/>
                  </a:lnTo>
                  <a:cubicBezTo>
                    <a:pt x="0" y="13877"/>
                    <a:pt x="13877" y="0"/>
                    <a:pt x="30996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211424" cy="119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55470" y="1563923"/>
            <a:ext cx="240292" cy="240292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0D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384995" y="1563923"/>
            <a:ext cx="240292" cy="240292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0D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755470" y="8498799"/>
            <a:ext cx="240292" cy="240292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0D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384995" y="8498799"/>
            <a:ext cx="240292" cy="240292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0D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9" name="Freeform 59"/>
          <p:cNvSpPr/>
          <p:nvPr/>
        </p:nvSpPr>
        <p:spPr>
          <a:xfrm>
            <a:off x="9462789" y="2196124"/>
            <a:ext cx="2239318" cy="427448"/>
          </a:xfrm>
          <a:custGeom>
            <a:avLst/>
            <a:gdLst/>
            <a:ahLst/>
            <a:cxnLst/>
            <a:rect l="l" t="t" r="r" b="b"/>
            <a:pathLst>
              <a:path w="2239318" h="427448">
                <a:moveTo>
                  <a:pt x="0" y="0"/>
                </a:moveTo>
                <a:lnTo>
                  <a:pt x="2239319" y="0"/>
                </a:lnTo>
                <a:lnTo>
                  <a:pt x="2239319" y="427448"/>
                </a:lnTo>
                <a:lnTo>
                  <a:pt x="0" y="4274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9251403" y="3228951"/>
            <a:ext cx="2811618" cy="1355344"/>
          </a:xfrm>
          <a:custGeom>
            <a:avLst/>
            <a:gdLst/>
            <a:ahLst/>
            <a:cxnLst/>
            <a:rect l="l" t="t" r="r" b="b"/>
            <a:pathLst>
              <a:path w="2811618" h="1355344">
                <a:moveTo>
                  <a:pt x="0" y="0"/>
                </a:moveTo>
                <a:lnTo>
                  <a:pt x="2811618" y="0"/>
                </a:lnTo>
                <a:lnTo>
                  <a:pt x="2811618" y="1355344"/>
                </a:lnTo>
                <a:lnTo>
                  <a:pt x="0" y="13553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14321598" y="2381273"/>
            <a:ext cx="1418210" cy="305309"/>
          </a:xfrm>
          <a:custGeom>
            <a:avLst/>
            <a:gdLst/>
            <a:ahLst/>
            <a:cxnLst/>
            <a:rect l="l" t="t" r="r" b="b"/>
            <a:pathLst>
              <a:path w="1418210" h="305309">
                <a:moveTo>
                  <a:pt x="0" y="0"/>
                </a:moveTo>
                <a:lnTo>
                  <a:pt x="1418210" y="0"/>
                </a:lnTo>
                <a:lnTo>
                  <a:pt x="1418210" y="305309"/>
                </a:lnTo>
                <a:lnTo>
                  <a:pt x="0" y="305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13442853" y="3793314"/>
            <a:ext cx="2484804" cy="766824"/>
          </a:xfrm>
          <a:custGeom>
            <a:avLst/>
            <a:gdLst/>
            <a:ahLst/>
            <a:cxnLst/>
            <a:rect l="l" t="t" r="r" b="b"/>
            <a:pathLst>
              <a:path w="2484804" h="766824">
                <a:moveTo>
                  <a:pt x="0" y="0"/>
                </a:moveTo>
                <a:lnTo>
                  <a:pt x="2484804" y="0"/>
                </a:lnTo>
                <a:lnTo>
                  <a:pt x="2484804" y="766824"/>
                </a:lnTo>
                <a:lnTo>
                  <a:pt x="0" y="7668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8843503" y="6901432"/>
            <a:ext cx="3645841" cy="1159431"/>
          </a:xfrm>
          <a:custGeom>
            <a:avLst/>
            <a:gdLst/>
            <a:ahLst/>
            <a:cxnLst/>
            <a:rect l="l" t="t" r="r" b="b"/>
            <a:pathLst>
              <a:path w="3645841" h="1159431">
                <a:moveTo>
                  <a:pt x="0" y="0"/>
                </a:moveTo>
                <a:lnTo>
                  <a:pt x="3645842" y="0"/>
                </a:lnTo>
                <a:lnTo>
                  <a:pt x="3645842" y="1159432"/>
                </a:lnTo>
                <a:lnTo>
                  <a:pt x="0" y="11594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1448281" y="1662119"/>
            <a:ext cx="6189734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0"/>
              </a:lnSpc>
            </a:pPr>
            <a:r>
              <a:rPr lang="en-US" sz="660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Tujuan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42679" y="481408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251403" y="1797152"/>
            <a:ext cx="2662091" cy="341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carilah akar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058089" y="6043534"/>
            <a:ext cx="3198245" cy="65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•Bagaimana untuk mencari akar persamaan :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055607" y="5579510"/>
            <a:ext cx="3198245" cy="271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>
                <a:solidFill>
                  <a:srgbClr val="FF3131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•Cara pemecahan</a:t>
            </a:r>
          </a:p>
          <a:p>
            <a:pPr algn="ctr">
              <a:lnSpc>
                <a:spcPts val="2520"/>
              </a:lnSpc>
            </a:pPr>
            <a:endParaRPr lang="en-US" sz="2400">
              <a:solidFill>
                <a:srgbClr val="FF3131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  <a:p>
            <a:pPr algn="ctr">
              <a:lnSpc>
                <a:spcPts val="2520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mencoba-coba, memasukkannilai x, agar f(x) menjadi 0</a:t>
            </a:r>
          </a:p>
          <a:p>
            <a:pPr algn="ctr">
              <a:lnSpc>
                <a:spcPts val="1364"/>
              </a:lnSpc>
            </a:pPr>
            <a:endParaRPr lang="en-US" sz="2400">
              <a:solidFill>
                <a:srgbClr val="3F3837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  <a:p>
            <a:pPr algn="ctr">
              <a:lnSpc>
                <a:spcPts val="2520"/>
              </a:lnSpc>
            </a:pPr>
            <a:r>
              <a:rPr lang="en-US" sz="2400">
                <a:solidFill>
                  <a:srgbClr val="FF3131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Hasilnya</a:t>
            </a: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lama dan belum tentu ketemu 😊</a:t>
            </a:r>
          </a:p>
          <a:p>
            <a:pPr algn="ctr">
              <a:lnSpc>
                <a:spcPts val="2520"/>
              </a:lnSpc>
            </a:pPr>
            <a:endParaRPr lang="en-US" sz="2400">
              <a:solidFill>
                <a:srgbClr val="3F3837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323451" y="2809898"/>
            <a:ext cx="6297833" cy="2155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Mencari</a:t>
            </a:r>
            <a:endParaRPr lang="en-US" sz="2400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akar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persamaan</a:t>
            </a:r>
            <a:endParaRPr lang="en-US" sz="2400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menentukan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harga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X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untuk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f(x) = 0</a:t>
            </a:r>
          </a:p>
          <a:p>
            <a:pPr marL="1493520" lvl="3" indent="-345440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X =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berapa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… Ketika y = 0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fungsi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f(x)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memotong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sumbu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x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668056" y="1340885"/>
            <a:ext cx="2662091" cy="96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dirty="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–Pada </a:t>
            </a:r>
            <a:r>
              <a:rPr lang="en-US" sz="2400" dirty="0" err="1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persamaan</a:t>
            </a:r>
            <a:r>
              <a:rPr lang="en-US" sz="2400" dirty="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polinomial</a:t>
            </a:r>
            <a:r>
              <a:rPr lang="en-US" sz="2400" dirty="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pangkat</a:t>
            </a:r>
            <a:r>
              <a:rPr lang="en-US" sz="2400" dirty="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2 </a:t>
            </a:r>
            <a:r>
              <a:rPr lang="en-US" sz="2400" dirty="0" err="1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misal</a:t>
            </a:r>
            <a:r>
              <a:rPr lang="en-US" sz="2400" dirty="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                        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190491" y="2945225"/>
            <a:ext cx="3027514" cy="666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untuk mencari x1 dan x2 kita bisa menggunakan rumus ABC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5859143"/>
            <a:ext cx="19479934" cy="4987295"/>
            <a:chOff x="0" y="0"/>
            <a:chExt cx="5130518" cy="1313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313526"/>
            </a:xfrm>
            <a:custGeom>
              <a:avLst/>
              <a:gdLst/>
              <a:ahLst/>
              <a:cxnLst/>
              <a:rect l="l" t="t" r="r" b="b"/>
              <a:pathLst>
                <a:path w="5130517" h="131352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301603"/>
                  </a:lnTo>
                  <a:cubicBezTo>
                    <a:pt x="5130517" y="1304766"/>
                    <a:pt x="5129261" y="1307798"/>
                    <a:pt x="5127025" y="1310034"/>
                  </a:cubicBezTo>
                  <a:cubicBezTo>
                    <a:pt x="5124790" y="1312270"/>
                    <a:pt x="5121757" y="1313526"/>
                    <a:pt x="5118595" y="1313526"/>
                  </a:cubicBezTo>
                  <a:lnTo>
                    <a:pt x="11923" y="1313526"/>
                  </a:lnTo>
                  <a:cubicBezTo>
                    <a:pt x="8761" y="1313526"/>
                    <a:pt x="5728" y="1312270"/>
                    <a:pt x="3492" y="1310034"/>
                  </a:cubicBezTo>
                  <a:cubicBezTo>
                    <a:pt x="1256" y="1307798"/>
                    <a:pt x="0" y="1304766"/>
                    <a:pt x="0" y="130160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370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2679" y="5187500"/>
            <a:ext cx="9530875" cy="3835441"/>
            <a:chOff x="0" y="0"/>
            <a:chExt cx="2491111" cy="1002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91112" cy="1002480"/>
            </a:xfrm>
            <a:custGeom>
              <a:avLst/>
              <a:gdLst/>
              <a:ahLst/>
              <a:cxnLst/>
              <a:rect l="l" t="t" r="r" b="b"/>
              <a:pathLst>
                <a:path w="2491112" h="1002480">
                  <a:moveTo>
                    <a:pt x="16246" y="0"/>
                  </a:moveTo>
                  <a:lnTo>
                    <a:pt x="2474866" y="0"/>
                  </a:lnTo>
                  <a:cubicBezTo>
                    <a:pt x="2479174" y="0"/>
                    <a:pt x="2483306" y="1712"/>
                    <a:pt x="2486353" y="4758"/>
                  </a:cubicBezTo>
                  <a:cubicBezTo>
                    <a:pt x="2489400" y="7805"/>
                    <a:pt x="2491112" y="11937"/>
                    <a:pt x="2491112" y="16246"/>
                  </a:cubicBezTo>
                  <a:lnTo>
                    <a:pt x="2491112" y="986234"/>
                  </a:lnTo>
                  <a:cubicBezTo>
                    <a:pt x="2491112" y="990543"/>
                    <a:pt x="2489400" y="994675"/>
                    <a:pt x="2486353" y="997722"/>
                  </a:cubicBezTo>
                  <a:cubicBezTo>
                    <a:pt x="2483306" y="1000768"/>
                    <a:pt x="2479174" y="1002480"/>
                    <a:pt x="2474866" y="1002480"/>
                  </a:cubicBezTo>
                  <a:lnTo>
                    <a:pt x="16246" y="1002480"/>
                  </a:lnTo>
                  <a:cubicBezTo>
                    <a:pt x="11937" y="1002480"/>
                    <a:pt x="7805" y="1000768"/>
                    <a:pt x="4758" y="997722"/>
                  </a:cubicBezTo>
                  <a:cubicBezTo>
                    <a:pt x="1712" y="994675"/>
                    <a:pt x="0" y="990543"/>
                    <a:pt x="0" y="986234"/>
                  </a:cubicBezTo>
                  <a:lnTo>
                    <a:pt x="0" y="16246"/>
                  </a:lnTo>
                  <a:cubicBezTo>
                    <a:pt x="0" y="11937"/>
                    <a:pt x="1712" y="7805"/>
                    <a:pt x="4758" y="4758"/>
                  </a:cubicBezTo>
                  <a:cubicBezTo>
                    <a:pt x="7805" y="1712"/>
                    <a:pt x="11937" y="0"/>
                    <a:pt x="162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91111" cy="105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567706" y="4687948"/>
            <a:ext cx="7710515" cy="0"/>
          </a:xfrm>
          <a:prstGeom prst="line">
            <a:avLst/>
          </a:prstGeom>
          <a:ln w="66675" cap="rnd">
            <a:solidFill>
              <a:srgbClr val="FFCB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536369" y="4569396"/>
            <a:ext cx="237103" cy="23710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41117" y="4569396"/>
            <a:ext cx="237103" cy="23710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83104" y="5177975"/>
            <a:ext cx="6420167" cy="3844966"/>
            <a:chOff x="0" y="0"/>
            <a:chExt cx="1678057" cy="10049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78057" cy="1004970"/>
            </a:xfrm>
            <a:custGeom>
              <a:avLst/>
              <a:gdLst/>
              <a:ahLst/>
              <a:cxnLst/>
              <a:rect l="l" t="t" r="r" b="b"/>
              <a:pathLst>
                <a:path w="1678057" h="1004970">
                  <a:moveTo>
                    <a:pt x="24118" y="0"/>
                  </a:moveTo>
                  <a:lnTo>
                    <a:pt x="1653939" y="0"/>
                  </a:lnTo>
                  <a:cubicBezTo>
                    <a:pt x="1660336" y="0"/>
                    <a:pt x="1666470" y="2541"/>
                    <a:pt x="1670993" y="7064"/>
                  </a:cubicBezTo>
                  <a:cubicBezTo>
                    <a:pt x="1675516" y="11587"/>
                    <a:pt x="1678057" y="17721"/>
                    <a:pt x="1678057" y="24118"/>
                  </a:cubicBezTo>
                  <a:lnTo>
                    <a:pt x="1678057" y="980852"/>
                  </a:lnTo>
                  <a:cubicBezTo>
                    <a:pt x="1678057" y="994172"/>
                    <a:pt x="1667259" y="1004970"/>
                    <a:pt x="1653939" y="1004970"/>
                  </a:cubicBezTo>
                  <a:lnTo>
                    <a:pt x="24118" y="1004970"/>
                  </a:lnTo>
                  <a:cubicBezTo>
                    <a:pt x="10798" y="1004970"/>
                    <a:pt x="0" y="994172"/>
                    <a:pt x="0" y="980852"/>
                  </a:cubicBezTo>
                  <a:lnTo>
                    <a:pt x="0" y="24118"/>
                  </a:lnTo>
                  <a:cubicBezTo>
                    <a:pt x="0" y="10798"/>
                    <a:pt x="10798" y="0"/>
                    <a:pt x="2411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678057" cy="1062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67706" y="2278132"/>
            <a:ext cx="8572395" cy="1916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60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Pengertian</a:t>
            </a:r>
          </a:p>
          <a:p>
            <a:pPr algn="l">
              <a:lnSpc>
                <a:spcPts val="6930"/>
              </a:lnSpc>
            </a:pPr>
            <a:r>
              <a:rPr lang="en-US" sz="660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Akar Persamaan</a:t>
            </a:r>
          </a:p>
        </p:txBody>
      </p:sp>
      <p:sp>
        <p:nvSpPr>
          <p:cNvPr id="19" name="Freeform 19"/>
          <p:cNvSpPr/>
          <p:nvPr/>
        </p:nvSpPr>
        <p:spPr>
          <a:xfrm flipH="1">
            <a:off x="8268277" y="2429313"/>
            <a:ext cx="475671" cy="683079"/>
          </a:xfrm>
          <a:custGeom>
            <a:avLst/>
            <a:gdLst/>
            <a:ahLst/>
            <a:cxnLst/>
            <a:rect l="l" t="t" r="r" b="b"/>
            <a:pathLst>
              <a:path w="475671" h="683079">
                <a:moveTo>
                  <a:pt x="475671" y="0"/>
                </a:moveTo>
                <a:lnTo>
                  <a:pt x="0" y="0"/>
                </a:lnTo>
                <a:lnTo>
                  <a:pt x="0" y="683079"/>
                </a:lnTo>
                <a:lnTo>
                  <a:pt x="475671" y="683079"/>
                </a:lnTo>
                <a:lnTo>
                  <a:pt x="4756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1699933" y="1489037"/>
            <a:ext cx="3317462" cy="33174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0683104" y="1957257"/>
            <a:ext cx="5351120" cy="2849242"/>
          </a:xfrm>
          <a:custGeom>
            <a:avLst/>
            <a:gdLst/>
            <a:ahLst/>
            <a:cxnLst/>
            <a:rect l="l" t="t" r="r" b="b"/>
            <a:pathLst>
              <a:path w="5351120" h="2849242">
                <a:moveTo>
                  <a:pt x="0" y="0"/>
                </a:moveTo>
                <a:lnTo>
                  <a:pt x="5351120" y="0"/>
                </a:lnTo>
                <a:lnTo>
                  <a:pt x="5351120" y="2849243"/>
                </a:lnTo>
                <a:lnTo>
                  <a:pt x="0" y="284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1001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0683104" y="1672713"/>
            <a:ext cx="576424" cy="569088"/>
          </a:xfrm>
          <a:custGeom>
            <a:avLst/>
            <a:gdLst/>
            <a:ahLst/>
            <a:cxnLst/>
            <a:rect l="l" t="t" r="r" b="b"/>
            <a:pathLst>
              <a:path w="576424" h="569088">
                <a:moveTo>
                  <a:pt x="0" y="0"/>
                </a:moveTo>
                <a:lnTo>
                  <a:pt x="576425" y="0"/>
                </a:lnTo>
                <a:lnTo>
                  <a:pt x="576425" y="569088"/>
                </a:lnTo>
                <a:lnTo>
                  <a:pt x="0" y="56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5746012" y="3195020"/>
            <a:ext cx="576424" cy="569088"/>
          </a:xfrm>
          <a:custGeom>
            <a:avLst/>
            <a:gdLst/>
            <a:ahLst/>
            <a:cxnLst/>
            <a:rect l="l" t="t" r="r" b="b"/>
            <a:pathLst>
              <a:path w="576424" h="569088">
                <a:moveTo>
                  <a:pt x="0" y="0"/>
                </a:moveTo>
                <a:lnTo>
                  <a:pt x="576425" y="0"/>
                </a:lnTo>
                <a:lnTo>
                  <a:pt x="576425" y="569088"/>
                </a:lnTo>
                <a:lnTo>
                  <a:pt x="0" y="56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101102" y="5483318"/>
            <a:ext cx="9315303" cy="353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Untuk polynomial berderajat 2, tersedia magical formula “ABC”, yang secara analitis dapat membantu mencari akar-akar persamaan tersebut.</a:t>
            </a:r>
          </a:p>
          <a:p>
            <a:pPr algn="ctr">
              <a:lnSpc>
                <a:spcPts val="1540"/>
              </a:lnSpc>
            </a:pPr>
            <a:endParaRPr lang="en-US" sz="240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Sementara untuk polynomial berderajat 3 / 4, rumus2 yang ada cukup kompleks. Kita perlu berkali2 mengucap “gladium laviosa” sebelum dapat menggunakannya. Tetapi bagaimanapun juga (secara analitis) rumus2 tsb masih dapat digunakan.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1800559" y="5540468"/>
            <a:ext cx="4521878" cy="618299"/>
            <a:chOff x="0" y="0"/>
            <a:chExt cx="1181896" cy="1616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81896" cy="161607"/>
            </a:xfrm>
            <a:custGeom>
              <a:avLst/>
              <a:gdLst/>
              <a:ahLst/>
              <a:cxnLst/>
              <a:rect l="l" t="t" r="r" b="b"/>
              <a:pathLst>
                <a:path w="1181896" h="161607">
                  <a:moveTo>
                    <a:pt x="34242" y="0"/>
                  </a:moveTo>
                  <a:lnTo>
                    <a:pt x="1147654" y="0"/>
                  </a:lnTo>
                  <a:cubicBezTo>
                    <a:pt x="1166565" y="0"/>
                    <a:pt x="1181896" y="15331"/>
                    <a:pt x="1181896" y="34242"/>
                  </a:cubicBezTo>
                  <a:lnTo>
                    <a:pt x="1181896" y="127364"/>
                  </a:lnTo>
                  <a:cubicBezTo>
                    <a:pt x="1181896" y="146276"/>
                    <a:pt x="1166565" y="161607"/>
                    <a:pt x="1147654" y="161607"/>
                  </a:cubicBezTo>
                  <a:lnTo>
                    <a:pt x="34242" y="161607"/>
                  </a:lnTo>
                  <a:cubicBezTo>
                    <a:pt x="15331" y="161607"/>
                    <a:pt x="0" y="146276"/>
                    <a:pt x="0" y="127364"/>
                  </a:cubicBezTo>
                  <a:lnTo>
                    <a:pt x="0" y="34242"/>
                  </a:lnTo>
                  <a:cubicBezTo>
                    <a:pt x="0" y="15331"/>
                    <a:pt x="15331" y="0"/>
                    <a:pt x="34242" y="0"/>
                  </a:cubicBezTo>
                  <a:close/>
                </a:path>
              </a:pathLst>
            </a:custGeom>
            <a:solidFill>
              <a:srgbClr val="FFF0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181896" cy="218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131084" y="5554343"/>
            <a:ext cx="3903141" cy="52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polynomial derajat  &gt; 4?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41808" y="6406417"/>
            <a:ext cx="5351120" cy="251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yang bisa kita lakukan hanyalah mencoba menyelesaikan melalui serangkaian pendekatan numeris. Dan untuk itu tersedia beragam metode yang dapat kita pilih.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6641001" y="8608157"/>
            <a:ext cx="618299" cy="618299"/>
          </a:xfrm>
          <a:custGeom>
            <a:avLst/>
            <a:gdLst/>
            <a:ahLst/>
            <a:cxnLst/>
            <a:rect l="l" t="t" r="r" b="b"/>
            <a:pathLst>
              <a:path w="618299" h="618299">
                <a:moveTo>
                  <a:pt x="0" y="0"/>
                </a:moveTo>
                <a:lnTo>
                  <a:pt x="618299" y="0"/>
                </a:lnTo>
                <a:lnTo>
                  <a:pt x="618299" y="618299"/>
                </a:lnTo>
                <a:lnTo>
                  <a:pt x="0" y="6182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645414" y="406556"/>
            <a:ext cx="4265778" cy="622144"/>
            <a:chOff x="0" y="0"/>
            <a:chExt cx="1123497" cy="16385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2679" y="335775"/>
            <a:ext cx="141561" cy="14156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58252" y="335775"/>
            <a:ext cx="141561" cy="141561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256795" y="335775"/>
            <a:ext cx="141561" cy="141561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72367" y="335775"/>
            <a:ext cx="141561" cy="141561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942679" y="481408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7211609" y="477336"/>
            <a:ext cx="9738541" cy="1301489"/>
            <a:chOff x="0" y="0"/>
            <a:chExt cx="2564883" cy="34277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564883" cy="342779"/>
            </a:xfrm>
            <a:custGeom>
              <a:avLst/>
              <a:gdLst/>
              <a:ahLst/>
              <a:cxnLst/>
              <a:rect l="l" t="t" r="r" b="b"/>
              <a:pathLst>
                <a:path w="2564883" h="342779">
                  <a:moveTo>
                    <a:pt x="79498" y="0"/>
                  </a:moveTo>
                  <a:lnTo>
                    <a:pt x="2485386" y="0"/>
                  </a:lnTo>
                  <a:cubicBezTo>
                    <a:pt x="2506470" y="0"/>
                    <a:pt x="2526690" y="8376"/>
                    <a:pt x="2541599" y="23284"/>
                  </a:cubicBezTo>
                  <a:cubicBezTo>
                    <a:pt x="2556508" y="38193"/>
                    <a:pt x="2564883" y="58414"/>
                    <a:pt x="2564883" y="79498"/>
                  </a:cubicBezTo>
                  <a:lnTo>
                    <a:pt x="2564883" y="263281"/>
                  </a:lnTo>
                  <a:cubicBezTo>
                    <a:pt x="2564883" y="284365"/>
                    <a:pt x="2556508" y="304586"/>
                    <a:pt x="2541599" y="319495"/>
                  </a:cubicBezTo>
                  <a:cubicBezTo>
                    <a:pt x="2526690" y="334403"/>
                    <a:pt x="2506470" y="342779"/>
                    <a:pt x="2485386" y="342779"/>
                  </a:cubicBezTo>
                  <a:lnTo>
                    <a:pt x="79498" y="342779"/>
                  </a:lnTo>
                  <a:cubicBezTo>
                    <a:pt x="58414" y="342779"/>
                    <a:pt x="38193" y="334403"/>
                    <a:pt x="23284" y="319495"/>
                  </a:cubicBezTo>
                  <a:cubicBezTo>
                    <a:pt x="8376" y="304586"/>
                    <a:pt x="0" y="284365"/>
                    <a:pt x="0" y="263281"/>
                  </a:cubicBezTo>
                  <a:lnTo>
                    <a:pt x="0" y="79498"/>
                  </a:lnTo>
                  <a:cubicBezTo>
                    <a:pt x="0" y="58414"/>
                    <a:pt x="8376" y="38193"/>
                    <a:pt x="23284" y="23284"/>
                  </a:cubicBezTo>
                  <a:cubicBezTo>
                    <a:pt x="38193" y="8376"/>
                    <a:pt x="58414" y="0"/>
                    <a:pt x="79498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2564883" cy="399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7588431" y="565205"/>
            <a:ext cx="9361720" cy="15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Dalam 2 pertemuan ke depan kita akan mempelajari beberapa metode untuk mencari akar-akar persamaan.</a:t>
            </a:r>
          </a:p>
          <a:p>
            <a:pPr algn="ctr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29352" y="489585"/>
            <a:ext cx="10429297" cy="866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4"/>
              </a:lnSpc>
            </a:pPr>
            <a:r>
              <a:rPr lang="en-US" sz="5499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Pengertian Akar Persamaan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1184809" y="5011842"/>
            <a:ext cx="592222" cy="1245896"/>
          </a:xfrm>
          <a:prstGeom prst="line">
            <a:avLst/>
          </a:prstGeom>
          <a:ln w="66675" cap="flat">
            <a:solidFill>
              <a:srgbClr val="FFBA6A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28700" y="2132541"/>
            <a:ext cx="8985613" cy="7125759"/>
            <a:chOff x="0" y="0"/>
            <a:chExt cx="2348595" cy="18624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48595" cy="1862480"/>
            </a:xfrm>
            <a:custGeom>
              <a:avLst/>
              <a:gdLst/>
              <a:ahLst/>
              <a:cxnLst/>
              <a:rect l="l" t="t" r="r" b="b"/>
              <a:pathLst>
                <a:path w="2348595" h="1862480">
                  <a:moveTo>
                    <a:pt x="17232" y="0"/>
                  </a:moveTo>
                  <a:lnTo>
                    <a:pt x="2331363" y="0"/>
                  </a:lnTo>
                  <a:cubicBezTo>
                    <a:pt x="2335933" y="0"/>
                    <a:pt x="2340316" y="1815"/>
                    <a:pt x="2343547" y="5047"/>
                  </a:cubicBezTo>
                  <a:cubicBezTo>
                    <a:pt x="2346779" y="8279"/>
                    <a:pt x="2348595" y="12662"/>
                    <a:pt x="2348595" y="17232"/>
                  </a:cubicBezTo>
                  <a:lnTo>
                    <a:pt x="2348595" y="1845248"/>
                  </a:lnTo>
                  <a:cubicBezTo>
                    <a:pt x="2348595" y="1854765"/>
                    <a:pt x="2340880" y="1862480"/>
                    <a:pt x="2331363" y="1862480"/>
                  </a:cubicBezTo>
                  <a:lnTo>
                    <a:pt x="17232" y="1862480"/>
                  </a:lnTo>
                  <a:cubicBezTo>
                    <a:pt x="12662" y="1862480"/>
                    <a:pt x="8279" y="1860664"/>
                    <a:pt x="5047" y="1857432"/>
                  </a:cubicBezTo>
                  <a:cubicBezTo>
                    <a:pt x="1815" y="1854201"/>
                    <a:pt x="0" y="1849818"/>
                    <a:pt x="0" y="1845248"/>
                  </a:cubicBezTo>
                  <a:lnTo>
                    <a:pt x="0" y="17232"/>
                  </a:lnTo>
                  <a:cubicBezTo>
                    <a:pt x="0" y="12662"/>
                    <a:pt x="1815" y="8279"/>
                    <a:pt x="5047" y="5047"/>
                  </a:cubicBezTo>
                  <a:cubicBezTo>
                    <a:pt x="8279" y="1815"/>
                    <a:pt x="12662" y="0"/>
                    <a:pt x="172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348595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78336" y="5592867"/>
            <a:ext cx="4714104" cy="1329743"/>
            <a:chOff x="0" y="0"/>
            <a:chExt cx="1232139" cy="3475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2139" cy="347559"/>
            </a:xfrm>
            <a:custGeom>
              <a:avLst/>
              <a:gdLst/>
              <a:ahLst/>
              <a:cxnLst/>
              <a:rect l="l" t="t" r="r" b="b"/>
              <a:pathLst>
                <a:path w="1232139" h="347559">
                  <a:moveTo>
                    <a:pt x="32846" y="0"/>
                  </a:moveTo>
                  <a:lnTo>
                    <a:pt x="1199293" y="0"/>
                  </a:lnTo>
                  <a:cubicBezTo>
                    <a:pt x="1208004" y="0"/>
                    <a:pt x="1216359" y="3461"/>
                    <a:pt x="1222518" y="9620"/>
                  </a:cubicBezTo>
                  <a:cubicBezTo>
                    <a:pt x="1228678" y="15780"/>
                    <a:pt x="1232139" y="24135"/>
                    <a:pt x="1232139" y="32846"/>
                  </a:cubicBezTo>
                  <a:lnTo>
                    <a:pt x="1232139" y="314713"/>
                  </a:lnTo>
                  <a:cubicBezTo>
                    <a:pt x="1232139" y="323424"/>
                    <a:pt x="1228678" y="331779"/>
                    <a:pt x="1222518" y="337938"/>
                  </a:cubicBezTo>
                  <a:cubicBezTo>
                    <a:pt x="1216359" y="344098"/>
                    <a:pt x="1208004" y="347559"/>
                    <a:pt x="1199293" y="347559"/>
                  </a:cubicBezTo>
                  <a:lnTo>
                    <a:pt x="32846" y="347559"/>
                  </a:lnTo>
                  <a:cubicBezTo>
                    <a:pt x="24135" y="347559"/>
                    <a:pt x="15780" y="344098"/>
                    <a:pt x="9620" y="337938"/>
                  </a:cubicBezTo>
                  <a:cubicBezTo>
                    <a:pt x="3461" y="331779"/>
                    <a:pt x="0" y="323424"/>
                    <a:pt x="0" y="314713"/>
                  </a:cubicBezTo>
                  <a:lnTo>
                    <a:pt x="0" y="32846"/>
                  </a:lnTo>
                  <a:cubicBezTo>
                    <a:pt x="0" y="24135"/>
                    <a:pt x="3461" y="15780"/>
                    <a:pt x="9620" y="9620"/>
                  </a:cubicBezTo>
                  <a:cubicBezTo>
                    <a:pt x="15780" y="3461"/>
                    <a:pt x="24135" y="0"/>
                    <a:pt x="328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232139" cy="4047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78336" y="7503635"/>
            <a:ext cx="4714104" cy="2166359"/>
            <a:chOff x="0" y="0"/>
            <a:chExt cx="1232139" cy="56622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32139" cy="566227"/>
            </a:xfrm>
            <a:custGeom>
              <a:avLst/>
              <a:gdLst/>
              <a:ahLst/>
              <a:cxnLst/>
              <a:rect l="l" t="t" r="r" b="b"/>
              <a:pathLst>
                <a:path w="1232139" h="566227">
                  <a:moveTo>
                    <a:pt x="32846" y="0"/>
                  </a:moveTo>
                  <a:lnTo>
                    <a:pt x="1199293" y="0"/>
                  </a:lnTo>
                  <a:cubicBezTo>
                    <a:pt x="1208004" y="0"/>
                    <a:pt x="1216359" y="3461"/>
                    <a:pt x="1222518" y="9620"/>
                  </a:cubicBezTo>
                  <a:cubicBezTo>
                    <a:pt x="1228678" y="15780"/>
                    <a:pt x="1232139" y="24135"/>
                    <a:pt x="1232139" y="32846"/>
                  </a:cubicBezTo>
                  <a:lnTo>
                    <a:pt x="1232139" y="533381"/>
                  </a:lnTo>
                  <a:cubicBezTo>
                    <a:pt x="1232139" y="542093"/>
                    <a:pt x="1228678" y="550447"/>
                    <a:pt x="1222518" y="556607"/>
                  </a:cubicBezTo>
                  <a:cubicBezTo>
                    <a:pt x="1216359" y="562767"/>
                    <a:pt x="1208004" y="566227"/>
                    <a:pt x="1199293" y="566227"/>
                  </a:cubicBezTo>
                  <a:lnTo>
                    <a:pt x="32846" y="566227"/>
                  </a:lnTo>
                  <a:cubicBezTo>
                    <a:pt x="24135" y="566227"/>
                    <a:pt x="15780" y="562767"/>
                    <a:pt x="9620" y="556607"/>
                  </a:cubicBezTo>
                  <a:cubicBezTo>
                    <a:pt x="3461" y="550447"/>
                    <a:pt x="0" y="542093"/>
                    <a:pt x="0" y="533381"/>
                  </a:cubicBezTo>
                  <a:lnTo>
                    <a:pt x="0" y="32846"/>
                  </a:lnTo>
                  <a:cubicBezTo>
                    <a:pt x="0" y="24135"/>
                    <a:pt x="3461" y="15780"/>
                    <a:pt x="9620" y="9620"/>
                  </a:cubicBezTo>
                  <a:cubicBezTo>
                    <a:pt x="15780" y="3461"/>
                    <a:pt x="24135" y="0"/>
                    <a:pt x="328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232139" cy="623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14105241" y="664799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2"/>
                </a:lnTo>
                <a:lnTo>
                  <a:pt x="506815" y="727802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3675944" y="664799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2"/>
                </a:lnTo>
                <a:lnTo>
                  <a:pt x="0" y="727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1184809" y="5011842"/>
            <a:ext cx="592222" cy="3156664"/>
          </a:xfrm>
          <a:prstGeom prst="line">
            <a:avLst/>
          </a:prstGeom>
          <a:ln w="66675" cap="flat">
            <a:solidFill>
              <a:srgbClr val="FFBA6A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499564" y="2998252"/>
            <a:ext cx="8043884" cy="54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Cara termudah mencari akar persamaan polynomial berderajat tinggi adalah dengan menggambarkan fungsi tersebut pada koordinat cartesian. Kemudian mencari titik potong fungsi pada sumbu X.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Cara mudah lainnya?!...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Ada, tapi butuh kesabaran. Yaitu dengan mencoba2 (</a:t>
            </a:r>
            <a:r>
              <a:rPr lang="en-US" sz="2400" i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trial error</a:t>
            </a: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). Tetapkan sebarang nilai x dan teliti apakah anda bisa mendapatkan f(x) = 0.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Jika gagal, coba nilai x lainnya. Sampai anda ‘beruntung’ menemukan f(x) = 0. 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382681" y="5682505"/>
            <a:ext cx="3905413" cy="172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Kelompok Metode Akolade (minggu ini)</a:t>
            </a: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EA6564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382681" y="7738929"/>
            <a:ext cx="3905413" cy="172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Kelompok Metode Terbuka (pertemuan berikutnya)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623913" y="2132541"/>
            <a:ext cx="6935022" cy="2879302"/>
            <a:chOff x="0" y="0"/>
            <a:chExt cx="1812626" cy="7525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12626" cy="752571"/>
            </a:xfrm>
            <a:custGeom>
              <a:avLst/>
              <a:gdLst/>
              <a:ahLst/>
              <a:cxnLst/>
              <a:rect l="l" t="t" r="r" b="b"/>
              <a:pathLst>
                <a:path w="1812626" h="752571">
                  <a:moveTo>
                    <a:pt x="22327" y="0"/>
                  </a:moveTo>
                  <a:lnTo>
                    <a:pt x="1790299" y="0"/>
                  </a:lnTo>
                  <a:cubicBezTo>
                    <a:pt x="1796220" y="0"/>
                    <a:pt x="1801900" y="2352"/>
                    <a:pt x="1806086" y="6539"/>
                  </a:cubicBezTo>
                  <a:cubicBezTo>
                    <a:pt x="1810274" y="10727"/>
                    <a:pt x="1812626" y="16406"/>
                    <a:pt x="1812626" y="22327"/>
                  </a:cubicBezTo>
                  <a:lnTo>
                    <a:pt x="1812626" y="730244"/>
                  </a:lnTo>
                  <a:cubicBezTo>
                    <a:pt x="1812626" y="736166"/>
                    <a:pt x="1810274" y="741845"/>
                    <a:pt x="1806086" y="746032"/>
                  </a:cubicBezTo>
                  <a:cubicBezTo>
                    <a:pt x="1801900" y="750219"/>
                    <a:pt x="1796220" y="752571"/>
                    <a:pt x="1790299" y="752571"/>
                  </a:cubicBezTo>
                  <a:lnTo>
                    <a:pt x="22327" y="752571"/>
                  </a:lnTo>
                  <a:cubicBezTo>
                    <a:pt x="16406" y="752571"/>
                    <a:pt x="10727" y="750219"/>
                    <a:pt x="6539" y="746032"/>
                  </a:cubicBezTo>
                  <a:cubicBezTo>
                    <a:pt x="2352" y="741845"/>
                    <a:pt x="0" y="736166"/>
                    <a:pt x="0" y="730244"/>
                  </a:cubicBezTo>
                  <a:lnTo>
                    <a:pt x="0" y="22327"/>
                  </a:lnTo>
                  <a:cubicBezTo>
                    <a:pt x="0" y="16406"/>
                    <a:pt x="2352" y="10727"/>
                    <a:pt x="6539" y="6539"/>
                  </a:cubicBezTo>
                  <a:cubicBezTo>
                    <a:pt x="10727" y="2352"/>
                    <a:pt x="16406" y="0"/>
                    <a:pt x="2232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812626" cy="809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623913" y="2288172"/>
            <a:ext cx="6935022" cy="3349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Kedua cara ini sebenarnya sudah dapat dikategorikan sebagai upaya pendekatan (walaupun tidak sistematis). Di sisi lain terdapat banyak teknik pendekatan yang secara garis besar dikelompokkan dalam 2 kelompok besar, yaitu :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7912" y="1931228"/>
            <a:ext cx="4265778" cy="622144"/>
            <a:chOff x="0" y="0"/>
            <a:chExt cx="1123497" cy="163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95967" y="5721408"/>
            <a:ext cx="19479934" cy="5125029"/>
            <a:chOff x="0" y="0"/>
            <a:chExt cx="5130518" cy="1349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30517" cy="1349802"/>
            </a:xfrm>
            <a:custGeom>
              <a:avLst/>
              <a:gdLst/>
              <a:ahLst/>
              <a:cxnLst/>
              <a:rect l="l" t="t" r="r" b="b"/>
              <a:pathLst>
                <a:path w="5130517" h="1349802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337879"/>
                  </a:lnTo>
                  <a:cubicBezTo>
                    <a:pt x="5130517" y="1341041"/>
                    <a:pt x="5129261" y="1344074"/>
                    <a:pt x="5127025" y="1346310"/>
                  </a:cubicBezTo>
                  <a:cubicBezTo>
                    <a:pt x="5124790" y="1348546"/>
                    <a:pt x="5121757" y="1349802"/>
                    <a:pt x="5118595" y="1349802"/>
                  </a:cubicBezTo>
                  <a:lnTo>
                    <a:pt x="11923" y="1349802"/>
                  </a:lnTo>
                  <a:cubicBezTo>
                    <a:pt x="8761" y="1349802"/>
                    <a:pt x="5728" y="1348546"/>
                    <a:pt x="3492" y="1346310"/>
                  </a:cubicBezTo>
                  <a:cubicBezTo>
                    <a:pt x="1256" y="1344074"/>
                    <a:pt x="0" y="1341041"/>
                    <a:pt x="0" y="1337879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130518" cy="140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55177" y="1860448"/>
            <a:ext cx="141561" cy="1415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70749" y="1860448"/>
            <a:ext cx="141561" cy="1415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69292" y="1860448"/>
            <a:ext cx="141561" cy="1415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4865" y="1860448"/>
            <a:ext cx="141561" cy="14156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57912" y="3739381"/>
            <a:ext cx="8770795" cy="5518919"/>
            <a:chOff x="0" y="-57150"/>
            <a:chExt cx="2310004" cy="14535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10004" cy="1396392"/>
            </a:xfrm>
            <a:custGeom>
              <a:avLst/>
              <a:gdLst/>
              <a:ahLst/>
              <a:cxnLst/>
              <a:rect l="l" t="t" r="r" b="b"/>
              <a:pathLst>
                <a:path w="2310004" h="1396392">
                  <a:moveTo>
                    <a:pt x="17654" y="0"/>
                  </a:moveTo>
                  <a:lnTo>
                    <a:pt x="2292350" y="0"/>
                  </a:lnTo>
                  <a:cubicBezTo>
                    <a:pt x="2302100" y="0"/>
                    <a:pt x="2310004" y="7904"/>
                    <a:pt x="2310004" y="17654"/>
                  </a:cubicBezTo>
                  <a:lnTo>
                    <a:pt x="2310004" y="1378739"/>
                  </a:lnTo>
                  <a:cubicBezTo>
                    <a:pt x="2310004" y="1388489"/>
                    <a:pt x="2302100" y="1396392"/>
                    <a:pt x="2292350" y="1396392"/>
                  </a:cubicBezTo>
                  <a:lnTo>
                    <a:pt x="17654" y="1396392"/>
                  </a:lnTo>
                  <a:cubicBezTo>
                    <a:pt x="7904" y="1396392"/>
                    <a:pt x="0" y="1388489"/>
                    <a:pt x="0" y="1378739"/>
                  </a:cubicBezTo>
                  <a:lnTo>
                    <a:pt x="0" y="17654"/>
                  </a:lnTo>
                  <a:cubicBezTo>
                    <a:pt x="0" y="7904"/>
                    <a:pt x="7904" y="0"/>
                    <a:pt x="176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2310004" cy="1453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flipH="1">
            <a:off x="9144000" y="3083905"/>
            <a:ext cx="421812" cy="605735"/>
          </a:xfrm>
          <a:custGeom>
            <a:avLst/>
            <a:gdLst/>
            <a:ahLst/>
            <a:cxnLst/>
            <a:rect l="l" t="t" r="r" b="b"/>
            <a:pathLst>
              <a:path w="421812" h="605735">
                <a:moveTo>
                  <a:pt x="421812" y="0"/>
                </a:moveTo>
                <a:lnTo>
                  <a:pt x="0" y="0"/>
                </a:lnTo>
                <a:lnTo>
                  <a:pt x="0" y="605734"/>
                </a:lnTo>
                <a:lnTo>
                  <a:pt x="421812" y="605734"/>
                </a:lnTo>
                <a:lnTo>
                  <a:pt x="4218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9527420" y="2268328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7" y="0"/>
                </a:lnTo>
                <a:lnTo>
                  <a:pt x="577437" y="570089"/>
                </a:lnTo>
                <a:lnTo>
                  <a:pt x="0" y="570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6052650" y="7803356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8" y="0"/>
                </a:lnTo>
                <a:lnTo>
                  <a:pt x="577438" y="570089"/>
                </a:lnTo>
                <a:lnTo>
                  <a:pt x="0" y="570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0608383" y="823754"/>
            <a:ext cx="12527179" cy="2528287"/>
            <a:chOff x="-984750" y="-165034"/>
            <a:chExt cx="2796453" cy="565901"/>
          </a:xfrm>
        </p:grpSpPr>
        <p:sp>
          <p:nvSpPr>
            <p:cNvPr id="27" name="Freeform 27"/>
            <p:cNvSpPr/>
            <p:nvPr/>
          </p:nvSpPr>
          <p:spPr>
            <a:xfrm>
              <a:off x="-984750" y="-165034"/>
              <a:ext cx="926323" cy="565901"/>
            </a:xfrm>
            <a:custGeom>
              <a:avLst/>
              <a:gdLst/>
              <a:ahLst/>
              <a:cxnLst/>
              <a:rect l="l" t="t" r="r" b="b"/>
              <a:pathLst>
                <a:path w="1811703" h="347559">
                  <a:moveTo>
                    <a:pt x="22338" y="0"/>
                  </a:moveTo>
                  <a:lnTo>
                    <a:pt x="1789365" y="0"/>
                  </a:lnTo>
                  <a:cubicBezTo>
                    <a:pt x="1795289" y="0"/>
                    <a:pt x="1800971" y="2354"/>
                    <a:pt x="1805160" y="6543"/>
                  </a:cubicBezTo>
                  <a:cubicBezTo>
                    <a:pt x="1809349" y="10732"/>
                    <a:pt x="1811703" y="16414"/>
                    <a:pt x="1811703" y="22338"/>
                  </a:cubicBezTo>
                  <a:lnTo>
                    <a:pt x="1811703" y="325220"/>
                  </a:lnTo>
                  <a:cubicBezTo>
                    <a:pt x="1811703" y="337557"/>
                    <a:pt x="1801702" y="347559"/>
                    <a:pt x="1789365" y="347559"/>
                  </a:cubicBezTo>
                  <a:lnTo>
                    <a:pt x="22338" y="347559"/>
                  </a:lnTo>
                  <a:cubicBezTo>
                    <a:pt x="10001" y="347559"/>
                    <a:pt x="0" y="337557"/>
                    <a:pt x="0" y="325220"/>
                  </a:cubicBezTo>
                  <a:lnTo>
                    <a:pt x="0" y="22338"/>
                  </a:lnTo>
                  <a:cubicBezTo>
                    <a:pt x="0" y="10001"/>
                    <a:pt x="10001" y="0"/>
                    <a:pt x="2233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r>
                <a:rPr lang="en-US" sz="2400" dirty="0"/>
                <a:t>Input :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2400" dirty="0"/>
                <a:t>F(x) = …..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2400" dirty="0"/>
                <a:t>X </a:t>
              </a:r>
              <a:r>
                <a:rPr lang="en-US" sz="2400" dirty="0" err="1"/>
                <a:t>awal</a:t>
              </a:r>
              <a:r>
                <a:rPr lang="en-US" sz="2400" dirty="0"/>
                <a:t> = 1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2400" dirty="0"/>
                <a:t>X </a:t>
              </a:r>
              <a:r>
                <a:rPr lang="en-US" sz="2400" dirty="0" err="1"/>
                <a:t>akhir</a:t>
              </a:r>
              <a:r>
                <a:rPr lang="en-US" sz="2400" dirty="0"/>
                <a:t> = 4,2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2400" dirty="0" err="1"/>
                <a:t>Lompatan</a:t>
              </a:r>
              <a:r>
                <a:rPr lang="en-US" sz="2400" dirty="0"/>
                <a:t> = 0,4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2400" dirty="0"/>
                <a:t>Harga x </a:t>
              </a:r>
              <a:r>
                <a:rPr lang="en-US" sz="2400" dirty="0" err="1"/>
                <a:t>sebenarnya</a:t>
              </a:r>
              <a:r>
                <a:rPr lang="en-US" sz="2400" dirty="0"/>
                <a:t> =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811703" cy="4047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516277" y="1758886"/>
            <a:ext cx="3965416" cy="608450"/>
          </a:xfrm>
          <a:custGeom>
            <a:avLst/>
            <a:gdLst/>
            <a:ahLst/>
            <a:cxnLst/>
            <a:rect l="l" t="t" r="r" b="b"/>
            <a:pathLst>
              <a:path w="3965416" h="608450">
                <a:moveTo>
                  <a:pt x="0" y="0"/>
                </a:moveTo>
                <a:lnTo>
                  <a:pt x="3965416" y="0"/>
                </a:lnTo>
                <a:lnTo>
                  <a:pt x="3965416" y="608450"/>
                </a:lnTo>
                <a:lnTo>
                  <a:pt x="0" y="608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0" name="Group 30"/>
          <p:cNvGrpSpPr/>
          <p:nvPr/>
        </p:nvGrpSpPr>
        <p:grpSpPr>
          <a:xfrm>
            <a:off x="11333582" y="3083628"/>
            <a:ext cx="6112872" cy="6479472"/>
            <a:chOff x="0" y="0"/>
            <a:chExt cx="1609975" cy="170652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09975" cy="1706528"/>
            </a:xfrm>
            <a:custGeom>
              <a:avLst/>
              <a:gdLst/>
              <a:ahLst/>
              <a:cxnLst/>
              <a:rect l="l" t="t" r="r" b="b"/>
              <a:pathLst>
                <a:path w="1609975" h="1706528">
                  <a:moveTo>
                    <a:pt x="32929" y="0"/>
                  </a:moveTo>
                  <a:lnTo>
                    <a:pt x="1577046" y="0"/>
                  </a:lnTo>
                  <a:cubicBezTo>
                    <a:pt x="1595232" y="0"/>
                    <a:pt x="1609975" y="14743"/>
                    <a:pt x="1609975" y="32929"/>
                  </a:cubicBezTo>
                  <a:lnTo>
                    <a:pt x="1609975" y="1673599"/>
                  </a:lnTo>
                  <a:cubicBezTo>
                    <a:pt x="1609975" y="1691785"/>
                    <a:pt x="1595232" y="1706528"/>
                    <a:pt x="1577046" y="1706528"/>
                  </a:cubicBezTo>
                  <a:lnTo>
                    <a:pt x="32929" y="1706528"/>
                  </a:lnTo>
                  <a:cubicBezTo>
                    <a:pt x="14743" y="1706528"/>
                    <a:pt x="0" y="1691785"/>
                    <a:pt x="0" y="1673599"/>
                  </a:cubicBezTo>
                  <a:lnTo>
                    <a:pt x="0" y="32929"/>
                  </a:lnTo>
                  <a:cubicBezTo>
                    <a:pt x="0" y="14743"/>
                    <a:pt x="14743" y="0"/>
                    <a:pt x="3292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609975" cy="1763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598109" y="283071"/>
            <a:ext cx="7332385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•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dapatkan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akar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pendekatan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dari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persamaan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                                          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1816015" y="3236297"/>
            <a:ext cx="669180" cy="705074"/>
          </a:xfrm>
          <a:custGeom>
            <a:avLst/>
            <a:gdLst/>
            <a:ahLst/>
            <a:cxnLst/>
            <a:rect l="l" t="t" r="r" b="b"/>
            <a:pathLst>
              <a:path w="669180" h="705074">
                <a:moveTo>
                  <a:pt x="0" y="0"/>
                </a:moveTo>
                <a:lnTo>
                  <a:pt x="669180" y="0"/>
                </a:lnTo>
                <a:lnTo>
                  <a:pt x="669180" y="705074"/>
                </a:lnTo>
                <a:lnTo>
                  <a:pt x="0" y="705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608550" y="4065096"/>
            <a:ext cx="2387178" cy="3360719"/>
          </a:xfrm>
          <a:custGeom>
            <a:avLst/>
            <a:gdLst/>
            <a:ahLst/>
            <a:cxnLst/>
            <a:rect l="l" t="t" r="r" b="b"/>
            <a:pathLst>
              <a:path w="2387178" h="3360719">
                <a:moveTo>
                  <a:pt x="0" y="0"/>
                </a:moveTo>
                <a:lnTo>
                  <a:pt x="2387178" y="0"/>
                </a:lnTo>
                <a:lnTo>
                  <a:pt x="2387178" y="3360720"/>
                </a:lnTo>
                <a:lnTo>
                  <a:pt x="0" y="33607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3979024" y="4065096"/>
            <a:ext cx="3280276" cy="2265614"/>
          </a:xfrm>
          <a:custGeom>
            <a:avLst/>
            <a:gdLst/>
            <a:ahLst/>
            <a:cxnLst/>
            <a:rect l="l" t="t" r="r" b="b"/>
            <a:pathLst>
              <a:path w="3280276" h="2265614">
                <a:moveTo>
                  <a:pt x="0" y="0"/>
                </a:moveTo>
                <a:lnTo>
                  <a:pt x="3280276" y="0"/>
                </a:lnTo>
                <a:lnTo>
                  <a:pt x="3280276" y="2265615"/>
                </a:lnTo>
                <a:lnTo>
                  <a:pt x="0" y="2265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4055429" y="6504218"/>
            <a:ext cx="669180" cy="705074"/>
          </a:xfrm>
          <a:custGeom>
            <a:avLst/>
            <a:gdLst/>
            <a:ahLst/>
            <a:cxnLst/>
            <a:rect l="l" t="t" r="r" b="b"/>
            <a:pathLst>
              <a:path w="669180" h="705074">
                <a:moveTo>
                  <a:pt x="0" y="0"/>
                </a:moveTo>
                <a:lnTo>
                  <a:pt x="669179" y="0"/>
                </a:lnTo>
                <a:lnTo>
                  <a:pt x="669179" y="705074"/>
                </a:lnTo>
                <a:lnTo>
                  <a:pt x="0" y="705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2802139" y="7908457"/>
            <a:ext cx="3539230" cy="1025606"/>
          </a:xfrm>
          <a:custGeom>
            <a:avLst/>
            <a:gdLst/>
            <a:ahLst/>
            <a:cxnLst/>
            <a:rect l="l" t="t" r="r" b="b"/>
            <a:pathLst>
              <a:path w="3539230" h="1025606">
                <a:moveTo>
                  <a:pt x="0" y="0"/>
                </a:moveTo>
                <a:lnTo>
                  <a:pt x="3539230" y="0"/>
                </a:lnTo>
                <a:lnTo>
                  <a:pt x="3539230" y="1025605"/>
                </a:lnTo>
                <a:lnTo>
                  <a:pt x="0" y="10256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9" name="Freeform 39"/>
          <p:cNvSpPr/>
          <p:nvPr/>
        </p:nvSpPr>
        <p:spPr>
          <a:xfrm>
            <a:off x="2385710" y="7615094"/>
            <a:ext cx="7315200" cy="1102290"/>
          </a:xfrm>
          <a:custGeom>
            <a:avLst/>
            <a:gdLst/>
            <a:ahLst/>
            <a:cxnLst/>
            <a:rect l="l" t="t" r="r" b="b"/>
            <a:pathLst>
              <a:path w="7315200" h="1102290">
                <a:moveTo>
                  <a:pt x="0" y="0"/>
                </a:moveTo>
                <a:lnTo>
                  <a:pt x="7315200" y="0"/>
                </a:lnTo>
                <a:lnTo>
                  <a:pt x="7315200" y="1102291"/>
                </a:lnTo>
                <a:lnTo>
                  <a:pt x="0" y="11022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057837" y="2800317"/>
            <a:ext cx="7486088" cy="1040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24940" lvl="1" indent="-712470" algn="l">
              <a:lnSpc>
                <a:spcPts val="6930"/>
              </a:lnSpc>
              <a:buAutoNum type="arabicPeriod"/>
            </a:pPr>
            <a:r>
              <a:rPr lang="en-US" sz="660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 Metoda Grafik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55177" y="2006080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106385" y="4437438"/>
            <a:ext cx="7998472" cy="302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kasar</a:t>
            </a:r>
            <a:endParaRPr lang="en-US" sz="2400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Tidak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bisa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dihitung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Ea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(error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aproximate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),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hanya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bisa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dihitung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Et (error true/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sebenarnya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Pertama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buat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tabel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untuk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menggambar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grafik</a:t>
            </a:r>
            <a:endParaRPr lang="en-US" sz="2400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Dari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grafik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dapat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dilihat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Dimana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fungsi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f(x) </a:t>
            </a:r>
            <a:r>
              <a:rPr lang="en-US" sz="2400" dirty="0" err="1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memotong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sumbu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x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Titik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inilah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yang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menyatakan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harga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x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untuk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f(x)=0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934257" y="3315655"/>
            <a:ext cx="432697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67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01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81971" y="3352041"/>
            <a:ext cx="335043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Pertama</a:t>
            </a:r>
            <a:r>
              <a:rPr lang="en-US" sz="2400" dirty="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buat</a:t>
            </a:r>
            <a:r>
              <a:rPr lang="en-US" sz="2400" dirty="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dulu</a:t>
            </a:r>
            <a:r>
              <a:rPr lang="en-US" sz="2400" dirty="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tabel</a:t>
            </a:r>
            <a:endParaRPr lang="en-US" sz="2400" dirty="0">
              <a:solidFill>
                <a:srgbClr val="000000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4173670" y="6583576"/>
            <a:ext cx="432697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67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900434" y="6553096"/>
            <a:ext cx="2304432" cy="8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•Diketahui harga sebenarnya x = 2,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750997" y="7492491"/>
            <a:ext cx="5304235" cy="8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•Sehingga kita dapat menghitung Et, yaitu 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750997" y="9034225"/>
            <a:ext cx="5304235" cy="31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Et = kesalahan di acu terhadap harga sebenarnya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7912" y="1931228"/>
            <a:ext cx="4265778" cy="622144"/>
            <a:chOff x="0" y="0"/>
            <a:chExt cx="1123497" cy="163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95967" y="5721408"/>
            <a:ext cx="19479934" cy="5125029"/>
            <a:chOff x="0" y="0"/>
            <a:chExt cx="5130518" cy="1349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30517" cy="1349802"/>
            </a:xfrm>
            <a:custGeom>
              <a:avLst/>
              <a:gdLst/>
              <a:ahLst/>
              <a:cxnLst/>
              <a:rect l="l" t="t" r="r" b="b"/>
              <a:pathLst>
                <a:path w="5130517" h="1349802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337879"/>
                  </a:lnTo>
                  <a:cubicBezTo>
                    <a:pt x="5130517" y="1341041"/>
                    <a:pt x="5129261" y="1344074"/>
                    <a:pt x="5127025" y="1346310"/>
                  </a:cubicBezTo>
                  <a:cubicBezTo>
                    <a:pt x="5124790" y="1348546"/>
                    <a:pt x="5121757" y="1349802"/>
                    <a:pt x="5118595" y="1349802"/>
                  </a:cubicBezTo>
                  <a:lnTo>
                    <a:pt x="11923" y="1349802"/>
                  </a:lnTo>
                  <a:cubicBezTo>
                    <a:pt x="8761" y="1349802"/>
                    <a:pt x="5728" y="1348546"/>
                    <a:pt x="3492" y="1346310"/>
                  </a:cubicBezTo>
                  <a:cubicBezTo>
                    <a:pt x="1256" y="1344074"/>
                    <a:pt x="0" y="1341041"/>
                    <a:pt x="0" y="1337879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130518" cy="140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55177" y="1860448"/>
            <a:ext cx="141561" cy="1415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70749" y="1860448"/>
            <a:ext cx="141561" cy="1415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69292" y="1860448"/>
            <a:ext cx="141561" cy="1415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4865" y="1860448"/>
            <a:ext cx="141561" cy="14156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57912" y="3956372"/>
            <a:ext cx="8770795" cy="5301928"/>
            <a:chOff x="0" y="0"/>
            <a:chExt cx="2310004" cy="13963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10004" cy="1396392"/>
            </a:xfrm>
            <a:custGeom>
              <a:avLst/>
              <a:gdLst/>
              <a:ahLst/>
              <a:cxnLst/>
              <a:rect l="l" t="t" r="r" b="b"/>
              <a:pathLst>
                <a:path w="2310004" h="1396392">
                  <a:moveTo>
                    <a:pt x="17654" y="0"/>
                  </a:moveTo>
                  <a:lnTo>
                    <a:pt x="2292350" y="0"/>
                  </a:lnTo>
                  <a:cubicBezTo>
                    <a:pt x="2302100" y="0"/>
                    <a:pt x="2310004" y="7904"/>
                    <a:pt x="2310004" y="17654"/>
                  </a:cubicBezTo>
                  <a:lnTo>
                    <a:pt x="2310004" y="1378739"/>
                  </a:lnTo>
                  <a:cubicBezTo>
                    <a:pt x="2310004" y="1388489"/>
                    <a:pt x="2302100" y="1396392"/>
                    <a:pt x="2292350" y="1396392"/>
                  </a:cubicBezTo>
                  <a:lnTo>
                    <a:pt x="17654" y="1396392"/>
                  </a:lnTo>
                  <a:cubicBezTo>
                    <a:pt x="7904" y="1396392"/>
                    <a:pt x="0" y="1388489"/>
                    <a:pt x="0" y="1378739"/>
                  </a:cubicBezTo>
                  <a:lnTo>
                    <a:pt x="0" y="17654"/>
                  </a:lnTo>
                  <a:cubicBezTo>
                    <a:pt x="0" y="7904"/>
                    <a:pt x="7904" y="0"/>
                    <a:pt x="176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2310004" cy="1453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flipH="1">
            <a:off x="9144000" y="3083905"/>
            <a:ext cx="421812" cy="605735"/>
          </a:xfrm>
          <a:custGeom>
            <a:avLst/>
            <a:gdLst/>
            <a:ahLst/>
            <a:cxnLst/>
            <a:rect l="l" t="t" r="r" b="b"/>
            <a:pathLst>
              <a:path w="421812" h="605735">
                <a:moveTo>
                  <a:pt x="421812" y="0"/>
                </a:moveTo>
                <a:lnTo>
                  <a:pt x="0" y="0"/>
                </a:lnTo>
                <a:lnTo>
                  <a:pt x="0" y="605734"/>
                </a:lnTo>
                <a:lnTo>
                  <a:pt x="421812" y="605734"/>
                </a:lnTo>
                <a:lnTo>
                  <a:pt x="4218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9527420" y="2268328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7" y="0"/>
                </a:lnTo>
                <a:lnTo>
                  <a:pt x="577437" y="570089"/>
                </a:lnTo>
                <a:lnTo>
                  <a:pt x="0" y="570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6052650" y="7201400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8" y="0"/>
                </a:lnTo>
                <a:lnTo>
                  <a:pt x="577438" y="570089"/>
                </a:lnTo>
                <a:lnTo>
                  <a:pt x="0" y="570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0577342" y="734036"/>
            <a:ext cx="6931490" cy="154839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endParaRPr/>
          </a:p>
        </p:txBody>
      </p:sp>
      <p:grpSp>
        <p:nvGrpSpPr>
          <p:cNvPr id="29" name="Group 29"/>
          <p:cNvGrpSpPr/>
          <p:nvPr/>
        </p:nvGrpSpPr>
        <p:grpSpPr>
          <a:xfrm>
            <a:off x="11333582" y="2481672"/>
            <a:ext cx="6112872" cy="6479472"/>
            <a:chOff x="0" y="0"/>
            <a:chExt cx="1609975" cy="17065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09975" cy="1706528"/>
            </a:xfrm>
            <a:custGeom>
              <a:avLst/>
              <a:gdLst/>
              <a:ahLst/>
              <a:cxnLst/>
              <a:rect l="l" t="t" r="r" b="b"/>
              <a:pathLst>
                <a:path w="1609975" h="1706528">
                  <a:moveTo>
                    <a:pt x="32929" y="0"/>
                  </a:moveTo>
                  <a:lnTo>
                    <a:pt x="1577046" y="0"/>
                  </a:lnTo>
                  <a:cubicBezTo>
                    <a:pt x="1595232" y="0"/>
                    <a:pt x="1609975" y="14743"/>
                    <a:pt x="1609975" y="32929"/>
                  </a:cubicBezTo>
                  <a:lnTo>
                    <a:pt x="1609975" y="1673599"/>
                  </a:lnTo>
                  <a:cubicBezTo>
                    <a:pt x="1609975" y="1691785"/>
                    <a:pt x="1595232" y="1706528"/>
                    <a:pt x="1577046" y="1706528"/>
                  </a:cubicBezTo>
                  <a:lnTo>
                    <a:pt x="32929" y="1706528"/>
                  </a:lnTo>
                  <a:cubicBezTo>
                    <a:pt x="14743" y="1706528"/>
                    <a:pt x="0" y="1691785"/>
                    <a:pt x="0" y="1673599"/>
                  </a:cubicBezTo>
                  <a:lnTo>
                    <a:pt x="0" y="32929"/>
                  </a:lnTo>
                  <a:cubicBezTo>
                    <a:pt x="0" y="14743"/>
                    <a:pt x="14743" y="0"/>
                    <a:pt x="3292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609975" cy="1763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2206428" y="3164260"/>
            <a:ext cx="2196687" cy="2816587"/>
          </a:xfrm>
          <a:custGeom>
            <a:avLst/>
            <a:gdLst/>
            <a:ahLst/>
            <a:cxnLst/>
            <a:rect l="l" t="t" r="r" b="b"/>
            <a:pathLst>
              <a:path w="2196687" h="2816587">
                <a:moveTo>
                  <a:pt x="0" y="0"/>
                </a:moveTo>
                <a:lnTo>
                  <a:pt x="2196687" y="0"/>
                </a:lnTo>
                <a:lnTo>
                  <a:pt x="2196687" y="2816587"/>
                </a:lnTo>
                <a:lnTo>
                  <a:pt x="0" y="28165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225" b="-20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0084639" y="365559"/>
            <a:ext cx="8455502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•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dapatkan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akar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pendekatan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dari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3300" dirty="0" err="1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persamaan</a:t>
            </a:r>
            <a:r>
              <a:rPr lang="en-US" sz="3300" dirty="0">
                <a:solidFill>
                  <a:srgbClr val="EA6564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                             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1816015" y="2634341"/>
            <a:ext cx="669180" cy="705074"/>
          </a:xfrm>
          <a:custGeom>
            <a:avLst/>
            <a:gdLst/>
            <a:ahLst/>
            <a:cxnLst/>
            <a:rect l="l" t="t" r="r" b="b"/>
            <a:pathLst>
              <a:path w="669180" h="705074">
                <a:moveTo>
                  <a:pt x="0" y="0"/>
                </a:moveTo>
                <a:lnTo>
                  <a:pt x="669180" y="0"/>
                </a:lnTo>
                <a:lnTo>
                  <a:pt x="669180" y="705074"/>
                </a:lnTo>
                <a:lnTo>
                  <a:pt x="0" y="705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816015" y="6008290"/>
            <a:ext cx="669180" cy="705074"/>
          </a:xfrm>
          <a:custGeom>
            <a:avLst/>
            <a:gdLst/>
            <a:ahLst/>
            <a:cxnLst/>
            <a:rect l="l" t="t" r="r" b="b"/>
            <a:pathLst>
              <a:path w="669180" h="705074">
                <a:moveTo>
                  <a:pt x="0" y="0"/>
                </a:moveTo>
                <a:lnTo>
                  <a:pt x="669180" y="0"/>
                </a:lnTo>
                <a:lnTo>
                  <a:pt x="669180" y="705074"/>
                </a:lnTo>
                <a:lnTo>
                  <a:pt x="0" y="705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2622804" y="1241787"/>
            <a:ext cx="2578285" cy="488033"/>
          </a:xfrm>
          <a:custGeom>
            <a:avLst/>
            <a:gdLst/>
            <a:ahLst/>
            <a:cxnLst/>
            <a:rect l="l" t="t" r="r" b="b"/>
            <a:pathLst>
              <a:path w="2578285" h="488033">
                <a:moveTo>
                  <a:pt x="0" y="0"/>
                </a:moveTo>
                <a:lnTo>
                  <a:pt x="2578285" y="0"/>
                </a:lnTo>
                <a:lnTo>
                  <a:pt x="2578285" y="488032"/>
                </a:lnTo>
                <a:lnTo>
                  <a:pt x="0" y="4880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5617865" y="3191703"/>
            <a:ext cx="1689733" cy="371625"/>
          </a:xfrm>
          <a:custGeom>
            <a:avLst/>
            <a:gdLst/>
            <a:ahLst/>
            <a:cxnLst/>
            <a:rect l="l" t="t" r="r" b="b"/>
            <a:pathLst>
              <a:path w="1689733" h="371625">
                <a:moveTo>
                  <a:pt x="0" y="0"/>
                </a:moveTo>
                <a:lnTo>
                  <a:pt x="1689734" y="0"/>
                </a:lnTo>
                <a:lnTo>
                  <a:pt x="1689734" y="371625"/>
                </a:lnTo>
                <a:lnTo>
                  <a:pt x="0" y="371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4571754" y="3620478"/>
            <a:ext cx="2483479" cy="2181748"/>
          </a:xfrm>
          <a:custGeom>
            <a:avLst/>
            <a:gdLst/>
            <a:ahLst/>
            <a:cxnLst/>
            <a:rect l="l" t="t" r="r" b="b"/>
            <a:pathLst>
              <a:path w="2483479" h="2181748">
                <a:moveTo>
                  <a:pt x="0" y="0"/>
                </a:moveTo>
                <a:lnTo>
                  <a:pt x="2483479" y="0"/>
                </a:lnTo>
                <a:lnTo>
                  <a:pt x="2483479" y="2181747"/>
                </a:lnTo>
                <a:lnTo>
                  <a:pt x="0" y="21817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2366953" y="7447622"/>
            <a:ext cx="4689772" cy="996577"/>
          </a:xfrm>
          <a:custGeom>
            <a:avLst/>
            <a:gdLst/>
            <a:ahLst/>
            <a:cxnLst/>
            <a:rect l="l" t="t" r="r" b="b"/>
            <a:pathLst>
              <a:path w="4689772" h="996577">
                <a:moveTo>
                  <a:pt x="0" y="0"/>
                </a:moveTo>
                <a:lnTo>
                  <a:pt x="4689772" y="0"/>
                </a:lnTo>
                <a:lnTo>
                  <a:pt x="4689772" y="996577"/>
                </a:lnTo>
                <a:lnTo>
                  <a:pt x="0" y="9965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057837" y="2800317"/>
            <a:ext cx="7486088" cy="1040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24940" lvl="1" indent="-712470" algn="l">
              <a:lnSpc>
                <a:spcPts val="6930"/>
              </a:lnSpc>
              <a:buAutoNum type="arabicPeriod"/>
            </a:pPr>
            <a:r>
              <a:rPr lang="en-US" sz="660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 Metoda Grafik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55177" y="2006080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106385" y="4437438"/>
            <a:ext cx="7998472" cy="292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 kasar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Tidak bisa dihitung Ea (error aproximate), hanya bisa dihitung Et (error true/sebenarnya)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Pertama buat tabel untuk menggambar grafik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Dari grafikdapatdilihat, dimanafungsi f(x) </a:t>
            </a:r>
            <a:r>
              <a:rPr lang="en-US" sz="2400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memotong</a:t>
            </a: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sumbu x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Titik inilah yang menyatakan harga x untuk </a:t>
            </a:r>
            <a:r>
              <a:rPr lang="en-US" sz="2400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f(x)=0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934257" y="2713699"/>
            <a:ext cx="432697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67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01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622804" y="2721510"/>
            <a:ext cx="4722895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Pertama, buat dulu tabel, rumus excel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934257" y="6087648"/>
            <a:ext cx="432697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67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622804" y="6087648"/>
            <a:ext cx="4823651" cy="8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•Diketahui harga sebenarnya x =  0,56714329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750997" y="7003741"/>
            <a:ext cx="5304235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•Sehingga kita dapat menghitung Et, yaitu :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750997" y="8432269"/>
            <a:ext cx="5304235" cy="31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Et = kesalahan di acu terhadap harga sebenarnya</a:t>
            </a:r>
          </a:p>
        </p:txBody>
      </p:sp>
      <p:sp>
        <p:nvSpPr>
          <p:cNvPr id="49" name="Freeform 49"/>
          <p:cNvSpPr/>
          <p:nvPr/>
        </p:nvSpPr>
        <p:spPr>
          <a:xfrm>
            <a:off x="2385710" y="7732778"/>
            <a:ext cx="7315200" cy="1102290"/>
          </a:xfrm>
          <a:custGeom>
            <a:avLst/>
            <a:gdLst/>
            <a:ahLst/>
            <a:cxnLst/>
            <a:rect l="l" t="t" r="r" b="b"/>
            <a:pathLst>
              <a:path w="7315200" h="1102290">
                <a:moveTo>
                  <a:pt x="0" y="0"/>
                </a:moveTo>
                <a:lnTo>
                  <a:pt x="7315200" y="0"/>
                </a:lnTo>
                <a:lnTo>
                  <a:pt x="7315200" y="1102290"/>
                </a:lnTo>
                <a:lnTo>
                  <a:pt x="0" y="11022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7912" y="1931228"/>
            <a:ext cx="4265778" cy="622144"/>
            <a:chOff x="0" y="0"/>
            <a:chExt cx="1123497" cy="163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95967" y="5721408"/>
            <a:ext cx="19479934" cy="5125029"/>
            <a:chOff x="0" y="0"/>
            <a:chExt cx="5130518" cy="1349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30517" cy="1349802"/>
            </a:xfrm>
            <a:custGeom>
              <a:avLst/>
              <a:gdLst/>
              <a:ahLst/>
              <a:cxnLst/>
              <a:rect l="l" t="t" r="r" b="b"/>
              <a:pathLst>
                <a:path w="5130517" h="1349802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337879"/>
                  </a:lnTo>
                  <a:cubicBezTo>
                    <a:pt x="5130517" y="1341041"/>
                    <a:pt x="5129261" y="1344074"/>
                    <a:pt x="5127025" y="1346310"/>
                  </a:cubicBezTo>
                  <a:cubicBezTo>
                    <a:pt x="5124790" y="1348546"/>
                    <a:pt x="5121757" y="1349802"/>
                    <a:pt x="5118595" y="1349802"/>
                  </a:cubicBezTo>
                  <a:lnTo>
                    <a:pt x="11923" y="1349802"/>
                  </a:lnTo>
                  <a:cubicBezTo>
                    <a:pt x="8761" y="1349802"/>
                    <a:pt x="5728" y="1348546"/>
                    <a:pt x="3492" y="1346310"/>
                  </a:cubicBezTo>
                  <a:cubicBezTo>
                    <a:pt x="1256" y="1344074"/>
                    <a:pt x="0" y="1341041"/>
                    <a:pt x="0" y="1337879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130518" cy="140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55177" y="1860448"/>
            <a:ext cx="141561" cy="1415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70749" y="1860448"/>
            <a:ext cx="141561" cy="1415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69292" y="1860448"/>
            <a:ext cx="141561" cy="1415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4865" y="1860448"/>
            <a:ext cx="141561" cy="14156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57912" y="3956372"/>
            <a:ext cx="7084546" cy="5301928"/>
            <a:chOff x="0" y="0"/>
            <a:chExt cx="1865889" cy="13963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65889" cy="1396392"/>
            </a:xfrm>
            <a:custGeom>
              <a:avLst/>
              <a:gdLst/>
              <a:ahLst/>
              <a:cxnLst/>
              <a:rect l="l" t="t" r="r" b="b"/>
              <a:pathLst>
                <a:path w="1865889" h="1396392">
                  <a:moveTo>
                    <a:pt x="21856" y="0"/>
                  </a:moveTo>
                  <a:lnTo>
                    <a:pt x="1844033" y="0"/>
                  </a:lnTo>
                  <a:cubicBezTo>
                    <a:pt x="1849829" y="0"/>
                    <a:pt x="1855388" y="2303"/>
                    <a:pt x="1859487" y="6401"/>
                  </a:cubicBezTo>
                  <a:cubicBezTo>
                    <a:pt x="1863586" y="10500"/>
                    <a:pt x="1865889" y="16059"/>
                    <a:pt x="1865889" y="21856"/>
                  </a:cubicBezTo>
                  <a:lnTo>
                    <a:pt x="1865889" y="1374537"/>
                  </a:lnTo>
                  <a:cubicBezTo>
                    <a:pt x="1865889" y="1380333"/>
                    <a:pt x="1863586" y="1385892"/>
                    <a:pt x="1859487" y="1389991"/>
                  </a:cubicBezTo>
                  <a:cubicBezTo>
                    <a:pt x="1855388" y="1394090"/>
                    <a:pt x="1849829" y="1396392"/>
                    <a:pt x="1844033" y="1396392"/>
                  </a:cubicBezTo>
                  <a:lnTo>
                    <a:pt x="21856" y="1396392"/>
                  </a:lnTo>
                  <a:cubicBezTo>
                    <a:pt x="9785" y="1396392"/>
                    <a:pt x="0" y="1386607"/>
                    <a:pt x="0" y="1374537"/>
                  </a:cubicBezTo>
                  <a:lnTo>
                    <a:pt x="0" y="21856"/>
                  </a:lnTo>
                  <a:cubicBezTo>
                    <a:pt x="0" y="16059"/>
                    <a:pt x="2303" y="10500"/>
                    <a:pt x="6401" y="6401"/>
                  </a:cubicBezTo>
                  <a:cubicBezTo>
                    <a:pt x="10500" y="2303"/>
                    <a:pt x="16059" y="0"/>
                    <a:pt x="2185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865889" cy="1453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34266" y="2800317"/>
            <a:ext cx="8469582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60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2. Metode Tabulasi</a:t>
            </a:r>
          </a:p>
        </p:txBody>
      </p:sp>
      <p:sp>
        <p:nvSpPr>
          <p:cNvPr id="24" name="Freeform 24"/>
          <p:cNvSpPr/>
          <p:nvPr/>
        </p:nvSpPr>
        <p:spPr>
          <a:xfrm flipH="1">
            <a:off x="9144000" y="3083905"/>
            <a:ext cx="421812" cy="605735"/>
          </a:xfrm>
          <a:custGeom>
            <a:avLst/>
            <a:gdLst/>
            <a:ahLst/>
            <a:cxnLst/>
            <a:rect l="l" t="t" r="r" b="b"/>
            <a:pathLst>
              <a:path w="421812" h="605735">
                <a:moveTo>
                  <a:pt x="421812" y="0"/>
                </a:moveTo>
                <a:lnTo>
                  <a:pt x="0" y="0"/>
                </a:lnTo>
                <a:lnTo>
                  <a:pt x="0" y="605734"/>
                </a:lnTo>
                <a:lnTo>
                  <a:pt x="421812" y="605734"/>
                </a:lnTo>
                <a:lnTo>
                  <a:pt x="4218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6052650" y="7201400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8" y="0"/>
                </a:lnTo>
                <a:lnTo>
                  <a:pt x="577438" y="570089"/>
                </a:lnTo>
                <a:lnTo>
                  <a:pt x="0" y="570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9816139" y="1860448"/>
            <a:ext cx="7084546" cy="7397852"/>
            <a:chOff x="0" y="0"/>
            <a:chExt cx="1865889" cy="194840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65889" cy="1948405"/>
            </a:xfrm>
            <a:custGeom>
              <a:avLst/>
              <a:gdLst/>
              <a:ahLst/>
              <a:cxnLst/>
              <a:rect l="l" t="t" r="r" b="b"/>
              <a:pathLst>
                <a:path w="1865889" h="1948405">
                  <a:moveTo>
                    <a:pt x="21856" y="0"/>
                  </a:moveTo>
                  <a:lnTo>
                    <a:pt x="1844033" y="0"/>
                  </a:lnTo>
                  <a:cubicBezTo>
                    <a:pt x="1849829" y="0"/>
                    <a:pt x="1855388" y="2303"/>
                    <a:pt x="1859487" y="6401"/>
                  </a:cubicBezTo>
                  <a:cubicBezTo>
                    <a:pt x="1863586" y="10500"/>
                    <a:pt x="1865889" y="16059"/>
                    <a:pt x="1865889" y="21856"/>
                  </a:cubicBezTo>
                  <a:lnTo>
                    <a:pt x="1865889" y="1926550"/>
                  </a:lnTo>
                  <a:cubicBezTo>
                    <a:pt x="1865889" y="1932346"/>
                    <a:pt x="1863586" y="1937905"/>
                    <a:pt x="1859487" y="1942004"/>
                  </a:cubicBezTo>
                  <a:cubicBezTo>
                    <a:pt x="1855388" y="1946103"/>
                    <a:pt x="1849829" y="1948405"/>
                    <a:pt x="1844033" y="1948405"/>
                  </a:cubicBezTo>
                  <a:lnTo>
                    <a:pt x="21856" y="1948405"/>
                  </a:lnTo>
                  <a:cubicBezTo>
                    <a:pt x="9785" y="1948405"/>
                    <a:pt x="0" y="1938620"/>
                    <a:pt x="0" y="1926550"/>
                  </a:cubicBezTo>
                  <a:lnTo>
                    <a:pt x="0" y="21856"/>
                  </a:lnTo>
                  <a:cubicBezTo>
                    <a:pt x="0" y="16059"/>
                    <a:pt x="2303" y="10500"/>
                    <a:pt x="6401" y="6401"/>
                  </a:cubicBezTo>
                  <a:cubicBezTo>
                    <a:pt x="10500" y="2303"/>
                    <a:pt x="16059" y="0"/>
                    <a:pt x="2185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865889" cy="2005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9527420" y="2268328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7" y="0"/>
                </a:lnTo>
                <a:lnTo>
                  <a:pt x="577437" y="570089"/>
                </a:lnTo>
                <a:lnTo>
                  <a:pt x="0" y="570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0380873" y="2518834"/>
            <a:ext cx="2977538" cy="4640772"/>
          </a:xfrm>
          <a:custGeom>
            <a:avLst/>
            <a:gdLst/>
            <a:ahLst/>
            <a:cxnLst/>
            <a:rect l="l" t="t" r="r" b="b"/>
            <a:pathLst>
              <a:path w="2977538" h="4640772">
                <a:moveTo>
                  <a:pt x="0" y="0"/>
                </a:moveTo>
                <a:lnTo>
                  <a:pt x="2977538" y="0"/>
                </a:lnTo>
                <a:lnTo>
                  <a:pt x="2977538" y="4640773"/>
                </a:lnTo>
                <a:lnTo>
                  <a:pt x="0" y="4640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3515531" y="2518834"/>
            <a:ext cx="2825838" cy="6178527"/>
          </a:xfrm>
          <a:custGeom>
            <a:avLst/>
            <a:gdLst/>
            <a:ahLst/>
            <a:cxnLst/>
            <a:rect l="l" t="t" r="r" b="b"/>
            <a:pathLst>
              <a:path w="2825838" h="6178527">
                <a:moveTo>
                  <a:pt x="0" y="0"/>
                </a:moveTo>
                <a:lnTo>
                  <a:pt x="2825838" y="0"/>
                </a:lnTo>
                <a:lnTo>
                  <a:pt x="2825838" y="6178527"/>
                </a:lnTo>
                <a:lnTo>
                  <a:pt x="0" y="6178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2087213" y="8180037"/>
            <a:ext cx="3676997" cy="411024"/>
          </a:xfrm>
          <a:custGeom>
            <a:avLst/>
            <a:gdLst/>
            <a:ahLst/>
            <a:cxnLst/>
            <a:rect l="l" t="t" r="r" b="b"/>
            <a:pathLst>
              <a:path w="3676997" h="411024">
                <a:moveTo>
                  <a:pt x="0" y="0"/>
                </a:moveTo>
                <a:lnTo>
                  <a:pt x="3676997" y="0"/>
                </a:lnTo>
                <a:lnTo>
                  <a:pt x="3676997" y="411024"/>
                </a:lnTo>
                <a:lnTo>
                  <a:pt x="0" y="4110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955177" y="2006080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44485" y="4259547"/>
            <a:ext cx="6187600" cy="2091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Metode Tabulasi ini sebenarnya merupakan perluasan dari metode Grafik. Karena Metode Grafik hanya memberikan pendekatan kasar, maka hasil lebih presisi dapat diperoleh melalui metode Tabulasi ini.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44485" y="6713187"/>
            <a:ext cx="6025045" cy="1790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570" dirty="0" err="1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Contoh</a:t>
            </a:r>
            <a:r>
              <a:rPr lang="en-US" sz="2570" dirty="0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 1 : </a:t>
            </a:r>
          </a:p>
          <a:p>
            <a:pPr algn="l">
              <a:lnSpc>
                <a:spcPts val="3598"/>
              </a:lnSpc>
            </a:pPr>
            <a:r>
              <a:rPr lang="en-US" sz="257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Dapatkan</a:t>
            </a:r>
            <a:r>
              <a:rPr lang="en-US" sz="257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57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akar</a:t>
            </a:r>
            <a:r>
              <a:rPr lang="en-US" sz="257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57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pendekatan</a:t>
            </a:r>
            <a:r>
              <a:rPr lang="en-US" sz="257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57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dari</a:t>
            </a:r>
            <a:r>
              <a:rPr lang="en-US" sz="257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57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persamaan</a:t>
            </a:r>
            <a:r>
              <a:rPr lang="en-US" sz="257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57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dibawah</a:t>
            </a:r>
            <a:r>
              <a:rPr lang="en-US" sz="257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57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ini</a:t>
            </a:r>
            <a:endParaRPr lang="en-US" sz="2570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598"/>
              </a:lnSpc>
            </a:pPr>
            <a:endParaRPr lang="en-US" sz="2570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6504" y="893770"/>
            <a:ext cx="11274991" cy="93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Tabulasi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132541"/>
            <a:ext cx="15973383" cy="7125759"/>
            <a:chOff x="0" y="0"/>
            <a:chExt cx="4175008" cy="1862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75008" cy="1862480"/>
            </a:xfrm>
            <a:custGeom>
              <a:avLst/>
              <a:gdLst/>
              <a:ahLst/>
              <a:cxnLst/>
              <a:rect l="l" t="t" r="r" b="b"/>
              <a:pathLst>
                <a:path w="4175008" h="1862480">
                  <a:moveTo>
                    <a:pt x="9694" y="0"/>
                  </a:moveTo>
                  <a:lnTo>
                    <a:pt x="4165314" y="0"/>
                  </a:lnTo>
                  <a:cubicBezTo>
                    <a:pt x="4170668" y="0"/>
                    <a:pt x="4175008" y="4340"/>
                    <a:pt x="4175008" y="9694"/>
                  </a:cubicBezTo>
                  <a:lnTo>
                    <a:pt x="4175008" y="1852786"/>
                  </a:lnTo>
                  <a:cubicBezTo>
                    <a:pt x="4175008" y="1855357"/>
                    <a:pt x="4173986" y="1857822"/>
                    <a:pt x="4172169" y="1859640"/>
                  </a:cubicBezTo>
                  <a:cubicBezTo>
                    <a:pt x="4170350" y="1861458"/>
                    <a:pt x="4167885" y="1862480"/>
                    <a:pt x="4165314" y="1862480"/>
                  </a:cubicBezTo>
                  <a:lnTo>
                    <a:pt x="9694" y="1862480"/>
                  </a:lnTo>
                  <a:cubicBezTo>
                    <a:pt x="7123" y="1862480"/>
                    <a:pt x="4657" y="1861458"/>
                    <a:pt x="2839" y="1859640"/>
                  </a:cubicBezTo>
                  <a:cubicBezTo>
                    <a:pt x="1021" y="1857822"/>
                    <a:pt x="0" y="1855357"/>
                    <a:pt x="0" y="1852786"/>
                  </a:cubicBezTo>
                  <a:lnTo>
                    <a:pt x="0" y="9694"/>
                  </a:lnTo>
                  <a:cubicBezTo>
                    <a:pt x="0" y="4340"/>
                    <a:pt x="4340" y="0"/>
                    <a:pt x="969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175008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2460606" y="1099938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268099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629193" y="3011343"/>
            <a:ext cx="1963554" cy="388620"/>
          </a:xfrm>
          <a:custGeom>
            <a:avLst/>
            <a:gdLst/>
            <a:ahLst/>
            <a:cxnLst/>
            <a:rect l="l" t="t" r="r" b="b"/>
            <a:pathLst>
              <a:path w="1963554" h="388620">
                <a:moveTo>
                  <a:pt x="0" y="0"/>
                </a:moveTo>
                <a:lnTo>
                  <a:pt x="1963554" y="0"/>
                </a:lnTo>
                <a:lnTo>
                  <a:pt x="1963554" y="388620"/>
                </a:lnTo>
                <a:lnTo>
                  <a:pt x="0" y="388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701041" y="3551696"/>
            <a:ext cx="12885918" cy="5412086"/>
          </a:xfrm>
          <a:custGeom>
            <a:avLst/>
            <a:gdLst/>
            <a:ahLst/>
            <a:cxnLst/>
            <a:rect l="l" t="t" r="r" b="b"/>
            <a:pathLst>
              <a:path w="12885918" h="5412086">
                <a:moveTo>
                  <a:pt x="0" y="0"/>
                </a:moveTo>
                <a:lnTo>
                  <a:pt x="12885918" y="0"/>
                </a:lnTo>
                <a:lnTo>
                  <a:pt x="12885918" y="5412086"/>
                </a:lnTo>
                <a:lnTo>
                  <a:pt x="0" y="54120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499564" y="2565573"/>
            <a:ext cx="14644218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Contoh 2 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Dapatkan akar pendeketan dari persamaan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6504" y="893770"/>
            <a:ext cx="11274991" cy="93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Tabulasi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132541"/>
            <a:ext cx="15973383" cy="7125759"/>
            <a:chOff x="0" y="0"/>
            <a:chExt cx="4175008" cy="1862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75008" cy="1862480"/>
            </a:xfrm>
            <a:custGeom>
              <a:avLst/>
              <a:gdLst/>
              <a:ahLst/>
              <a:cxnLst/>
              <a:rect l="l" t="t" r="r" b="b"/>
              <a:pathLst>
                <a:path w="4175008" h="1862480">
                  <a:moveTo>
                    <a:pt x="9694" y="0"/>
                  </a:moveTo>
                  <a:lnTo>
                    <a:pt x="4165314" y="0"/>
                  </a:lnTo>
                  <a:cubicBezTo>
                    <a:pt x="4170668" y="0"/>
                    <a:pt x="4175008" y="4340"/>
                    <a:pt x="4175008" y="9694"/>
                  </a:cubicBezTo>
                  <a:lnTo>
                    <a:pt x="4175008" y="1852786"/>
                  </a:lnTo>
                  <a:cubicBezTo>
                    <a:pt x="4175008" y="1855357"/>
                    <a:pt x="4173986" y="1857822"/>
                    <a:pt x="4172169" y="1859640"/>
                  </a:cubicBezTo>
                  <a:cubicBezTo>
                    <a:pt x="4170350" y="1861458"/>
                    <a:pt x="4167885" y="1862480"/>
                    <a:pt x="4165314" y="1862480"/>
                  </a:cubicBezTo>
                  <a:lnTo>
                    <a:pt x="9694" y="1862480"/>
                  </a:lnTo>
                  <a:cubicBezTo>
                    <a:pt x="7123" y="1862480"/>
                    <a:pt x="4657" y="1861458"/>
                    <a:pt x="2839" y="1859640"/>
                  </a:cubicBezTo>
                  <a:cubicBezTo>
                    <a:pt x="1021" y="1857822"/>
                    <a:pt x="0" y="1855357"/>
                    <a:pt x="0" y="1852786"/>
                  </a:cubicBezTo>
                  <a:lnTo>
                    <a:pt x="0" y="9694"/>
                  </a:lnTo>
                  <a:cubicBezTo>
                    <a:pt x="0" y="4340"/>
                    <a:pt x="4340" y="0"/>
                    <a:pt x="969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175008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2460606" y="1099938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268099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357865" y="5552675"/>
            <a:ext cx="11160236" cy="2288144"/>
          </a:xfrm>
          <a:custGeom>
            <a:avLst/>
            <a:gdLst/>
            <a:ahLst/>
            <a:cxnLst/>
            <a:rect l="l" t="t" r="r" b="b"/>
            <a:pathLst>
              <a:path w="11160236" h="2288144">
                <a:moveTo>
                  <a:pt x="0" y="0"/>
                </a:moveTo>
                <a:lnTo>
                  <a:pt x="11160236" y="0"/>
                </a:lnTo>
                <a:lnTo>
                  <a:pt x="11160236" y="2288144"/>
                </a:lnTo>
                <a:lnTo>
                  <a:pt x="0" y="2288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821891" y="2619185"/>
            <a:ext cx="14644218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Diketahui harga sebenarnya</a:t>
            </a:r>
            <a:r>
              <a:rPr lang="en-US" sz="2699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 x = 0,56714329</a:t>
            </a:r>
          </a:p>
          <a:p>
            <a:pPr marL="582928" lvl="1" indent="-291464" algn="l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Sehingga kita dapat menghitung</a:t>
            </a:r>
            <a:r>
              <a:rPr lang="en-US" sz="2699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 Et</a:t>
            </a:r>
            <a:r>
              <a:rPr lang="en-US" sz="26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, yaitu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57865" y="4872990"/>
            <a:ext cx="14644218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Et = kesalahan di acu terhadap harga sebenarnya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7912" y="1549376"/>
            <a:ext cx="4265778" cy="622144"/>
            <a:chOff x="0" y="0"/>
            <a:chExt cx="1123497" cy="163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95967" y="5721408"/>
            <a:ext cx="19479934" cy="5125029"/>
            <a:chOff x="0" y="0"/>
            <a:chExt cx="5130518" cy="1349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30517" cy="1349802"/>
            </a:xfrm>
            <a:custGeom>
              <a:avLst/>
              <a:gdLst/>
              <a:ahLst/>
              <a:cxnLst/>
              <a:rect l="l" t="t" r="r" b="b"/>
              <a:pathLst>
                <a:path w="5130517" h="1349802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337879"/>
                  </a:lnTo>
                  <a:cubicBezTo>
                    <a:pt x="5130517" y="1341041"/>
                    <a:pt x="5129261" y="1344074"/>
                    <a:pt x="5127025" y="1346310"/>
                  </a:cubicBezTo>
                  <a:cubicBezTo>
                    <a:pt x="5124790" y="1348546"/>
                    <a:pt x="5121757" y="1349802"/>
                    <a:pt x="5118595" y="1349802"/>
                  </a:cubicBezTo>
                  <a:lnTo>
                    <a:pt x="11923" y="1349802"/>
                  </a:lnTo>
                  <a:cubicBezTo>
                    <a:pt x="8761" y="1349802"/>
                    <a:pt x="5728" y="1348546"/>
                    <a:pt x="3492" y="1346310"/>
                  </a:cubicBezTo>
                  <a:cubicBezTo>
                    <a:pt x="1256" y="1344074"/>
                    <a:pt x="0" y="1341041"/>
                    <a:pt x="0" y="1337879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130518" cy="140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55177" y="1860448"/>
            <a:ext cx="141561" cy="1415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70749" y="1860448"/>
            <a:ext cx="141561" cy="1415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69292" y="1860448"/>
            <a:ext cx="141561" cy="1415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84865" y="1860448"/>
            <a:ext cx="141561" cy="14156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57912" y="3956372"/>
            <a:ext cx="7084546" cy="4731839"/>
            <a:chOff x="0" y="0"/>
            <a:chExt cx="1865889" cy="12462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65889" cy="1246246"/>
            </a:xfrm>
            <a:custGeom>
              <a:avLst/>
              <a:gdLst/>
              <a:ahLst/>
              <a:cxnLst/>
              <a:rect l="l" t="t" r="r" b="b"/>
              <a:pathLst>
                <a:path w="1865889" h="1246246">
                  <a:moveTo>
                    <a:pt x="21856" y="0"/>
                  </a:moveTo>
                  <a:lnTo>
                    <a:pt x="1844033" y="0"/>
                  </a:lnTo>
                  <a:cubicBezTo>
                    <a:pt x="1849829" y="0"/>
                    <a:pt x="1855388" y="2303"/>
                    <a:pt x="1859487" y="6401"/>
                  </a:cubicBezTo>
                  <a:cubicBezTo>
                    <a:pt x="1863586" y="10500"/>
                    <a:pt x="1865889" y="16059"/>
                    <a:pt x="1865889" y="21856"/>
                  </a:cubicBezTo>
                  <a:lnTo>
                    <a:pt x="1865889" y="1224390"/>
                  </a:lnTo>
                  <a:cubicBezTo>
                    <a:pt x="1865889" y="1230186"/>
                    <a:pt x="1863586" y="1235746"/>
                    <a:pt x="1859487" y="1239844"/>
                  </a:cubicBezTo>
                  <a:cubicBezTo>
                    <a:pt x="1855388" y="1243943"/>
                    <a:pt x="1849829" y="1246246"/>
                    <a:pt x="1844033" y="1246246"/>
                  </a:cubicBezTo>
                  <a:lnTo>
                    <a:pt x="21856" y="1246246"/>
                  </a:lnTo>
                  <a:cubicBezTo>
                    <a:pt x="9785" y="1246246"/>
                    <a:pt x="0" y="1236460"/>
                    <a:pt x="0" y="1224390"/>
                  </a:cubicBezTo>
                  <a:lnTo>
                    <a:pt x="0" y="21856"/>
                  </a:lnTo>
                  <a:cubicBezTo>
                    <a:pt x="0" y="16059"/>
                    <a:pt x="2303" y="10500"/>
                    <a:pt x="6401" y="6401"/>
                  </a:cubicBezTo>
                  <a:cubicBezTo>
                    <a:pt x="10500" y="2303"/>
                    <a:pt x="16059" y="0"/>
                    <a:pt x="2185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865889" cy="1303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96079" y="342946"/>
            <a:ext cx="7858492" cy="9686072"/>
            <a:chOff x="0" y="0"/>
            <a:chExt cx="2069726" cy="25510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69726" cy="2551064"/>
            </a:xfrm>
            <a:custGeom>
              <a:avLst/>
              <a:gdLst/>
              <a:ahLst/>
              <a:cxnLst/>
              <a:rect l="l" t="t" r="r" b="b"/>
              <a:pathLst>
                <a:path w="2069726" h="2551064">
                  <a:moveTo>
                    <a:pt x="19703" y="0"/>
                  </a:moveTo>
                  <a:lnTo>
                    <a:pt x="2050023" y="0"/>
                  </a:lnTo>
                  <a:cubicBezTo>
                    <a:pt x="2055249" y="0"/>
                    <a:pt x="2060260" y="2076"/>
                    <a:pt x="2063955" y="5771"/>
                  </a:cubicBezTo>
                  <a:cubicBezTo>
                    <a:pt x="2067650" y="9466"/>
                    <a:pt x="2069726" y="14478"/>
                    <a:pt x="2069726" y="19703"/>
                  </a:cubicBezTo>
                  <a:lnTo>
                    <a:pt x="2069726" y="2531361"/>
                  </a:lnTo>
                  <a:cubicBezTo>
                    <a:pt x="2069726" y="2542243"/>
                    <a:pt x="2060905" y="2551064"/>
                    <a:pt x="2050023" y="2551064"/>
                  </a:cubicBezTo>
                  <a:lnTo>
                    <a:pt x="19703" y="2551064"/>
                  </a:lnTo>
                  <a:cubicBezTo>
                    <a:pt x="14478" y="2551064"/>
                    <a:pt x="9466" y="2548988"/>
                    <a:pt x="5771" y="2545293"/>
                  </a:cubicBezTo>
                  <a:cubicBezTo>
                    <a:pt x="2076" y="2541598"/>
                    <a:pt x="0" y="2536587"/>
                    <a:pt x="0" y="2531361"/>
                  </a:cubicBezTo>
                  <a:lnTo>
                    <a:pt x="0" y="19703"/>
                  </a:lnTo>
                  <a:cubicBezTo>
                    <a:pt x="0" y="8821"/>
                    <a:pt x="8821" y="0"/>
                    <a:pt x="1970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2069726" cy="2608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795874" y="2317874"/>
            <a:ext cx="7731546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60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3. Metode Bagi Dua</a:t>
            </a:r>
          </a:p>
        </p:txBody>
      </p:sp>
      <p:sp>
        <p:nvSpPr>
          <p:cNvPr id="27" name="Freeform 27"/>
          <p:cNvSpPr/>
          <p:nvPr/>
        </p:nvSpPr>
        <p:spPr>
          <a:xfrm flipH="1">
            <a:off x="9459968" y="2554121"/>
            <a:ext cx="421812" cy="605735"/>
          </a:xfrm>
          <a:custGeom>
            <a:avLst/>
            <a:gdLst/>
            <a:ahLst/>
            <a:cxnLst/>
            <a:rect l="l" t="t" r="r" b="b"/>
            <a:pathLst>
              <a:path w="421812" h="605735">
                <a:moveTo>
                  <a:pt x="421811" y="0"/>
                </a:moveTo>
                <a:lnTo>
                  <a:pt x="0" y="0"/>
                </a:lnTo>
                <a:lnTo>
                  <a:pt x="0" y="605735"/>
                </a:lnTo>
                <a:lnTo>
                  <a:pt x="421811" y="605735"/>
                </a:lnTo>
                <a:lnTo>
                  <a:pt x="4218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8855281" y="1860448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8" y="0"/>
                </a:lnTo>
                <a:lnTo>
                  <a:pt x="577438" y="570088"/>
                </a:lnTo>
                <a:lnTo>
                  <a:pt x="0" y="570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7131379" y="9258300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8" y="0"/>
                </a:lnTo>
                <a:lnTo>
                  <a:pt x="577438" y="570089"/>
                </a:lnTo>
                <a:lnTo>
                  <a:pt x="0" y="570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1067622" y="4730808"/>
            <a:ext cx="5715405" cy="4649821"/>
          </a:xfrm>
          <a:custGeom>
            <a:avLst/>
            <a:gdLst/>
            <a:ahLst/>
            <a:cxnLst/>
            <a:rect l="l" t="t" r="r" b="b"/>
            <a:pathLst>
              <a:path w="5715405" h="4649821">
                <a:moveTo>
                  <a:pt x="0" y="0"/>
                </a:moveTo>
                <a:lnTo>
                  <a:pt x="5715406" y="0"/>
                </a:lnTo>
                <a:lnTo>
                  <a:pt x="5715406" y="4649822"/>
                </a:lnTo>
                <a:lnTo>
                  <a:pt x="0" y="46498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955177" y="1624228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05665" y="3169381"/>
            <a:ext cx="5262159" cy="589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6"/>
              </a:lnSpc>
            </a:pPr>
            <a:r>
              <a:rPr lang="en-US" sz="344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Bolzano/Biseksi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0" y="484191"/>
            <a:ext cx="5826492" cy="73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2"/>
              </a:lnSpc>
            </a:pPr>
            <a:r>
              <a:rPr lang="en-US" sz="3808">
                <a:solidFill>
                  <a:srgbClr val="3F3837"/>
                </a:solidFill>
                <a:latin typeface="Funtastic"/>
                <a:ea typeface="Funtastic"/>
                <a:cs typeface="Funtastic"/>
                <a:sym typeface="Funtastic"/>
              </a:rPr>
              <a:t>Metode Bolzano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06385" y="4437438"/>
            <a:ext cx="6187600" cy="376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lebih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halus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dari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grafik</a:t>
            </a:r>
            <a:endParaRPr lang="en-US" sz="2400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Disebut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juga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metoda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setengah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interval (interval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halfing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),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bolzano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atau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biseksi</a:t>
            </a:r>
            <a:endParaRPr lang="en-US" sz="2400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Dapat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dihitung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Ea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dan Et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Algoritma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Pilih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awal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XL (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Xlower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 dan Xu (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Xupper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),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dengan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syarat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f(XL) * f(Xu) &lt; 0,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iniberartiterjadi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perubahan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tanda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antara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f(</a:t>
            </a:r>
            <a:r>
              <a:rPr lang="en-US" sz="24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Xl</a:t>
            </a:r>
            <a:r>
              <a:rPr lang="en-US" sz="24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 dan f(Xu)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65065" y="1381818"/>
            <a:ext cx="7155032" cy="346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Istilah “</a:t>
            </a:r>
            <a:r>
              <a:rPr lang="en-US" sz="2400" dirty="0" err="1">
                <a:solidFill>
                  <a:srgbClr val="FF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perubahan</a:t>
            </a:r>
            <a:r>
              <a:rPr lang="en-US" sz="2400" dirty="0">
                <a:solidFill>
                  <a:srgbClr val="FF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tanda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”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dalam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metode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ini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memiliki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arti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penting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. Karena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mengingat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sifat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fungsi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yang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kontinu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,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maka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adanya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2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nilai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fungsi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f(xi) dan f(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xi+n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) yang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memiliki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tanda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berbeda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menunjukkan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fungsi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tersebut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memotong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koordinat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(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setidaknya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satu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kali) di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antara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xi dan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xi+n</a:t>
            </a:r>
            <a:endParaRPr lang="en-US" sz="2400" dirty="0">
              <a:solidFill>
                <a:srgbClr val="6E4E3B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ingat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!... yang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kita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cari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adalah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 err="1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nilai</a:t>
            </a:r>
            <a:r>
              <a:rPr lang="en-US" sz="2400" dirty="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x </a:t>
            </a:r>
            <a:r>
              <a:rPr lang="en-US" sz="2400" dirty="0" err="1">
                <a:solidFill>
                  <a:srgbClr val="FF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dimana</a:t>
            </a:r>
            <a:r>
              <a:rPr lang="en-US" sz="2400" dirty="0">
                <a:solidFill>
                  <a:srgbClr val="FF0000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 f(x) = 0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6E4E3B"/>
              </a:solidFill>
              <a:latin typeface="TDTD갬성명조"/>
              <a:ea typeface="TDTD갬성명조"/>
              <a:cs typeface="TDTD갬성명조"/>
              <a:sym typeface="TDTD갬성명조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2950" y="2080821"/>
            <a:ext cx="8985613" cy="8625279"/>
            <a:chOff x="0" y="0"/>
            <a:chExt cx="2348595" cy="22544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48595" cy="2254413"/>
            </a:xfrm>
            <a:custGeom>
              <a:avLst/>
              <a:gdLst/>
              <a:ahLst/>
              <a:cxnLst/>
              <a:rect l="l" t="t" r="r" b="b"/>
              <a:pathLst>
                <a:path w="2348595" h="2254413">
                  <a:moveTo>
                    <a:pt x="17232" y="0"/>
                  </a:moveTo>
                  <a:lnTo>
                    <a:pt x="2331363" y="0"/>
                  </a:lnTo>
                  <a:cubicBezTo>
                    <a:pt x="2335933" y="0"/>
                    <a:pt x="2340316" y="1815"/>
                    <a:pt x="2343547" y="5047"/>
                  </a:cubicBezTo>
                  <a:cubicBezTo>
                    <a:pt x="2346779" y="8279"/>
                    <a:pt x="2348595" y="12662"/>
                    <a:pt x="2348595" y="17232"/>
                  </a:cubicBezTo>
                  <a:lnTo>
                    <a:pt x="2348595" y="2237181"/>
                  </a:lnTo>
                  <a:cubicBezTo>
                    <a:pt x="2348595" y="2246699"/>
                    <a:pt x="2340880" y="2254413"/>
                    <a:pt x="2331363" y="2254413"/>
                  </a:cubicBezTo>
                  <a:lnTo>
                    <a:pt x="17232" y="2254413"/>
                  </a:lnTo>
                  <a:cubicBezTo>
                    <a:pt x="12662" y="2254413"/>
                    <a:pt x="8279" y="2252598"/>
                    <a:pt x="5047" y="2249366"/>
                  </a:cubicBezTo>
                  <a:cubicBezTo>
                    <a:pt x="1815" y="2246135"/>
                    <a:pt x="0" y="2241752"/>
                    <a:pt x="0" y="2237181"/>
                  </a:cubicBezTo>
                  <a:lnTo>
                    <a:pt x="0" y="17232"/>
                  </a:lnTo>
                  <a:cubicBezTo>
                    <a:pt x="0" y="12662"/>
                    <a:pt x="1815" y="8279"/>
                    <a:pt x="5047" y="5047"/>
                  </a:cubicBezTo>
                  <a:cubicBezTo>
                    <a:pt x="8279" y="1815"/>
                    <a:pt x="12662" y="0"/>
                    <a:pt x="172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348595" cy="231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95609" y="2651257"/>
            <a:ext cx="4746214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   2.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Pertama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Akar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4278" y="3313928"/>
            <a:ext cx="4746214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   2. Taksiran Pertama Akar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5609" y="8601120"/>
            <a:ext cx="8365182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    4. Hitung taksiran baru akar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5609" y="9497965"/>
            <a:ext cx="9106881" cy="95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    5.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Putuskan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: - If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akar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cukup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akurat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-&gt;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hentikan</a:t>
            </a:r>
            <a:endParaRPr lang="en-US" sz="26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779"/>
              </a:lnSpc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                              - If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akar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kurang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akurat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-&gt;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langkah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5609" y="3459525"/>
            <a:ext cx="8365828" cy="476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   3.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Untuk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mencari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sub interval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berikutnya</a:t>
            </a:r>
            <a:endParaRPr lang="en-US" sz="26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1165857" lvl="2" indent="-388619" algn="l">
              <a:lnSpc>
                <a:spcPts val="3779"/>
              </a:lnSpc>
              <a:buFont typeface="Arial"/>
              <a:buChar char="⚬"/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If </a:t>
            </a:r>
          </a:p>
          <a:p>
            <a:pPr marL="1748785" lvl="3" indent="-437196" algn="l">
              <a:lnSpc>
                <a:spcPts val="3779"/>
              </a:lnSpc>
              <a:buFont typeface="Arial"/>
              <a:buChar char="￭"/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Akar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terletak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pada subinterval </a:t>
            </a:r>
            <a:r>
              <a:rPr lang="en-US" sz="2699" dirty="0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kiri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</a:t>
            </a:r>
          </a:p>
          <a:p>
            <a:pPr marL="2331714" lvl="4" indent="-466343" algn="l">
              <a:lnSpc>
                <a:spcPts val="3779"/>
              </a:lnSpc>
              <a:buFont typeface="Arial"/>
              <a:buChar char="•"/>
            </a:pP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maka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-&gt;</a:t>
            </a:r>
            <a:r>
              <a:rPr lang="en-US" sz="2699" dirty="0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 Xu = </a:t>
            </a:r>
            <a:r>
              <a:rPr lang="en-US" sz="2699" dirty="0" err="1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Xr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lanjutkan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no 4</a:t>
            </a: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1165857" lvl="2" indent="-388619" algn="l">
              <a:lnSpc>
                <a:spcPts val="3779"/>
              </a:lnSpc>
              <a:buFont typeface="Arial"/>
              <a:buChar char="⚬"/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If</a:t>
            </a:r>
          </a:p>
          <a:p>
            <a:pPr marL="1748785" lvl="3" indent="-437196" algn="l">
              <a:lnSpc>
                <a:spcPts val="3779"/>
              </a:lnSpc>
              <a:buFont typeface="Arial"/>
              <a:buChar char="￭"/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Akar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terletak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pada subinterval </a:t>
            </a:r>
            <a:r>
              <a:rPr lang="en-US" sz="2699" dirty="0" err="1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kanan</a:t>
            </a:r>
            <a:endParaRPr lang="en-US" sz="2699" dirty="0">
              <a:solidFill>
                <a:srgbClr val="EA6564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2331714" lvl="4" indent="-466343" algn="l">
              <a:lnSpc>
                <a:spcPts val="3779"/>
              </a:lnSpc>
              <a:buFont typeface="Arial"/>
              <a:buChar char="•"/>
            </a:pP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maka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-&gt; </a:t>
            </a:r>
            <a:r>
              <a:rPr lang="en-US" sz="2699" dirty="0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XL = </a:t>
            </a:r>
            <a:r>
              <a:rPr lang="en-US" sz="2699" dirty="0" err="1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Xr</a:t>
            </a:r>
            <a:r>
              <a:rPr lang="en-US" sz="2699" dirty="0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,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lanjutkan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no 4</a:t>
            </a:r>
          </a:p>
          <a:p>
            <a:pPr algn="l">
              <a:lnSpc>
                <a:spcPts val="3779"/>
              </a:lnSpc>
            </a:pPr>
            <a:endParaRPr lang="en-US" sz="26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1165857" lvl="2" indent="-388619" algn="l">
              <a:lnSpc>
                <a:spcPts val="3779"/>
              </a:lnSpc>
              <a:buFont typeface="Arial"/>
              <a:buChar char="⚬"/>
            </a:pP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If                                                  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akar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=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Xr</a:t>
            </a:r>
            <a:r>
              <a:rPr lang="en-US" sz="26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</a:t>
            </a:r>
            <a:r>
              <a:rPr lang="en-US" sz="26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berhenti</a:t>
            </a:r>
            <a:endParaRPr lang="en-US" sz="26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0324278" y="2076868"/>
            <a:ext cx="7273623" cy="7845750"/>
            <a:chOff x="0" y="0"/>
            <a:chExt cx="1901127" cy="20506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01127" cy="2050666"/>
            </a:xfrm>
            <a:custGeom>
              <a:avLst/>
              <a:gdLst/>
              <a:ahLst/>
              <a:cxnLst/>
              <a:rect l="l" t="t" r="r" b="b"/>
              <a:pathLst>
                <a:path w="1901127" h="2050666">
                  <a:moveTo>
                    <a:pt x="21288" y="0"/>
                  </a:moveTo>
                  <a:lnTo>
                    <a:pt x="1879840" y="0"/>
                  </a:lnTo>
                  <a:cubicBezTo>
                    <a:pt x="1891596" y="0"/>
                    <a:pt x="1901127" y="9531"/>
                    <a:pt x="1901127" y="21288"/>
                  </a:cubicBezTo>
                  <a:lnTo>
                    <a:pt x="1901127" y="2029378"/>
                  </a:lnTo>
                  <a:cubicBezTo>
                    <a:pt x="1901127" y="2041135"/>
                    <a:pt x="1891596" y="2050666"/>
                    <a:pt x="1879840" y="2050666"/>
                  </a:cubicBezTo>
                  <a:lnTo>
                    <a:pt x="21288" y="2050666"/>
                  </a:lnTo>
                  <a:cubicBezTo>
                    <a:pt x="9531" y="2050666"/>
                    <a:pt x="0" y="2041135"/>
                    <a:pt x="0" y="2029378"/>
                  </a:cubicBezTo>
                  <a:lnTo>
                    <a:pt x="0" y="21288"/>
                  </a:lnTo>
                  <a:cubicBezTo>
                    <a:pt x="0" y="9531"/>
                    <a:pt x="9531" y="0"/>
                    <a:pt x="212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901127" cy="2107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635710" y="3611118"/>
            <a:ext cx="3649791" cy="142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-5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8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35710" y="5247803"/>
            <a:ext cx="5794266" cy="95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akar x dengan menggunakan metoda bagi dua (nilai 24)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35710" y="6284123"/>
            <a:ext cx="6519840" cy="285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catatan:</a:t>
            </a:r>
          </a:p>
          <a:p>
            <a:pPr marL="1165857" lvl="2" indent="-388619" algn="l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tiap iterasi cari Et dan Ea</a:t>
            </a:r>
          </a:p>
          <a:p>
            <a:pPr marL="1165857" lvl="2" indent="-388619" algn="l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ketelitian 2 angka di belakang koma</a:t>
            </a:r>
          </a:p>
          <a:p>
            <a:pPr marL="1165857" lvl="2" indent="-388619" algn="l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iterasi 1 sampai iterasi 3</a:t>
            </a:r>
          </a:p>
          <a:p>
            <a:pPr marL="1165857" lvl="2" indent="-388619" algn="l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tuliskan rumusnya terlebih dahulu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06504" y="227020"/>
            <a:ext cx="11274991" cy="93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Bagi Dua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54293" y="1286281"/>
            <a:ext cx="11274991" cy="70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3"/>
              </a:lnSpc>
            </a:pPr>
            <a:r>
              <a:rPr lang="en-US" sz="4546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Contoh Soal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99252" y="2140474"/>
            <a:ext cx="2623037" cy="660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0"/>
              </a:lnSpc>
            </a:pPr>
            <a:r>
              <a:rPr lang="en-US" sz="3807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Diketahui</a:t>
            </a:r>
          </a:p>
        </p:txBody>
      </p:sp>
      <p:sp>
        <p:nvSpPr>
          <p:cNvPr id="22" name="Freeform 22"/>
          <p:cNvSpPr/>
          <p:nvPr/>
        </p:nvSpPr>
        <p:spPr>
          <a:xfrm flipH="1">
            <a:off x="12460606" y="433188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5268099" y="34915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913" y="2059283"/>
            <a:ext cx="4042903" cy="1675437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886" y="8054661"/>
            <a:ext cx="4042903" cy="1675437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5518" y="3590258"/>
            <a:ext cx="4534825" cy="1239519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5518" y="5464623"/>
            <a:ext cx="4534825" cy="1239519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9471" y="7405120"/>
            <a:ext cx="4546919" cy="1241535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4048" y="2404318"/>
            <a:ext cx="6615482" cy="158664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9A0F9A6-49F3-4715-934C-02D57E80E093}"/>
              </a:ext>
            </a:extLst>
          </p:cNvPr>
          <p:cNvSpPr txBox="1"/>
          <p:nvPr/>
        </p:nvSpPr>
        <p:spPr>
          <a:xfrm>
            <a:off x="417524" y="1255604"/>
            <a:ext cx="9311039" cy="95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1. 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Pilih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awal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XL (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Xlower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 dan Xu (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Xupper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), 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dengan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syarat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f(XL) * f(Xu) &lt; 0,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5102" y="4831445"/>
            <a:ext cx="4507390" cy="1900487"/>
            <a:chOff x="0" y="0"/>
            <a:chExt cx="1698839" cy="7162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8839" cy="716295"/>
            </a:xfrm>
            <a:custGeom>
              <a:avLst/>
              <a:gdLst/>
              <a:ahLst/>
              <a:cxnLst/>
              <a:rect l="l" t="t" r="r" b="b"/>
              <a:pathLst>
                <a:path w="1698839" h="716295">
                  <a:moveTo>
                    <a:pt x="34352" y="0"/>
                  </a:moveTo>
                  <a:lnTo>
                    <a:pt x="1664487" y="0"/>
                  </a:lnTo>
                  <a:cubicBezTo>
                    <a:pt x="1683459" y="0"/>
                    <a:pt x="1698839" y="15380"/>
                    <a:pt x="1698839" y="34352"/>
                  </a:cubicBezTo>
                  <a:lnTo>
                    <a:pt x="1698839" y="681943"/>
                  </a:lnTo>
                  <a:cubicBezTo>
                    <a:pt x="1698839" y="700915"/>
                    <a:pt x="1683459" y="716295"/>
                    <a:pt x="1664487" y="716295"/>
                  </a:cubicBezTo>
                  <a:lnTo>
                    <a:pt x="34352" y="716295"/>
                  </a:lnTo>
                  <a:cubicBezTo>
                    <a:pt x="15380" y="716295"/>
                    <a:pt x="0" y="700915"/>
                    <a:pt x="0" y="681943"/>
                  </a:cubicBezTo>
                  <a:lnTo>
                    <a:pt x="0" y="34352"/>
                  </a:lnTo>
                  <a:cubicBezTo>
                    <a:pt x="0" y="15380"/>
                    <a:pt x="15380" y="0"/>
                    <a:pt x="343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98839" cy="77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52277" y="2592184"/>
            <a:ext cx="5782755" cy="6965970"/>
            <a:chOff x="0" y="0"/>
            <a:chExt cx="1511455" cy="18207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1455" cy="1820715"/>
            </a:xfrm>
            <a:custGeom>
              <a:avLst/>
              <a:gdLst/>
              <a:ahLst/>
              <a:cxnLst/>
              <a:rect l="l" t="t" r="r" b="b"/>
              <a:pathLst>
                <a:path w="1511455" h="1820715">
                  <a:moveTo>
                    <a:pt x="26776" y="0"/>
                  </a:moveTo>
                  <a:lnTo>
                    <a:pt x="1484679" y="0"/>
                  </a:lnTo>
                  <a:cubicBezTo>
                    <a:pt x="1499467" y="0"/>
                    <a:pt x="1511455" y="11988"/>
                    <a:pt x="1511455" y="26776"/>
                  </a:cubicBezTo>
                  <a:lnTo>
                    <a:pt x="1511455" y="1793939"/>
                  </a:lnTo>
                  <a:cubicBezTo>
                    <a:pt x="1511455" y="1801041"/>
                    <a:pt x="1508634" y="1807851"/>
                    <a:pt x="1503612" y="1812872"/>
                  </a:cubicBezTo>
                  <a:cubicBezTo>
                    <a:pt x="1498591" y="1817894"/>
                    <a:pt x="1491780" y="1820715"/>
                    <a:pt x="1484679" y="1820715"/>
                  </a:cubicBezTo>
                  <a:lnTo>
                    <a:pt x="26776" y="1820715"/>
                  </a:lnTo>
                  <a:cubicBezTo>
                    <a:pt x="19674" y="1820715"/>
                    <a:pt x="12864" y="1817894"/>
                    <a:pt x="7842" y="1812872"/>
                  </a:cubicBezTo>
                  <a:cubicBezTo>
                    <a:pt x="2821" y="1807851"/>
                    <a:pt x="0" y="1801041"/>
                    <a:pt x="0" y="1793939"/>
                  </a:cubicBezTo>
                  <a:lnTo>
                    <a:pt x="0" y="26776"/>
                  </a:lnTo>
                  <a:cubicBezTo>
                    <a:pt x="0" y="19674"/>
                    <a:pt x="2821" y="12864"/>
                    <a:pt x="7842" y="7842"/>
                  </a:cubicBezTo>
                  <a:cubicBezTo>
                    <a:pt x="12864" y="2821"/>
                    <a:pt x="19674" y="0"/>
                    <a:pt x="2677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511455" cy="187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92206" y="2592184"/>
            <a:ext cx="5782755" cy="6965970"/>
            <a:chOff x="0" y="0"/>
            <a:chExt cx="1511455" cy="1820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1455" cy="1820715"/>
            </a:xfrm>
            <a:custGeom>
              <a:avLst/>
              <a:gdLst/>
              <a:ahLst/>
              <a:cxnLst/>
              <a:rect l="l" t="t" r="r" b="b"/>
              <a:pathLst>
                <a:path w="1511455" h="1820715">
                  <a:moveTo>
                    <a:pt x="26776" y="0"/>
                  </a:moveTo>
                  <a:lnTo>
                    <a:pt x="1484679" y="0"/>
                  </a:lnTo>
                  <a:cubicBezTo>
                    <a:pt x="1499467" y="0"/>
                    <a:pt x="1511455" y="11988"/>
                    <a:pt x="1511455" y="26776"/>
                  </a:cubicBezTo>
                  <a:lnTo>
                    <a:pt x="1511455" y="1793939"/>
                  </a:lnTo>
                  <a:cubicBezTo>
                    <a:pt x="1511455" y="1801041"/>
                    <a:pt x="1508634" y="1807851"/>
                    <a:pt x="1503612" y="1812872"/>
                  </a:cubicBezTo>
                  <a:cubicBezTo>
                    <a:pt x="1498591" y="1817894"/>
                    <a:pt x="1491780" y="1820715"/>
                    <a:pt x="1484679" y="1820715"/>
                  </a:cubicBezTo>
                  <a:lnTo>
                    <a:pt x="26776" y="1820715"/>
                  </a:lnTo>
                  <a:cubicBezTo>
                    <a:pt x="19674" y="1820715"/>
                    <a:pt x="12864" y="1817894"/>
                    <a:pt x="7842" y="1812872"/>
                  </a:cubicBezTo>
                  <a:cubicBezTo>
                    <a:pt x="2821" y="1807851"/>
                    <a:pt x="0" y="1801041"/>
                    <a:pt x="0" y="1793939"/>
                  </a:cubicBezTo>
                  <a:lnTo>
                    <a:pt x="0" y="26776"/>
                  </a:lnTo>
                  <a:cubicBezTo>
                    <a:pt x="0" y="19674"/>
                    <a:pt x="2821" y="12864"/>
                    <a:pt x="7842" y="7842"/>
                  </a:cubicBezTo>
                  <a:cubicBezTo>
                    <a:pt x="12864" y="2821"/>
                    <a:pt x="19674" y="0"/>
                    <a:pt x="2677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511455" cy="187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43600" y="2076868"/>
            <a:ext cx="5057969" cy="2554552"/>
            <a:chOff x="0" y="0"/>
            <a:chExt cx="1698839" cy="8580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8839" cy="858007"/>
            </a:xfrm>
            <a:custGeom>
              <a:avLst/>
              <a:gdLst/>
              <a:ahLst/>
              <a:cxnLst/>
              <a:rect l="l" t="t" r="r" b="b"/>
              <a:pathLst>
                <a:path w="1698839" h="858007">
                  <a:moveTo>
                    <a:pt x="30613" y="0"/>
                  </a:moveTo>
                  <a:lnTo>
                    <a:pt x="1668226" y="0"/>
                  </a:lnTo>
                  <a:cubicBezTo>
                    <a:pt x="1685133" y="0"/>
                    <a:pt x="1698839" y="13706"/>
                    <a:pt x="1698839" y="30613"/>
                  </a:cubicBezTo>
                  <a:lnTo>
                    <a:pt x="1698839" y="827394"/>
                  </a:lnTo>
                  <a:cubicBezTo>
                    <a:pt x="1698839" y="835513"/>
                    <a:pt x="1695614" y="843300"/>
                    <a:pt x="1689872" y="849041"/>
                  </a:cubicBezTo>
                  <a:cubicBezTo>
                    <a:pt x="1684132" y="854782"/>
                    <a:pt x="1676345" y="858007"/>
                    <a:pt x="1668226" y="858007"/>
                  </a:cubicBezTo>
                  <a:lnTo>
                    <a:pt x="30613" y="858007"/>
                  </a:lnTo>
                  <a:cubicBezTo>
                    <a:pt x="22494" y="858007"/>
                    <a:pt x="14707" y="854782"/>
                    <a:pt x="8966" y="849041"/>
                  </a:cubicBezTo>
                  <a:cubicBezTo>
                    <a:pt x="3225" y="843300"/>
                    <a:pt x="0" y="835513"/>
                    <a:pt x="0" y="827394"/>
                  </a:cubicBezTo>
                  <a:lnTo>
                    <a:pt x="0" y="30613"/>
                  </a:lnTo>
                  <a:cubicBezTo>
                    <a:pt x="0" y="22494"/>
                    <a:pt x="3225" y="14707"/>
                    <a:pt x="8966" y="8966"/>
                  </a:cubicBezTo>
                  <a:cubicBezTo>
                    <a:pt x="14707" y="3225"/>
                    <a:pt x="22494" y="0"/>
                    <a:pt x="3061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98839" cy="915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506504" y="227020"/>
            <a:ext cx="11274991" cy="93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Bagi Dua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12460606" y="433188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268099" y="34915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1" y="2331686"/>
            <a:ext cx="5148086" cy="1234703"/>
          </a:xfrm>
          <a:prstGeom prst="rect">
            <a:avLst/>
          </a:prstGeom>
        </p:spPr>
      </p:pic>
      <p:sp>
        <p:nvSpPr>
          <p:cNvPr id="21" name="Freeform 21"/>
          <p:cNvSpPr/>
          <p:nvPr/>
        </p:nvSpPr>
        <p:spPr>
          <a:xfrm>
            <a:off x="6303778" y="3318919"/>
            <a:ext cx="1420111" cy="924199"/>
          </a:xfrm>
          <a:custGeom>
            <a:avLst/>
            <a:gdLst/>
            <a:ahLst/>
            <a:cxnLst/>
            <a:rect l="l" t="t" r="r" b="b"/>
            <a:pathLst>
              <a:path w="1420111" h="924199">
                <a:moveTo>
                  <a:pt x="0" y="0"/>
                </a:moveTo>
                <a:lnTo>
                  <a:pt x="1420111" y="0"/>
                </a:lnTo>
                <a:lnTo>
                  <a:pt x="1420111" y="924200"/>
                </a:lnTo>
                <a:lnTo>
                  <a:pt x="0" y="924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075140" y="3136883"/>
            <a:ext cx="1932514" cy="1220535"/>
          </a:xfrm>
          <a:custGeom>
            <a:avLst/>
            <a:gdLst/>
            <a:ahLst/>
            <a:cxnLst/>
            <a:rect l="l" t="t" r="r" b="b"/>
            <a:pathLst>
              <a:path w="1932514" h="1220535">
                <a:moveTo>
                  <a:pt x="0" y="0"/>
                </a:moveTo>
                <a:lnTo>
                  <a:pt x="1932515" y="0"/>
                </a:lnTo>
                <a:lnTo>
                  <a:pt x="1932515" y="1220536"/>
                </a:lnTo>
                <a:lnTo>
                  <a:pt x="0" y="1220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6303778" y="6253771"/>
            <a:ext cx="903223" cy="342985"/>
          </a:xfrm>
          <a:custGeom>
            <a:avLst/>
            <a:gdLst/>
            <a:ahLst/>
            <a:cxnLst/>
            <a:rect l="l" t="t" r="r" b="b"/>
            <a:pathLst>
              <a:path w="903223" h="342985">
                <a:moveTo>
                  <a:pt x="0" y="0"/>
                </a:moveTo>
                <a:lnTo>
                  <a:pt x="903223" y="0"/>
                </a:lnTo>
                <a:lnTo>
                  <a:pt x="903223" y="342985"/>
                </a:lnTo>
                <a:lnTo>
                  <a:pt x="0" y="3429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4458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331424" y="4547919"/>
            <a:ext cx="3602441" cy="1403277"/>
          </a:xfrm>
          <a:custGeom>
            <a:avLst/>
            <a:gdLst/>
            <a:ahLst/>
            <a:cxnLst/>
            <a:rect l="l" t="t" r="r" b="b"/>
            <a:pathLst>
              <a:path w="3602441" h="1403277">
                <a:moveTo>
                  <a:pt x="0" y="0"/>
                </a:moveTo>
                <a:lnTo>
                  <a:pt x="3602441" y="0"/>
                </a:lnTo>
                <a:lnTo>
                  <a:pt x="3602441" y="1403276"/>
                </a:lnTo>
                <a:lnTo>
                  <a:pt x="0" y="14032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7029218" y="5383550"/>
            <a:ext cx="1389342" cy="785057"/>
            <a:chOff x="0" y="0"/>
            <a:chExt cx="466598" cy="26365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6598" cy="263654"/>
            </a:xfrm>
            <a:custGeom>
              <a:avLst/>
              <a:gdLst/>
              <a:ahLst/>
              <a:cxnLst/>
              <a:rect l="l" t="t" r="r" b="b"/>
              <a:pathLst>
                <a:path w="466598" h="263654">
                  <a:moveTo>
                    <a:pt x="233299" y="0"/>
                  </a:moveTo>
                  <a:cubicBezTo>
                    <a:pt x="104451" y="0"/>
                    <a:pt x="0" y="59021"/>
                    <a:pt x="0" y="131827"/>
                  </a:cubicBezTo>
                  <a:cubicBezTo>
                    <a:pt x="0" y="204633"/>
                    <a:pt x="104451" y="263654"/>
                    <a:pt x="233299" y="263654"/>
                  </a:cubicBezTo>
                  <a:cubicBezTo>
                    <a:pt x="362146" y="263654"/>
                    <a:pt x="466598" y="204633"/>
                    <a:pt x="466598" y="131827"/>
                  </a:cubicBezTo>
                  <a:cubicBezTo>
                    <a:pt x="466598" y="59021"/>
                    <a:pt x="362146" y="0"/>
                    <a:pt x="233299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44" y="-32432"/>
              <a:ext cx="379111" cy="271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14071" y="5102034"/>
            <a:ext cx="1142359" cy="570944"/>
            <a:chOff x="0" y="0"/>
            <a:chExt cx="466598" cy="2332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6598" cy="233203"/>
            </a:xfrm>
            <a:custGeom>
              <a:avLst/>
              <a:gdLst/>
              <a:ahLst/>
              <a:cxnLst/>
              <a:rect l="l" t="t" r="r" b="b"/>
              <a:pathLst>
                <a:path w="466598" h="233203">
                  <a:moveTo>
                    <a:pt x="233299" y="0"/>
                  </a:moveTo>
                  <a:cubicBezTo>
                    <a:pt x="104451" y="0"/>
                    <a:pt x="0" y="52204"/>
                    <a:pt x="0" y="116601"/>
                  </a:cubicBezTo>
                  <a:cubicBezTo>
                    <a:pt x="0" y="180999"/>
                    <a:pt x="104451" y="233203"/>
                    <a:pt x="233299" y="233203"/>
                  </a:cubicBezTo>
                  <a:cubicBezTo>
                    <a:pt x="362146" y="233203"/>
                    <a:pt x="466598" y="180999"/>
                    <a:pt x="466598" y="116601"/>
                  </a:cubicBezTo>
                  <a:cubicBezTo>
                    <a:pt x="466598" y="52204"/>
                    <a:pt x="362146" y="0"/>
                    <a:pt x="233299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744" y="-35287"/>
              <a:ext cx="379111" cy="24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909977" y="6363671"/>
            <a:ext cx="1142359" cy="570944"/>
            <a:chOff x="0" y="0"/>
            <a:chExt cx="466598" cy="23320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66598" cy="233203"/>
            </a:xfrm>
            <a:custGeom>
              <a:avLst/>
              <a:gdLst/>
              <a:ahLst/>
              <a:cxnLst/>
              <a:rect l="l" t="t" r="r" b="b"/>
              <a:pathLst>
                <a:path w="466598" h="233203">
                  <a:moveTo>
                    <a:pt x="233299" y="0"/>
                  </a:moveTo>
                  <a:cubicBezTo>
                    <a:pt x="104451" y="0"/>
                    <a:pt x="0" y="52204"/>
                    <a:pt x="0" y="116601"/>
                  </a:cubicBezTo>
                  <a:cubicBezTo>
                    <a:pt x="0" y="180999"/>
                    <a:pt x="104451" y="233203"/>
                    <a:pt x="233299" y="233203"/>
                  </a:cubicBezTo>
                  <a:cubicBezTo>
                    <a:pt x="362146" y="233203"/>
                    <a:pt x="466598" y="180999"/>
                    <a:pt x="466598" y="116601"/>
                  </a:cubicBezTo>
                  <a:cubicBezTo>
                    <a:pt x="466598" y="52204"/>
                    <a:pt x="362146" y="0"/>
                    <a:pt x="233299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744" y="-35287"/>
              <a:ext cx="379111" cy="24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17048" y="3905246"/>
            <a:ext cx="806078" cy="590610"/>
            <a:chOff x="0" y="0"/>
            <a:chExt cx="359841" cy="26365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59841" cy="263654"/>
            </a:xfrm>
            <a:custGeom>
              <a:avLst/>
              <a:gdLst/>
              <a:ahLst/>
              <a:cxnLst/>
              <a:rect l="l" t="t" r="r" b="b"/>
              <a:pathLst>
                <a:path w="359841" h="263654">
                  <a:moveTo>
                    <a:pt x="179920" y="0"/>
                  </a:moveTo>
                  <a:cubicBezTo>
                    <a:pt x="80553" y="0"/>
                    <a:pt x="0" y="59021"/>
                    <a:pt x="0" y="131827"/>
                  </a:cubicBezTo>
                  <a:cubicBezTo>
                    <a:pt x="0" y="204633"/>
                    <a:pt x="80553" y="263654"/>
                    <a:pt x="179920" y="263654"/>
                  </a:cubicBezTo>
                  <a:cubicBezTo>
                    <a:pt x="279288" y="263654"/>
                    <a:pt x="359841" y="204633"/>
                    <a:pt x="359841" y="131827"/>
                  </a:cubicBezTo>
                  <a:cubicBezTo>
                    <a:pt x="359841" y="59021"/>
                    <a:pt x="279288" y="0"/>
                    <a:pt x="17992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735" y="-32432"/>
              <a:ext cx="292371" cy="271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192616" y="3870637"/>
            <a:ext cx="806078" cy="590610"/>
            <a:chOff x="0" y="0"/>
            <a:chExt cx="359841" cy="26365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59841" cy="263654"/>
            </a:xfrm>
            <a:custGeom>
              <a:avLst/>
              <a:gdLst/>
              <a:ahLst/>
              <a:cxnLst/>
              <a:rect l="l" t="t" r="r" b="b"/>
              <a:pathLst>
                <a:path w="359841" h="263654">
                  <a:moveTo>
                    <a:pt x="179920" y="0"/>
                  </a:moveTo>
                  <a:cubicBezTo>
                    <a:pt x="80553" y="0"/>
                    <a:pt x="0" y="59021"/>
                    <a:pt x="0" y="131827"/>
                  </a:cubicBezTo>
                  <a:cubicBezTo>
                    <a:pt x="0" y="204633"/>
                    <a:pt x="80553" y="263654"/>
                    <a:pt x="179920" y="263654"/>
                  </a:cubicBezTo>
                  <a:cubicBezTo>
                    <a:pt x="279288" y="263654"/>
                    <a:pt x="359841" y="204633"/>
                    <a:pt x="359841" y="131827"/>
                  </a:cubicBezTo>
                  <a:cubicBezTo>
                    <a:pt x="359841" y="59021"/>
                    <a:pt x="279288" y="0"/>
                    <a:pt x="17992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735" y="-32432"/>
              <a:ext cx="292371" cy="271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4584227" y="3192794"/>
            <a:ext cx="1721840" cy="1087478"/>
          </a:xfrm>
          <a:custGeom>
            <a:avLst/>
            <a:gdLst/>
            <a:ahLst/>
            <a:cxnLst/>
            <a:rect l="l" t="t" r="r" b="b"/>
            <a:pathLst>
              <a:path w="1721840" h="1087478">
                <a:moveTo>
                  <a:pt x="0" y="0"/>
                </a:moveTo>
                <a:lnTo>
                  <a:pt x="1721841" y="0"/>
                </a:lnTo>
                <a:lnTo>
                  <a:pt x="1721841" y="1087479"/>
                </a:lnTo>
                <a:lnTo>
                  <a:pt x="0" y="10874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2287481" y="4461248"/>
            <a:ext cx="2932160" cy="1085385"/>
          </a:xfrm>
          <a:custGeom>
            <a:avLst/>
            <a:gdLst/>
            <a:ahLst/>
            <a:cxnLst/>
            <a:rect l="l" t="t" r="r" b="b"/>
            <a:pathLst>
              <a:path w="2932160" h="1085385">
                <a:moveTo>
                  <a:pt x="0" y="0"/>
                </a:moveTo>
                <a:lnTo>
                  <a:pt x="2932160" y="0"/>
                </a:lnTo>
                <a:lnTo>
                  <a:pt x="2932160" y="1085385"/>
                </a:lnTo>
                <a:lnTo>
                  <a:pt x="0" y="108538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2317203" y="5711078"/>
            <a:ext cx="3191357" cy="1085385"/>
          </a:xfrm>
          <a:custGeom>
            <a:avLst/>
            <a:gdLst/>
            <a:ahLst/>
            <a:cxnLst/>
            <a:rect l="l" t="t" r="r" b="b"/>
            <a:pathLst>
              <a:path w="3191357" h="1085385">
                <a:moveTo>
                  <a:pt x="0" y="0"/>
                </a:moveTo>
                <a:lnTo>
                  <a:pt x="3191357" y="0"/>
                </a:lnTo>
                <a:lnTo>
                  <a:pt x="3191357" y="1085386"/>
                </a:lnTo>
                <a:lnTo>
                  <a:pt x="0" y="108538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6303778" y="6731932"/>
            <a:ext cx="4703877" cy="1671428"/>
          </a:xfrm>
          <a:custGeom>
            <a:avLst/>
            <a:gdLst/>
            <a:ahLst/>
            <a:cxnLst/>
            <a:rect l="l" t="t" r="r" b="b"/>
            <a:pathLst>
              <a:path w="4703877" h="1671428">
                <a:moveTo>
                  <a:pt x="0" y="0"/>
                </a:moveTo>
                <a:lnTo>
                  <a:pt x="4703877" y="0"/>
                </a:lnTo>
                <a:lnTo>
                  <a:pt x="4703877" y="1671428"/>
                </a:lnTo>
                <a:lnTo>
                  <a:pt x="0" y="167142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12287481" y="7027747"/>
            <a:ext cx="4191401" cy="1431210"/>
          </a:xfrm>
          <a:custGeom>
            <a:avLst/>
            <a:gdLst/>
            <a:ahLst/>
            <a:cxnLst/>
            <a:rect l="l" t="t" r="r" b="b"/>
            <a:pathLst>
              <a:path w="4191401" h="1431210">
                <a:moveTo>
                  <a:pt x="0" y="0"/>
                </a:moveTo>
                <a:lnTo>
                  <a:pt x="4191401" y="0"/>
                </a:lnTo>
                <a:lnTo>
                  <a:pt x="4191401" y="1431210"/>
                </a:lnTo>
                <a:lnTo>
                  <a:pt x="0" y="143121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7345" y="5086734"/>
            <a:ext cx="4042903" cy="1675437"/>
          </a:xfrm>
          <a:prstGeom prst="rect">
            <a:avLst/>
          </a:prstGeom>
        </p:spPr>
      </p:pic>
      <p:sp>
        <p:nvSpPr>
          <p:cNvPr id="46" name="Freeform 46"/>
          <p:cNvSpPr/>
          <p:nvPr/>
        </p:nvSpPr>
        <p:spPr>
          <a:xfrm>
            <a:off x="12317203" y="3337440"/>
            <a:ext cx="1375563" cy="895208"/>
          </a:xfrm>
          <a:custGeom>
            <a:avLst/>
            <a:gdLst/>
            <a:ahLst/>
            <a:cxnLst/>
            <a:rect l="l" t="t" r="r" b="b"/>
            <a:pathLst>
              <a:path w="1375563" h="895208">
                <a:moveTo>
                  <a:pt x="0" y="0"/>
                </a:moveTo>
                <a:lnTo>
                  <a:pt x="1375563" y="0"/>
                </a:lnTo>
                <a:lnTo>
                  <a:pt x="1375563" y="895208"/>
                </a:lnTo>
                <a:lnTo>
                  <a:pt x="0" y="89520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585953" y="3275063"/>
            <a:ext cx="2840222" cy="110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-5</a:t>
            </a:r>
          </a:p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8</a:t>
            </a:r>
          </a:p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4254" y="1171116"/>
            <a:ext cx="3770881" cy="70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3"/>
              </a:lnSpc>
            </a:pPr>
            <a:r>
              <a:rPr lang="en-US" sz="4546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Contoh Soal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-1310689" y="4888304"/>
            <a:ext cx="7818971" cy="49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0"/>
              </a:lnSpc>
            </a:pPr>
            <a:r>
              <a:rPr lang="en-US" sz="3152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Rumus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762671" y="1607143"/>
            <a:ext cx="4150210" cy="80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9"/>
              </a:lnSpc>
            </a:pPr>
            <a:r>
              <a:rPr lang="en-US" sz="517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Jawaban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57581" y="2126400"/>
            <a:ext cx="2041215" cy="51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296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Diketahui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03778" y="2827925"/>
            <a:ext cx="2840222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1: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287481" y="2772513"/>
            <a:ext cx="2840222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2: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79865" y="6219016"/>
            <a:ext cx="2840222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Belum dapat dilakukan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31424" y="8522819"/>
            <a:ext cx="5024460" cy="73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101">
                <a:solidFill>
                  <a:srgbClr val="309C2A"/>
                </a:solidFill>
                <a:latin typeface="TDTD가온"/>
                <a:ea typeface="TDTD가온"/>
                <a:cs typeface="TDTD가온"/>
                <a:sym typeface="TDTD가온"/>
              </a:rPr>
              <a:t>positif</a:t>
            </a: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xl = 1.5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371354" y="8573257"/>
            <a:ext cx="5024460" cy="73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101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negatif</a:t>
            </a: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xu = 4.75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4419" y="5509021"/>
            <a:ext cx="5385634" cy="2110096"/>
            <a:chOff x="0" y="0"/>
            <a:chExt cx="1698839" cy="6656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8839" cy="665606"/>
            </a:xfrm>
            <a:custGeom>
              <a:avLst/>
              <a:gdLst/>
              <a:ahLst/>
              <a:cxnLst/>
              <a:rect l="l" t="t" r="r" b="b"/>
              <a:pathLst>
                <a:path w="1698839" h="665606">
                  <a:moveTo>
                    <a:pt x="28750" y="0"/>
                  </a:moveTo>
                  <a:lnTo>
                    <a:pt x="1670089" y="0"/>
                  </a:lnTo>
                  <a:cubicBezTo>
                    <a:pt x="1685967" y="0"/>
                    <a:pt x="1698839" y="12872"/>
                    <a:pt x="1698839" y="28750"/>
                  </a:cubicBezTo>
                  <a:lnTo>
                    <a:pt x="1698839" y="636856"/>
                  </a:lnTo>
                  <a:cubicBezTo>
                    <a:pt x="1698839" y="652735"/>
                    <a:pt x="1685967" y="665606"/>
                    <a:pt x="1670089" y="665606"/>
                  </a:cubicBezTo>
                  <a:lnTo>
                    <a:pt x="28750" y="665606"/>
                  </a:lnTo>
                  <a:cubicBezTo>
                    <a:pt x="12872" y="665606"/>
                    <a:pt x="0" y="652735"/>
                    <a:pt x="0" y="636856"/>
                  </a:cubicBezTo>
                  <a:lnTo>
                    <a:pt x="0" y="28750"/>
                  </a:lnTo>
                  <a:cubicBezTo>
                    <a:pt x="0" y="12872"/>
                    <a:pt x="12872" y="0"/>
                    <a:pt x="287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98839" cy="72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46837" y="2528404"/>
            <a:ext cx="9112463" cy="6965970"/>
            <a:chOff x="0" y="0"/>
            <a:chExt cx="2381750" cy="18207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1750" cy="1820715"/>
            </a:xfrm>
            <a:custGeom>
              <a:avLst/>
              <a:gdLst/>
              <a:ahLst/>
              <a:cxnLst/>
              <a:rect l="l" t="t" r="r" b="b"/>
              <a:pathLst>
                <a:path w="2381750" h="1820715">
                  <a:moveTo>
                    <a:pt x="16992" y="0"/>
                  </a:moveTo>
                  <a:lnTo>
                    <a:pt x="2364758" y="0"/>
                  </a:lnTo>
                  <a:cubicBezTo>
                    <a:pt x="2369264" y="0"/>
                    <a:pt x="2373587" y="1790"/>
                    <a:pt x="2376773" y="4977"/>
                  </a:cubicBezTo>
                  <a:cubicBezTo>
                    <a:pt x="2379960" y="8163"/>
                    <a:pt x="2381750" y="12485"/>
                    <a:pt x="2381750" y="16992"/>
                  </a:cubicBezTo>
                  <a:lnTo>
                    <a:pt x="2381750" y="1803723"/>
                  </a:lnTo>
                  <a:cubicBezTo>
                    <a:pt x="2381750" y="1808230"/>
                    <a:pt x="2379960" y="1812552"/>
                    <a:pt x="2376773" y="1815738"/>
                  </a:cubicBezTo>
                  <a:cubicBezTo>
                    <a:pt x="2373587" y="1818925"/>
                    <a:pt x="2369264" y="1820715"/>
                    <a:pt x="2364758" y="1820715"/>
                  </a:cubicBezTo>
                  <a:lnTo>
                    <a:pt x="16992" y="1820715"/>
                  </a:lnTo>
                  <a:cubicBezTo>
                    <a:pt x="12485" y="1820715"/>
                    <a:pt x="8163" y="1818925"/>
                    <a:pt x="4977" y="1815738"/>
                  </a:cubicBezTo>
                  <a:cubicBezTo>
                    <a:pt x="1790" y="1812552"/>
                    <a:pt x="0" y="1808230"/>
                    <a:pt x="0" y="1803723"/>
                  </a:cubicBezTo>
                  <a:lnTo>
                    <a:pt x="0" y="16992"/>
                  </a:lnTo>
                  <a:cubicBezTo>
                    <a:pt x="0" y="12485"/>
                    <a:pt x="1790" y="8163"/>
                    <a:pt x="4977" y="4977"/>
                  </a:cubicBezTo>
                  <a:cubicBezTo>
                    <a:pt x="8163" y="1790"/>
                    <a:pt x="12485" y="0"/>
                    <a:pt x="1699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81750" cy="187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2625" y="2217728"/>
            <a:ext cx="6043490" cy="3052294"/>
            <a:chOff x="0" y="0"/>
            <a:chExt cx="1698839" cy="8580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98839" cy="858007"/>
            </a:xfrm>
            <a:custGeom>
              <a:avLst/>
              <a:gdLst/>
              <a:ahLst/>
              <a:cxnLst/>
              <a:rect l="l" t="t" r="r" b="b"/>
              <a:pathLst>
                <a:path w="1698839" h="858007">
                  <a:moveTo>
                    <a:pt x="25621" y="0"/>
                  </a:moveTo>
                  <a:lnTo>
                    <a:pt x="1673218" y="0"/>
                  </a:lnTo>
                  <a:cubicBezTo>
                    <a:pt x="1687368" y="0"/>
                    <a:pt x="1698839" y="11471"/>
                    <a:pt x="1698839" y="25621"/>
                  </a:cubicBezTo>
                  <a:lnTo>
                    <a:pt x="1698839" y="832386"/>
                  </a:lnTo>
                  <a:cubicBezTo>
                    <a:pt x="1698839" y="839181"/>
                    <a:pt x="1696139" y="845698"/>
                    <a:pt x="1691335" y="850503"/>
                  </a:cubicBezTo>
                  <a:cubicBezTo>
                    <a:pt x="1686530" y="855307"/>
                    <a:pt x="1680013" y="858007"/>
                    <a:pt x="1673218" y="858007"/>
                  </a:cubicBezTo>
                  <a:lnTo>
                    <a:pt x="25621" y="858007"/>
                  </a:lnTo>
                  <a:cubicBezTo>
                    <a:pt x="18826" y="858007"/>
                    <a:pt x="12309" y="855307"/>
                    <a:pt x="7504" y="850503"/>
                  </a:cubicBezTo>
                  <a:cubicBezTo>
                    <a:pt x="2699" y="845698"/>
                    <a:pt x="0" y="839181"/>
                    <a:pt x="0" y="832386"/>
                  </a:cubicBezTo>
                  <a:lnTo>
                    <a:pt x="0" y="25621"/>
                  </a:lnTo>
                  <a:cubicBezTo>
                    <a:pt x="0" y="18826"/>
                    <a:pt x="2699" y="12309"/>
                    <a:pt x="7504" y="7504"/>
                  </a:cubicBezTo>
                  <a:cubicBezTo>
                    <a:pt x="12309" y="2699"/>
                    <a:pt x="18826" y="0"/>
                    <a:pt x="2562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698839" cy="915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506504" y="227020"/>
            <a:ext cx="11274991" cy="93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Bagi Dua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2460606" y="433188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268099" y="34915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182" y="2522196"/>
            <a:ext cx="6151168" cy="1475280"/>
          </a:xfrm>
          <a:prstGeom prst="rect">
            <a:avLst/>
          </a:prstGeom>
        </p:spPr>
      </p:pic>
      <p:sp>
        <p:nvSpPr>
          <p:cNvPr id="18" name="Freeform 18"/>
          <p:cNvSpPr/>
          <p:nvPr/>
        </p:nvSpPr>
        <p:spPr>
          <a:xfrm>
            <a:off x="11526388" y="2992567"/>
            <a:ext cx="2882066" cy="1502616"/>
          </a:xfrm>
          <a:custGeom>
            <a:avLst/>
            <a:gdLst/>
            <a:ahLst/>
            <a:cxnLst/>
            <a:rect l="l" t="t" r="r" b="b"/>
            <a:pathLst>
              <a:path w="2882066" h="1502616">
                <a:moveTo>
                  <a:pt x="0" y="0"/>
                </a:moveTo>
                <a:lnTo>
                  <a:pt x="2882066" y="0"/>
                </a:lnTo>
                <a:lnTo>
                  <a:pt x="2882066" y="1502616"/>
                </a:lnTo>
                <a:lnTo>
                  <a:pt x="0" y="1502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539380" y="4931955"/>
            <a:ext cx="5364857" cy="1985886"/>
          </a:xfrm>
          <a:custGeom>
            <a:avLst/>
            <a:gdLst/>
            <a:ahLst/>
            <a:cxnLst/>
            <a:rect l="l" t="t" r="r" b="b"/>
            <a:pathLst>
              <a:path w="5364857" h="1985886">
                <a:moveTo>
                  <a:pt x="0" y="0"/>
                </a:moveTo>
                <a:lnTo>
                  <a:pt x="5364857" y="0"/>
                </a:lnTo>
                <a:lnTo>
                  <a:pt x="5364857" y="1985886"/>
                </a:lnTo>
                <a:lnTo>
                  <a:pt x="0" y="19858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539380" y="7279791"/>
            <a:ext cx="5519155" cy="1795065"/>
          </a:xfrm>
          <a:custGeom>
            <a:avLst/>
            <a:gdLst/>
            <a:ahLst/>
            <a:cxnLst/>
            <a:rect l="l" t="t" r="r" b="b"/>
            <a:pathLst>
              <a:path w="5519155" h="1795065">
                <a:moveTo>
                  <a:pt x="0" y="0"/>
                </a:moveTo>
                <a:lnTo>
                  <a:pt x="5519155" y="0"/>
                </a:lnTo>
                <a:lnTo>
                  <a:pt x="5519155" y="1795065"/>
                </a:lnTo>
                <a:lnTo>
                  <a:pt x="0" y="17950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2341298" y="3921077"/>
            <a:ext cx="1148974" cy="720299"/>
            <a:chOff x="0" y="0"/>
            <a:chExt cx="466598" cy="2925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6598" cy="292513"/>
            </a:xfrm>
            <a:custGeom>
              <a:avLst/>
              <a:gdLst/>
              <a:ahLst/>
              <a:cxnLst/>
              <a:rect l="l" t="t" r="r" b="b"/>
              <a:pathLst>
                <a:path w="466598" h="292513">
                  <a:moveTo>
                    <a:pt x="233299" y="0"/>
                  </a:moveTo>
                  <a:cubicBezTo>
                    <a:pt x="104451" y="0"/>
                    <a:pt x="0" y="65481"/>
                    <a:pt x="0" y="146257"/>
                  </a:cubicBezTo>
                  <a:cubicBezTo>
                    <a:pt x="0" y="227032"/>
                    <a:pt x="104451" y="292513"/>
                    <a:pt x="233299" y="292513"/>
                  </a:cubicBezTo>
                  <a:cubicBezTo>
                    <a:pt x="362146" y="292513"/>
                    <a:pt x="466598" y="227032"/>
                    <a:pt x="466598" y="146257"/>
                  </a:cubicBezTo>
                  <a:cubicBezTo>
                    <a:pt x="466598" y="65481"/>
                    <a:pt x="362146" y="0"/>
                    <a:pt x="233299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744" y="-29727"/>
              <a:ext cx="379111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33024" y="6168701"/>
            <a:ext cx="1948693" cy="975993"/>
            <a:chOff x="0" y="0"/>
            <a:chExt cx="791364" cy="3963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91364" cy="396350"/>
            </a:xfrm>
            <a:custGeom>
              <a:avLst/>
              <a:gdLst/>
              <a:ahLst/>
              <a:cxnLst/>
              <a:rect l="l" t="t" r="r" b="b"/>
              <a:pathLst>
                <a:path w="791364" h="396350">
                  <a:moveTo>
                    <a:pt x="395682" y="0"/>
                  </a:moveTo>
                  <a:cubicBezTo>
                    <a:pt x="177153" y="0"/>
                    <a:pt x="0" y="88726"/>
                    <a:pt x="0" y="198175"/>
                  </a:cubicBezTo>
                  <a:cubicBezTo>
                    <a:pt x="0" y="307624"/>
                    <a:pt x="177153" y="396350"/>
                    <a:pt x="395682" y="396350"/>
                  </a:cubicBezTo>
                  <a:cubicBezTo>
                    <a:pt x="614211" y="396350"/>
                    <a:pt x="791364" y="307624"/>
                    <a:pt x="791364" y="198175"/>
                  </a:cubicBezTo>
                  <a:cubicBezTo>
                    <a:pt x="791364" y="88726"/>
                    <a:pt x="614211" y="0"/>
                    <a:pt x="395682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190" y="-19992"/>
              <a:ext cx="642983" cy="379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58824" y="8381666"/>
            <a:ext cx="1948693" cy="975993"/>
            <a:chOff x="0" y="0"/>
            <a:chExt cx="791364" cy="3963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1364" cy="396350"/>
            </a:xfrm>
            <a:custGeom>
              <a:avLst/>
              <a:gdLst/>
              <a:ahLst/>
              <a:cxnLst/>
              <a:rect l="l" t="t" r="r" b="b"/>
              <a:pathLst>
                <a:path w="791364" h="396350">
                  <a:moveTo>
                    <a:pt x="395682" y="0"/>
                  </a:moveTo>
                  <a:cubicBezTo>
                    <a:pt x="177153" y="0"/>
                    <a:pt x="0" y="88726"/>
                    <a:pt x="0" y="198175"/>
                  </a:cubicBezTo>
                  <a:cubicBezTo>
                    <a:pt x="0" y="307624"/>
                    <a:pt x="177153" y="396350"/>
                    <a:pt x="395682" y="396350"/>
                  </a:cubicBezTo>
                  <a:cubicBezTo>
                    <a:pt x="614211" y="396350"/>
                    <a:pt x="791364" y="307624"/>
                    <a:pt x="791364" y="198175"/>
                  </a:cubicBezTo>
                  <a:cubicBezTo>
                    <a:pt x="791364" y="88726"/>
                    <a:pt x="614211" y="0"/>
                    <a:pt x="395682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190" y="-19992"/>
              <a:ext cx="642983" cy="379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5784" y="5974667"/>
            <a:ext cx="4042903" cy="1675437"/>
          </a:xfrm>
          <a:prstGeom prst="rect">
            <a:avLst/>
          </a:prstGeom>
        </p:spPr>
      </p:pic>
      <p:sp>
        <p:nvSpPr>
          <p:cNvPr id="31" name="Freeform 31"/>
          <p:cNvSpPr/>
          <p:nvPr/>
        </p:nvSpPr>
        <p:spPr>
          <a:xfrm>
            <a:off x="8539380" y="3259836"/>
            <a:ext cx="2460517" cy="1401128"/>
          </a:xfrm>
          <a:custGeom>
            <a:avLst/>
            <a:gdLst/>
            <a:ahLst/>
            <a:cxnLst/>
            <a:rect l="l" t="t" r="r" b="b"/>
            <a:pathLst>
              <a:path w="2460517" h="1401128">
                <a:moveTo>
                  <a:pt x="0" y="0"/>
                </a:moveTo>
                <a:lnTo>
                  <a:pt x="2460517" y="0"/>
                </a:lnTo>
                <a:lnTo>
                  <a:pt x="2460517" y="1401127"/>
                </a:lnTo>
                <a:lnTo>
                  <a:pt x="0" y="1401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292199" y="3649140"/>
            <a:ext cx="3393626" cy="132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251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-5</a:t>
            </a:r>
          </a:p>
          <a:p>
            <a:pPr algn="l">
              <a:lnSpc>
                <a:spcPts val="3514"/>
              </a:lnSpc>
            </a:pPr>
            <a:r>
              <a:rPr lang="en-US" sz="251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8</a:t>
            </a:r>
          </a:p>
          <a:p>
            <a:pPr algn="l">
              <a:lnSpc>
                <a:spcPts val="3514"/>
              </a:lnSpc>
            </a:pPr>
            <a:r>
              <a:rPr lang="en-US" sz="251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-3038699" y="1315834"/>
            <a:ext cx="13471870" cy="85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3"/>
              </a:lnSpc>
            </a:pPr>
            <a:r>
              <a:rPr lang="en-US" sz="5431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Contoh Soal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-973994" y="5580671"/>
            <a:ext cx="9342460" cy="58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3766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Rumus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33024" y="1495093"/>
            <a:ext cx="4150210" cy="80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9"/>
              </a:lnSpc>
            </a:pPr>
            <a:r>
              <a:rPr lang="en-US" sz="517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Jawaban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58300" y="2280378"/>
            <a:ext cx="2438936" cy="610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6"/>
              </a:lnSpc>
            </a:pPr>
            <a:r>
              <a:rPr lang="en-US" sz="354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Diketahui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68466" y="2684880"/>
            <a:ext cx="2840222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3: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1850-1122-7B5D-C3D7-B88C680D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40" y="1790700"/>
            <a:ext cx="3673592" cy="1143000"/>
          </a:xfrm>
          <a:ln>
            <a:solidFill>
              <a:schemeClr val="accent6">
                <a:lumMod val="50000"/>
              </a:schemeClr>
            </a:solidFill>
          </a:ln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0A3C5-2996-7F02-D143-7E2E07F1F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9404"/>
            <a:ext cx="5143500" cy="6629096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 err="1"/>
              <a:t>Carilah</a:t>
            </a:r>
            <a:r>
              <a:rPr lang="en-US" dirty="0"/>
              <a:t> </a:t>
            </a:r>
            <a:r>
              <a:rPr lang="en-US" dirty="0" err="1"/>
              <a:t>akar</a:t>
            </a:r>
            <a:r>
              <a:rPr lang="en-US" dirty="0"/>
              <a:t> X,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br>
              <a:rPr lang="en-US" dirty="0"/>
            </a:br>
            <a:r>
              <a:rPr lang="en-US" b="1" dirty="0" err="1"/>
              <a:t>Metoda</a:t>
            </a:r>
            <a:r>
              <a:rPr lang="en-US" b="1" dirty="0"/>
              <a:t> </a:t>
            </a:r>
            <a:r>
              <a:rPr lang="en-US" b="1" dirty="0" err="1"/>
              <a:t>bagi</a:t>
            </a:r>
            <a:r>
              <a:rPr lang="en-US" b="1" dirty="0"/>
              <a:t> dua.</a:t>
            </a:r>
            <a:br>
              <a:rPr lang="en-US" dirty="0"/>
            </a:br>
            <a:r>
              <a:rPr lang="en-US" dirty="0" err="1"/>
              <a:t>Diketahui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f(x) =10 x</a:t>
            </a:r>
            <a:r>
              <a:rPr lang="en-US" baseline="30000" dirty="0"/>
              <a:t>3</a:t>
            </a:r>
            <a:r>
              <a:rPr lang="en-US" dirty="0"/>
              <a:t> - 220 x</a:t>
            </a:r>
            <a:r>
              <a:rPr lang="en-US" baseline="30000" dirty="0"/>
              <a:t>2</a:t>
            </a:r>
            <a:r>
              <a:rPr lang="en-US" dirty="0"/>
              <a:t> - 630 x + 3600</a:t>
            </a:r>
          </a:p>
          <a:p>
            <a:r>
              <a:rPr lang="en-US" dirty="0"/>
              <a:t>Batas </a:t>
            </a:r>
            <a:r>
              <a:rPr lang="en-US" dirty="0" err="1"/>
              <a:t>bawah</a:t>
            </a:r>
            <a:r>
              <a:rPr lang="en-US" dirty="0"/>
              <a:t> (</a:t>
            </a:r>
            <a:r>
              <a:rPr lang="en-US" dirty="0" err="1"/>
              <a:t>Xl</a:t>
            </a:r>
            <a:r>
              <a:rPr lang="en-US" dirty="0"/>
              <a:t>) = 18</a:t>
            </a:r>
          </a:p>
          <a:p>
            <a:r>
              <a:rPr lang="en-US" dirty="0"/>
              <a:t>Batas </a:t>
            </a:r>
            <a:r>
              <a:rPr lang="en-US" dirty="0" err="1"/>
              <a:t>atas</a:t>
            </a:r>
            <a:r>
              <a:rPr lang="en-US" dirty="0"/>
              <a:t> (Xu) = 37</a:t>
            </a:r>
          </a:p>
          <a:p>
            <a:r>
              <a:rPr lang="en-US" dirty="0"/>
              <a:t>Nilai X </a:t>
            </a:r>
            <a:r>
              <a:rPr lang="en-US" dirty="0" err="1"/>
              <a:t>sebenarnya</a:t>
            </a:r>
            <a:r>
              <a:rPr lang="en-US" dirty="0"/>
              <a:t> = 24</a:t>
            </a:r>
          </a:p>
          <a:p>
            <a:endParaRPr lang="en-US" dirty="0"/>
          </a:p>
          <a:p>
            <a:r>
              <a:rPr lang="en-US" dirty="0"/>
              <a:t>Pada </a:t>
            </a:r>
            <a:r>
              <a:rPr lang="en-US" dirty="0" err="1"/>
              <a:t>iterasi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Xr</a:t>
            </a:r>
            <a:r>
              <a:rPr lang="en-US" dirty="0"/>
              <a:t> = </a:t>
            </a:r>
            <a:r>
              <a:rPr lang="en-US" b="1" dirty="0"/>
              <a:t>27.5</a:t>
            </a:r>
            <a:br>
              <a:rPr lang="en-US" dirty="0"/>
            </a:br>
            <a:r>
              <a:rPr lang="en-US" dirty="0"/>
              <a:t>Et = </a:t>
            </a:r>
            <a:r>
              <a:rPr lang="en-US" b="1" dirty="0"/>
              <a:t>14.58</a:t>
            </a:r>
            <a:endParaRPr lang="en-US" dirty="0"/>
          </a:p>
          <a:p>
            <a:endParaRPr lang="en-US" dirty="0"/>
          </a:p>
          <a:p>
            <a:r>
              <a:rPr lang="en-US" dirty="0"/>
              <a:t>Pada </a:t>
            </a:r>
            <a:r>
              <a:rPr lang="en-US" dirty="0" err="1"/>
              <a:t>iterasi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Xr</a:t>
            </a:r>
            <a:r>
              <a:rPr lang="en-US" dirty="0"/>
              <a:t> = </a:t>
            </a:r>
            <a:r>
              <a:rPr lang="en-US" b="1" dirty="0"/>
              <a:t>22.75</a:t>
            </a:r>
            <a:endParaRPr lang="en-US" dirty="0"/>
          </a:p>
          <a:p>
            <a:r>
              <a:rPr lang="en-US" dirty="0" err="1"/>
              <a:t>Ea</a:t>
            </a:r>
            <a:r>
              <a:rPr lang="en-US" dirty="0"/>
              <a:t> = </a:t>
            </a:r>
            <a:r>
              <a:rPr lang="en-US" b="1" dirty="0"/>
              <a:t>20.88</a:t>
            </a:r>
            <a:endParaRPr lang="en-US" dirty="0"/>
          </a:p>
          <a:p>
            <a:endParaRPr lang="en-US" dirty="0"/>
          </a:p>
          <a:p>
            <a:r>
              <a:rPr lang="en-US" dirty="0"/>
              <a:t>Pada </a:t>
            </a:r>
            <a:r>
              <a:rPr lang="en-US" dirty="0" err="1"/>
              <a:t>iterasi</a:t>
            </a:r>
            <a:r>
              <a:rPr lang="en-US" dirty="0"/>
              <a:t> </a:t>
            </a:r>
            <a:r>
              <a:rPr lang="en-US" dirty="0" err="1"/>
              <a:t>ketiga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Xr</a:t>
            </a:r>
            <a:r>
              <a:rPr lang="en-US" dirty="0"/>
              <a:t> = </a:t>
            </a:r>
            <a:r>
              <a:rPr lang="en-US" b="1" dirty="0"/>
              <a:t>25.13</a:t>
            </a:r>
            <a:br>
              <a:rPr lang="en-US" b="1" dirty="0"/>
            </a:br>
            <a:r>
              <a:rPr lang="en-US" dirty="0"/>
              <a:t>Et = </a:t>
            </a:r>
            <a:r>
              <a:rPr lang="en-US" b="1" dirty="0"/>
              <a:t>4.71</a:t>
            </a:r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CAD02C-1125-1E62-C45C-3BD3E4B62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796" y="3390900"/>
            <a:ext cx="5061204" cy="61722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2C8DCE-0690-1B4E-B305-31A6FA49F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040" y="647700"/>
            <a:ext cx="4429160" cy="6136007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B69651-9B2B-DFA6-27E5-B1BFB061D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5400" y="3976639"/>
            <a:ext cx="4953000" cy="6143721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733386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C936-0B9E-5DAD-029E-F73FF852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4ED7E-97A8-78FF-2B51-30A17D02D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912" b="-32890"/>
          <a:stretch>
            <a:fillRect/>
          </a:stretch>
        </p:blipFill>
        <p:spPr>
          <a:xfrm>
            <a:off x="457201" y="1481159"/>
            <a:ext cx="3718559" cy="1528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6ACC95-ADC6-C0C1-4276-DD3D633F8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3210"/>
            <a:ext cx="3718560" cy="7351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D69F23-A94E-E8F4-1EC5-572F20646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1797121"/>
            <a:ext cx="12083054" cy="747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38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4627" y="7684747"/>
            <a:ext cx="5037451" cy="1973678"/>
            <a:chOff x="0" y="0"/>
            <a:chExt cx="1698839" cy="6656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8839" cy="665606"/>
            </a:xfrm>
            <a:custGeom>
              <a:avLst/>
              <a:gdLst/>
              <a:ahLst/>
              <a:cxnLst/>
              <a:rect l="l" t="t" r="r" b="b"/>
              <a:pathLst>
                <a:path w="1698839" h="665606">
                  <a:moveTo>
                    <a:pt x="30737" y="0"/>
                  </a:moveTo>
                  <a:lnTo>
                    <a:pt x="1668101" y="0"/>
                  </a:lnTo>
                  <a:cubicBezTo>
                    <a:pt x="1685077" y="0"/>
                    <a:pt x="1698839" y="13762"/>
                    <a:pt x="1698839" y="30737"/>
                  </a:cubicBezTo>
                  <a:lnTo>
                    <a:pt x="1698839" y="634869"/>
                  </a:lnTo>
                  <a:cubicBezTo>
                    <a:pt x="1698839" y="651845"/>
                    <a:pt x="1685077" y="665606"/>
                    <a:pt x="1668101" y="665606"/>
                  </a:cubicBezTo>
                  <a:lnTo>
                    <a:pt x="30737" y="665606"/>
                  </a:lnTo>
                  <a:cubicBezTo>
                    <a:pt x="13762" y="665606"/>
                    <a:pt x="0" y="651845"/>
                    <a:pt x="0" y="634869"/>
                  </a:cubicBezTo>
                  <a:lnTo>
                    <a:pt x="0" y="30737"/>
                  </a:lnTo>
                  <a:cubicBezTo>
                    <a:pt x="0" y="13762"/>
                    <a:pt x="13762" y="0"/>
                    <a:pt x="3073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98839" cy="72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52277" y="2592184"/>
            <a:ext cx="9861939" cy="6965970"/>
            <a:chOff x="0" y="0"/>
            <a:chExt cx="2577642" cy="18207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77642" cy="1820715"/>
            </a:xfrm>
            <a:custGeom>
              <a:avLst/>
              <a:gdLst/>
              <a:ahLst/>
              <a:cxnLst/>
              <a:rect l="l" t="t" r="r" b="b"/>
              <a:pathLst>
                <a:path w="2577642" h="1820715">
                  <a:moveTo>
                    <a:pt x="15701" y="0"/>
                  </a:moveTo>
                  <a:lnTo>
                    <a:pt x="2561942" y="0"/>
                  </a:lnTo>
                  <a:cubicBezTo>
                    <a:pt x="2566106" y="0"/>
                    <a:pt x="2570100" y="1654"/>
                    <a:pt x="2573044" y="4599"/>
                  </a:cubicBezTo>
                  <a:cubicBezTo>
                    <a:pt x="2575988" y="7543"/>
                    <a:pt x="2577642" y="11537"/>
                    <a:pt x="2577642" y="15701"/>
                  </a:cubicBezTo>
                  <a:lnTo>
                    <a:pt x="2577642" y="1805014"/>
                  </a:lnTo>
                  <a:cubicBezTo>
                    <a:pt x="2577642" y="1809179"/>
                    <a:pt x="2575988" y="1813172"/>
                    <a:pt x="2573044" y="1816116"/>
                  </a:cubicBezTo>
                  <a:cubicBezTo>
                    <a:pt x="2570100" y="1819061"/>
                    <a:pt x="2566106" y="1820715"/>
                    <a:pt x="2561942" y="1820715"/>
                  </a:cubicBezTo>
                  <a:lnTo>
                    <a:pt x="15701" y="1820715"/>
                  </a:lnTo>
                  <a:cubicBezTo>
                    <a:pt x="11537" y="1820715"/>
                    <a:pt x="7543" y="1819061"/>
                    <a:pt x="4599" y="1816116"/>
                  </a:cubicBezTo>
                  <a:cubicBezTo>
                    <a:pt x="1654" y="1813172"/>
                    <a:pt x="0" y="1809179"/>
                    <a:pt x="0" y="1805014"/>
                  </a:cubicBezTo>
                  <a:lnTo>
                    <a:pt x="0" y="15701"/>
                  </a:lnTo>
                  <a:cubicBezTo>
                    <a:pt x="0" y="11537"/>
                    <a:pt x="1654" y="7543"/>
                    <a:pt x="4599" y="4599"/>
                  </a:cubicBezTo>
                  <a:cubicBezTo>
                    <a:pt x="7543" y="1654"/>
                    <a:pt x="11537" y="0"/>
                    <a:pt x="1570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77642" cy="187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3600" y="2076868"/>
            <a:ext cx="5057969" cy="5455480"/>
            <a:chOff x="0" y="0"/>
            <a:chExt cx="1698839" cy="18323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98839" cy="1832352"/>
            </a:xfrm>
            <a:custGeom>
              <a:avLst/>
              <a:gdLst/>
              <a:ahLst/>
              <a:cxnLst/>
              <a:rect l="l" t="t" r="r" b="b"/>
              <a:pathLst>
                <a:path w="1698839" h="1832352">
                  <a:moveTo>
                    <a:pt x="30613" y="0"/>
                  </a:moveTo>
                  <a:lnTo>
                    <a:pt x="1668226" y="0"/>
                  </a:lnTo>
                  <a:cubicBezTo>
                    <a:pt x="1685133" y="0"/>
                    <a:pt x="1698839" y="13706"/>
                    <a:pt x="1698839" y="30613"/>
                  </a:cubicBezTo>
                  <a:lnTo>
                    <a:pt x="1698839" y="1801739"/>
                  </a:lnTo>
                  <a:cubicBezTo>
                    <a:pt x="1698839" y="1809858"/>
                    <a:pt x="1695614" y="1817645"/>
                    <a:pt x="1689872" y="1823386"/>
                  </a:cubicBezTo>
                  <a:cubicBezTo>
                    <a:pt x="1684132" y="1829127"/>
                    <a:pt x="1676345" y="1832352"/>
                    <a:pt x="1668226" y="1832352"/>
                  </a:cubicBezTo>
                  <a:lnTo>
                    <a:pt x="30613" y="1832352"/>
                  </a:lnTo>
                  <a:cubicBezTo>
                    <a:pt x="22494" y="1832352"/>
                    <a:pt x="14707" y="1829127"/>
                    <a:pt x="8966" y="1823386"/>
                  </a:cubicBezTo>
                  <a:cubicBezTo>
                    <a:pt x="3225" y="1817645"/>
                    <a:pt x="0" y="1809858"/>
                    <a:pt x="0" y="1801739"/>
                  </a:cubicBezTo>
                  <a:lnTo>
                    <a:pt x="0" y="30613"/>
                  </a:lnTo>
                  <a:cubicBezTo>
                    <a:pt x="0" y="22494"/>
                    <a:pt x="3225" y="14707"/>
                    <a:pt x="8966" y="8966"/>
                  </a:cubicBezTo>
                  <a:cubicBezTo>
                    <a:pt x="14707" y="3225"/>
                    <a:pt x="22494" y="0"/>
                    <a:pt x="3061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698839" cy="1889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506504" y="227020"/>
            <a:ext cx="11274991" cy="93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Bagi Dua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2460606" y="433188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268099" y="34915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32" y="2365169"/>
            <a:ext cx="4746284" cy="1167736"/>
          </a:xfrm>
          <a:prstGeom prst="rect">
            <a:avLst/>
          </a:prstGeom>
        </p:spPr>
      </p:pic>
      <p:sp>
        <p:nvSpPr>
          <p:cNvPr id="18" name="Freeform 18"/>
          <p:cNvSpPr/>
          <p:nvPr/>
        </p:nvSpPr>
        <p:spPr>
          <a:xfrm>
            <a:off x="6303778" y="3235981"/>
            <a:ext cx="2060480" cy="1340947"/>
          </a:xfrm>
          <a:custGeom>
            <a:avLst/>
            <a:gdLst/>
            <a:ahLst/>
            <a:cxnLst/>
            <a:rect l="l" t="t" r="r" b="b"/>
            <a:pathLst>
              <a:path w="2060480" h="1340947">
                <a:moveTo>
                  <a:pt x="0" y="0"/>
                </a:moveTo>
                <a:lnTo>
                  <a:pt x="2060480" y="0"/>
                </a:lnTo>
                <a:lnTo>
                  <a:pt x="2060480" y="1340948"/>
                </a:lnTo>
                <a:lnTo>
                  <a:pt x="0" y="13409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9762671" y="3011997"/>
            <a:ext cx="2477808" cy="1564931"/>
          </a:xfrm>
          <a:custGeom>
            <a:avLst/>
            <a:gdLst/>
            <a:ahLst/>
            <a:cxnLst/>
            <a:rect l="l" t="t" r="r" b="b"/>
            <a:pathLst>
              <a:path w="2477808" h="1564931">
                <a:moveTo>
                  <a:pt x="0" y="0"/>
                </a:moveTo>
                <a:lnTo>
                  <a:pt x="2477808" y="0"/>
                </a:lnTo>
                <a:lnTo>
                  <a:pt x="2477808" y="1564932"/>
                </a:lnTo>
                <a:lnTo>
                  <a:pt x="0" y="15649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6303778" y="4948404"/>
            <a:ext cx="4250029" cy="1655535"/>
          </a:xfrm>
          <a:custGeom>
            <a:avLst/>
            <a:gdLst/>
            <a:ahLst/>
            <a:cxnLst/>
            <a:rect l="l" t="t" r="r" b="b"/>
            <a:pathLst>
              <a:path w="4250029" h="1655535">
                <a:moveTo>
                  <a:pt x="0" y="0"/>
                </a:moveTo>
                <a:lnTo>
                  <a:pt x="4250029" y="0"/>
                </a:lnTo>
                <a:lnTo>
                  <a:pt x="4250029" y="1655534"/>
                </a:lnTo>
                <a:lnTo>
                  <a:pt x="0" y="1655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1458682" y="5437692"/>
            <a:ext cx="857481" cy="338479"/>
          </a:xfrm>
          <a:custGeom>
            <a:avLst/>
            <a:gdLst/>
            <a:ahLst/>
            <a:cxnLst/>
            <a:rect l="l" t="t" r="r" b="b"/>
            <a:pathLst>
              <a:path w="857481" h="338479">
                <a:moveTo>
                  <a:pt x="0" y="0"/>
                </a:moveTo>
                <a:lnTo>
                  <a:pt x="857481" y="0"/>
                </a:lnTo>
                <a:lnTo>
                  <a:pt x="857481" y="338479"/>
                </a:lnTo>
                <a:lnTo>
                  <a:pt x="0" y="3384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6303778" y="6910270"/>
            <a:ext cx="3686725" cy="1483165"/>
          </a:xfrm>
          <a:custGeom>
            <a:avLst/>
            <a:gdLst/>
            <a:ahLst/>
            <a:cxnLst/>
            <a:rect l="l" t="t" r="r" b="b"/>
            <a:pathLst>
              <a:path w="3686725" h="1483165">
                <a:moveTo>
                  <a:pt x="0" y="0"/>
                </a:moveTo>
                <a:lnTo>
                  <a:pt x="3686725" y="0"/>
                </a:lnTo>
                <a:lnTo>
                  <a:pt x="3686725" y="1483165"/>
                </a:lnTo>
                <a:lnTo>
                  <a:pt x="0" y="14831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85953" y="3275063"/>
            <a:ext cx="2840222" cy="110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-2</a:t>
            </a:r>
          </a:p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3</a:t>
            </a:r>
          </a:p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3038699" y="1334884"/>
            <a:ext cx="11274991" cy="70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3"/>
              </a:lnSpc>
            </a:pPr>
            <a:r>
              <a:rPr lang="en-US" sz="4546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Contoh Soal 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1485882" y="7760058"/>
            <a:ext cx="8738468" cy="54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523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Rumus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78702" y="1607143"/>
            <a:ext cx="4150210" cy="80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9"/>
              </a:lnSpc>
            </a:pPr>
            <a:r>
              <a:rPr lang="en-US" sz="517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Jawaban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7581" y="2126400"/>
            <a:ext cx="2041215" cy="51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296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Diketahui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5953" y="4457356"/>
            <a:ext cx="4594799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akar x dengan menggunakan metoda bagi dua (nilai 24)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5953" y="5187693"/>
            <a:ext cx="4594799" cy="201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814" lvl="1" indent="-205407" algn="l">
              <a:lnSpc>
                <a:spcPts val="2663"/>
              </a:lnSpc>
              <a:buFont typeface="Arial"/>
              <a:buChar char="•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catatan: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tiap iterasi cari Et dan Ea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ketelitian 2 angka di belakang koma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iterasi 1 sampai iterasi 3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tuliskan rumusnya terlebih dahulu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03778" y="2742790"/>
            <a:ext cx="2840222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1: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03778" y="8641085"/>
            <a:ext cx="8508758" cy="415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401">
                <a:solidFill>
                  <a:srgbClr val="309C2A"/>
                </a:solidFill>
                <a:latin typeface="TDTD가온"/>
                <a:ea typeface="TDTD가온"/>
                <a:cs typeface="TDTD가온"/>
                <a:sym typeface="TDTD가온"/>
              </a:rPr>
              <a:t>positif</a:t>
            </a: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xl = 0.5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558157" y="3977102"/>
            <a:ext cx="1148974" cy="720299"/>
            <a:chOff x="0" y="0"/>
            <a:chExt cx="466598" cy="2925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66598" cy="292513"/>
            </a:xfrm>
            <a:custGeom>
              <a:avLst/>
              <a:gdLst/>
              <a:ahLst/>
              <a:cxnLst/>
              <a:rect l="l" t="t" r="r" b="b"/>
              <a:pathLst>
                <a:path w="466598" h="292513">
                  <a:moveTo>
                    <a:pt x="233299" y="0"/>
                  </a:moveTo>
                  <a:cubicBezTo>
                    <a:pt x="104451" y="0"/>
                    <a:pt x="0" y="65481"/>
                    <a:pt x="0" y="146257"/>
                  </a:cubicBezTo>
                  <a:cubicBezTo>
                    <a:pt x="0" y="227032"/>
                    <a:pt x="104451" y="292513"/>
                    <a:pt x="233299" y="292513"/>
                  </a:cubicBezTo>
                  <a:cubicBezTo>
                    <a:pt x="362146" y="292513"/>
                    <a:pt x="466598" y="227032"/>
                    <a:pt x="466598" y="146257"/>
                  </a:cubicBezTo>
                  <a:cubicBezTo>
                    <a:pt x="466598" y="65481"/>
                    <a:pt x="362146" y="0"/>
                    <a:pt x="233299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744" y="-29727"/>
              <a:ext cx="379111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49402" y="5945411"/>
            <a:ext cx="1148974" cy="850057"/>
            <a:chOff x="0" y="0"/>
            <a:chExt cx="466598" cy="34520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6598" cy="345208"/>
            </a:xfrm>
            <a:custGeom>
              <a:avLst/>
              <a:gdLst/>
              <a:ahLst/>
              <a:cxnLst/>
              <a:rect l="l" t="t" r="r" b="b"/>
              <a:pathLst>
                <a:path w="466598" h="345208">
                  <a:moveTo>
                    <a:pt x="233299" y="0"/>
                  </a:moveTo>
                  <a:cubicBezTo>
                    <a:pt x="104451" y="0"/>
                    <a:pt x="0" y="77277"/>
                    <a:pt x="0" y="172604"/>
                  </a:cubicBezTo>
                  <a:cubicBezTo>
                    <a:pt x="0" y="267931"/>
                    <a:pt x="104451" y="345208"/>
                    <a:pt x="233299" y="345208"/>
                  </a:cubicBezTo>
                  <a:cubicBezTo>
                    <a:pt x="362146" y="345208"/>
                    <a:pt x="466598" y="267931"/>
                    <a:pt x="466598" y="172604"/>
                  </a:cubicBezTo>
                  <a:cubicBezTo>
                    <a:pt x="466598" y="77277"/>
                    <a:pt x="362146" y="0"/>
                    <a:pt x="233299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744" y="-24787"/>
              <a:ext cx="379111" cy="337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510252" y="5390067"/>
            <a:ext cx="3044778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Belum Dapat Dilakukan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1900" y="8117270"/>
            <a:ext cx="4042903" cy="16754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97602" y="7807079"/>
            <a:ext cx="4507390" cy="1765999"/>
            <a:chOff x="0" y="0"/>
            <a:chExt cx="1698839" cy="6656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8839" cy="665606"/>
            </a:xfrm>
            <a:custGeom>
              <a:avLst/>
              <a:gdLst/>
              <a:ahLst/>
              <a:cxnLst/>
              <a:rect l="l" t="t" r="r" b="b"/>
              <a:pathLst>
                <a:path w="1698839" h="665606">
                  <a:moveTo>
                    <a:pt x="34352" y="0"/>
                  </a:moveTo>
                  <a:lnTo>
                    <a:pt x="1664487" y="0"/>
                  </a:lnTo>
                  <a:cubicBezTo>
                    <a:pt x="1683459" y="0"/>
                    <a:pt x="1698839" y="15380"/>
                    <a:pt x="1698839" y="34352"/>
                  </a:cubicBezTo>
                  <a:lnTo>
                    <a:pt x="1698839" y="631254"/>
                  </a:lnTo>
                  <a:cubicBezTo>
                    <a:pt x="1698839" y="650226"/>
                    <a:pt x="1683459" y="665606"/>
                    <a:pt x="1664487" y="665606"/>
                  </a:cubicBezTo>
                  <a:lnTo>
                    <a:pt x="34352" y="665606"/>
                  </a:lnTo>
                  <a:cubicBezTo>
                    <a:pt x="15380" y="665606"/>
                    <a:pt x="0" y="650226"/>
                    <a:pt x="0" y="631254"/>
                  </a:cubicBezTo>
                  <a:lnTo>
                    <a:pt x="0" y="34352"/>
                  </a:lnTo>
                  <a:cubicBezTo>
                    <a:pt x="0" y="15380"/>
                    <a:pt x="15380" y="0"/>
                    <a:pt x="343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98839" cy="72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6100" y="2076868"/>
            <a:ext cx="5057969" cy="5455480"/>
            <a:chOff x="0" y="0"/>
            <a:chExt cx="1698839" cy="18323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8839" cy="1832352"/>
            </a:xfrm>
            <a:custGeom>
              <a:avLst/>
              <a:gdLst/>
              <a:ahLst/>
              <a:cxnLst/>
              <a:rect l="l" t="t" r="r" b="b"/>
              <a:pathLst>
                <a:path w="1698839" h="1832352">
                  <a:moveTo>
                    <a:pt x="30613" y="0"/>
                  </a:moveTo>
                  <a:lnTo>
                    <a:pt x="1668226" y="0"/>
                  </a:lnTo>
                  <a:cubicBezTo>
                    <a:pt x="1685133" y="0"/>
                    <a:pt x="1698839" y="13706"/>
                    <a:pt x="1698839" y="30613"/>
                  </a:cubicBezTo>
                  <a:lnTo>
                    <a:pt x="1698839" y="1801739"/>
                  </a:lnTo>
                  <a:cubicBezTo>
                    <a:pt x="1698839" y="1809858"/>
                    <a:pt x="1695614" y="1817645"/>
                    <a:pt x="1689872" y="1823386"/>
                  </a:cubicBezTo>
                  <a:cubicBezTo>
                    <a:pt x="1684132" y="1829127"/>
                    <a:pt x="1676345" y="1832352"/>
                    <a:pt x="1668226" y="1832352"/>
                  </a:cubicBezTo>
                  <a:lnTo>
                    <a:pt x="30613" y="1832352"/>
                  </a:lnTo>
                  <a:cubicBezTo>
                    <a:pt x="22494" y="1832352"/>
                    <a:pt x="14707" y="1829127"/>
                    <a:pt x="8966" y="1823386"/>
                  </a:cubicBezTo>
                  <a:cubicBezTo>
                    <a:pt x="3225" y="1817645"/>
                    <a:pt x="0" y="1809858"/>
                    <a:pt x="0" y="1801739"/>
                  </a:cubicBezTo>
                  <a:lnTo>
                    <a:pt x="0" y="30613"/>
                  </a:lnTo>
                  <a:cubicBezTo>
                    <a:pt x="0" y="22494"/>
                    <a:pt x="3225" y="14707"/>
                    <a:pt x="8966" y="8966"/>
                  </a:cubicBezTo>
                  <a:cubicBezTo>
                    <a:pt x="14707" y="3225"/>
                    <a:pt x="22494" y="0"/>
                    <a:pt x="3061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698839" cy="1889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506504" y="227020"/>
            <a:ext cx="11274991" cy="93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Bagi Dua</a:t>
            </a:r>
          </a:p>
        </p:txBody>
      </p:sp>
      <p:sp>
        <p:nvSpPr>
          <p:cNvPr id="12" name="Freeform 12"/>
          <p:cNvSpPr/>
          <p:nvPr/>
        </p:nvSpPr>
        <p:spPr>
          <a:xfrm flipH="1">
            <a:off x="12460606" y="433188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268099" y="34915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332" y="2365169"/>
            <a:ext cx="4746284" cy="1167736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-358189" y="7863938"/>
            <a:ext cx="7818971" cy="49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0"/>
              </a:lnSpc>
            </a:pPr>
            <a:r>
              <a:rPr lang="en-US" sz="3152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Rumus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831580" y="6560820"/>
            <a:ext cx="111442" cy="108585"/>
            <a:chOff x="0" y="0"/>
            <a:chExt cx="148590" cy="144780"/>
          </a:xfrm>
        </p:grpSpPr>
        <p:sp>
          <p:nvSpPr>
            <p:cNvPr id="17" name="Freeform 17"/>
            <p:cNvSpPr/>
            <p:nvPr/>
          </p:nvSpPr>
          <p:spPr>
            <a:xfrm>
              <a:off x="49280" y="48830"/>
              <a:ext cx="47240" cy="41009"/>
            </a:xfrm>
            <a:custGeom>
              <a:avLst/>
              <a:gdLst/>
              <a:ahLst/>
              <a:cxnLst/>
              <a:rect l="l" t="t" r="r" b="b"/>
              <a:pathLst>
                <a:path w="47240" h="41009">
                  <a:moveTo>
                    <a:pt x="47240" y="14670"/>
                  </a:moveTo>
                  <a:cubicBezTo>
                    <a:pt x="25650" y="48960"/>
                    <a:pt x="6600" y="4261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0890" y="3240"/>
                    <a:pt x="40890" y="3240"/>
                  </a:cubicBezTo>
                </a:path>
              </a:pathLst>
            </a:custGeom>
            <a:solidFill>
              <a:srgbClr val="1C921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33942" y="2512015"/>
            <a:ext cx="10905231" cy="6965970"/>
            <a:chOff x="0" y="0"/>
            <a:chExt cx="2850331" cy="18207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850331" cy="1820715"/>
            </a:xfrm>
            <a:custGeom>
              <a:avLst/>
              <a:gdLst/>
              <a:ahLst/>
              <a:cxnLst/>
              <a:rect l="l" t="t" r="r" b="b"/>
              <a:pathLst>
                <a:path w="2850331" h="1820715">
                  <a:moveTo>
                    <a:pt x="14199" y="0"/>
                  </a:moveTo>
                  <a:lnTo>
                    <a:pt x="2836132" y="0"/>
                  </a:lnTo>
                  <a:cubicBezTo>
                    <a:pt x="2839898" y="0"/>
                    <a:pt x="2843509" y="1496"/>
                    <a:pt x="2846172" y="4159"/>
                  </a:cubicBezTo>
                  <a:cubicBezTo>
                    <a:pt x="2848835" y="6821"/>
                    <a:pt x="2850331" y="10433"/>
                    <a:pt x="2850331" y="14199"/>
                  </a:cubicBezTo>
                  <a:lnTo>
                    <a:pt x="2850331" y="1806516"/>
                  </a:lnTo>
                  <a:cubicBezTo>
                    <a:pt x="2850331" y="1810282"/>
                    <a:pt x="2848835" y="1813894"/>
                    <a:pt x="2846172" y="1816556"/>
                  </a:cubicBezTo>
                  <a:cubicBezTo>
                    <a:pt x="2843509" y="1819219"/>
                    <a:pt x="2839898" y="1820715"/>
                    <a:pt x="2836132" y="1820715"/>
                  </a:cubicBezTo>
                  <a:lnTo>
                    <a:pt x="14199" y="1820715"/>
                  </a:lnTo>
                  <a:cubicBezTo>
                    <a:pt x="10433" y="1820715"/>
                    <a:pt x="6821" y="1819219"/>
                    <a:pt x="4159" y="1816556"/>
                  </a:cubicBezTo>
                  <a:cubicBezTo>
                    <a:pt x="1496" y="1813894"/>
                    <a:pt x="0" y="1810282"/>
                    <a:pt x="0" y="1806516"/>
                  </a:cubicBezTo>
                  <a:lnTo>
                    <a:pt x="0" y="14199"/>
                  </a:lnTo>
                  <a:cubicBezTo>
                    <a:pt x="0" y="10433"/>
                    <a:pt x="1496" y="6821"/>
                    <a:pt x="4159" y="4159"/>
                  </a:cubicBezTo>
                  <a:cubicBezTo>
                    <a:pt x="6821" y="1496"/>
                    <a:pt x="10433" y="0"/>
                    <a:pt x="1419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850331" cy="187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7173347" y="3353287"/>
            <a:ext cx="1658233" cy="1079168"/>
          </a:xfrm>
          <a:custGeom>
            <a:avLst/>
            <a:gdLst/>
            <a:ahLst/>
            <a:cxnLst/>
            <a:rect l="l" t="t" r="r" b="b"/>
            <a:pathLst>
              <a:path w="1658233" h="1079168">
                <a:moveTo>
                  <a:pt x="0" y="0"/>
                </a:moveTo>
                <a:lnTo>
                  <a:pt x="1658233" y="0"/>
                </a:lnTo>
                <a:lnTo>
                  <a:pt x="1658233" y="1079168"/>
                </a:lnTo>
                <a:lnTo>
                  <a:pt x="0" y="1079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650730" y="3041563"/>
            <a:ext cx="2317078" cy="1463418"/>
          </a:xfrm>
          <a:custGeom>
            <a:avLst/>
            <a:gdLst/>
            <a:ahLst/>
            <a:cxnLst/>
            <a:rect l="l" t="t" r="r" b="b"/>
            <a:pathLst>
              <a:path w="2317078" h="1463418">
                <a:moveTo>
                  <a:pt x="0" y="0"/>
                </a:moveTo>
                <a:lnTo>
                  <a:pt x="2317078" y="0"/>
                </a:lnTo>
                <a:lnTo>
                  <a:pt x="2317078" y="1463418"/>
                </a:lnTo>
                <a:lnTo>
                  <a:pt x="0" y="14634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2105710" y="4655793"/>
            <a:ext cx="4593506" cy="1562258"/>
          </a:xfrm>
          <a:custGeom>
            <a:avLst/>
            <a:gdLst/>
            <a:ahLst/>
            <a:cxnLst/>
            <a:rect l="l" t="t" r="r" b="b"/>
            <a:pathLst>
              <a:path w="4593506" h="1562258">
                <a:moveTo>
                  <a:pt x="0" y="0"/>
                </a:moveTo>
                <a:lnTo>
                  <a:pt x="4593506" y="0"/>
                </a:lnTo>
                <a:lnTo>
                  <a:pt x="4593506" y="1562258"/>
                </a:lnTo>
                <a:lnTo>
                  <a:pt x="0" y="15622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7360720" y="6565700"/>
            <a:ext cx="4477056" cy="1712535"/>
          </a:xfrm>
          <a:custGeom>
            <a:avLst/>
            <a:gdLst/>
            <a:ahLst/>
            <a:cxnLst/>
            <a:rect l="l" t="t" r="r" b="b"/>
            <a:pathLst>
              <a:path w="4477056" h="1712535">
                <a:moveTo>
                  <a:pt x="0" y="0"/>
                </a:moveTo>
                <a:lnTo>
                  <a:pt x="4477056" y="0"/>
                </a:lnTo>
                <a:lnTo>
                  <a:pt x="4477056" y="1712535"/>
                </a:lnTo>
                <a:lnTo>
                  <a:pt x="0" y="17125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229912" y="4777093"/>
            <a:ext cx="3999955" cy="1480646"/>
          </a:xfrm>
          <a:custGeom>
            <a:avLst/>
            <a:gdLst/>
            <a:ahLst/>
            <a:cxnLst/>
            <a:rect l="l" t="t" r="r" b="b"/>
            <a:pathLst>
              <a:path w="3999955" h="1480646">
                <a:moveTo>
                  <a:pt x="0" y="0"/>
                </a:moveTo>
                <a:lnTo>
                  <a:pt x="3999955" y="0"/>
                </a:lnTo>
                <a:lnTo>
                  <a:pt x="3999955" y="1480646"/>
                </a:lnTo>
                <a:lnTo>
                  <a:pt x="0" y="14806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538453" y="3275063"/>
            <a:ext cx="2840222" cy="110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-2</a:t>
            </a:r>
          </a:p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3</a:t>
            </a:r>
          </a:p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-2086199" y="1334884"/>
            <a:ext cx="11274991" cy="70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3"/>
              </a:lnSpc>
            </a:pPr>
            <a:r>
              <a:rPr lang="en-US" sz="4546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Contoh Soal 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62671" y="1511893"/>
            <a:ext cx="4150210" cy="80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9"/>
              </a:lnSpc>
            </a:pPr>
            <a:r>
              <a:rPr lang="en-US" sz="517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Jawaban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10081" y="2126400"/>
            <a:ext cx="2041215" cy="51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296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Diketahui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38453" y="4457356"/>
            <a:ext cx="4594799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akar x dengan menggunakan metoda bagi dua (nilai 24)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38453" y="5187693"/>
            <a:ext cx="4594799" cy="201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814" lvl="1" indent="-205407" algn="l">
              <a:lnSpc>
                <a:spcPts val="2663"/>
              </a:lnSpc>
              <a:buFont typeface="Arial"/>
              <a:buChar char="•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catatan: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tiap iterasi cari Et dan Ea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ketelitian 2 angka di belakang koma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iterasi 1 sampai iterasi 3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tuliskan rumusnya terlebih dahulu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96612" y="2654890"/>
            <a:ext cx="2840222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2: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73347" y="8568734"/>
            <a:ext cx="8508758" cy="415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401">
                <a:solidFill>
                  <a:srgbClr val="309C2A"/>
                </a:solidFill>
                <a:latin typeface="TDTD가온"/>
                <a:ea typeface="TDTD가온"/>
                <a:cs typeface="TDTD가온"/>
                <a:sym typeface="TDTD가온"/>
              </a:rPr>
              <a:t>positif</a:t>
            </a: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xl = 1.75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474701" y="3929477"/>
            <a:ext cx="1086381" cy="720299"/>
            <a:chOff x="0" y="0"/>
            <a:chExt cx="441179" cy="29251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41179" cy="292513"/>
            </a:xfrm>
            <a:custGeom>
              <a:avLst/>
              <a:gdLst/>
              <a:ahLst/>
              <a:cxnLst/>
              <a:rect l="l" t="t" r="r" b="b"/>
              <a:pathLst>
                <a:path w="441179" h="292513">
                  <a:moveTo>
                    <a:pt x="220590" y="0"/>
                  </a:moveTo>
                  <a:cubicBezTo>
                    <a:pt x="98761" y="0"/>
                    <a:pt x="0" y="65481"/>
                    <a:pt x="0" y="146257"/>
                  </a:cubicBezTo>
                  <a:cubicBezTo>
                    <a:pt x="0" y="227032"/>
                    <a:pt x="98761" y="292513"/>
                    <a:pt x="220590" y="292513"/>
                  </a:cubicBezTo>
                  <a:cubicBezTo>
                    <a:pt x="342418" y="292513"/>
                    <a:pt x="441179" y="227032"/>
                    <a:pt x="441179" y="146257"/>
                  </a:cubicBezTo>
                  <a:cubicBezTo>
                    <a:pt x="441179" y="65481"/>
                    <a:pt x="342418" y="0"/>
                    <a:pt x="22059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361" y="-29727"/>
              <a:ext cx="358458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954924" y="5715890"/>
            <a:ext cx="1408933" cy="720299"/>
            <a:chOff x="0" y="0"/>
            <a:chExt cx="572167" cy="29251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72167" cy="292513"/>
            </a:xfrm>
            <a:custGeom>
              <a:avLst/>
              <a:gdLst/>
              <a:ahLst/>
              <a:cxnLst/>
              <a:rect l="l" t="t" r="r" b="b"/>
              <a:pathLst>
                <a:path w="572167" h="292513">
                  <a:moveTo>
                    <a:pt x="286084" y="0"/>
                  </a:moveTo>
                  <a:cubicBezTo>
                    <a:pt x="128084" y="0"/>
                    <a:pt x="0" y="65481"/>
                    <a:pt x="0" y="146257"/>
                  </a:cubicBezTo>
                  <a:cubicBezTo>
                    <a:pt x="0" y="227032"/>
                    <a:pt x="128084" y="292513"/>
                    <a:pt x="286084" y="292513"/>
                  </a:cubicBezTo>
                  <a:cubicBezTo>
                    <a:pt x="444083" y="292513"/>
                    <a:pt x="572167" y="227032"/>
                    <a:pt x="572167" y="146257"/>
                  </a:cubicBezTo>
                  <a:cubicBezTo>
                    <a:pt x="572167" y="65481"/>
                    <a:pt x="444083" y="0"/>
                    <a:pt x="286084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641" y="-29727"/>
              <a:ext cx="464886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967421" y="5678672"/>
            <a:ext cx="1596709" cy="720299"/>
            <a:chOff x="0" y="0"/>
            <a:chExt cx="648423" cy="29251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48423" cy="292513"/>
            </a:xfrm>
            <a:custGeom>
              <a:avLst/>
              <a:gdLst/>
              <a:ahLst/>
              <a:cxnLst/>
              <a:rect l="l" t="t" r="r" b="b"/>
              <a:pathLst>
                <a:path w="648423" h="292513">
                  <a:moveTo>
                    <a:pt x="324212" y="0"/>
                  </a:moveTo>
                  <a:cubicBezTo>
                    <a:pt x="145154" y="0"/>
                    <a:pt x="0" y="65481"/>
                    <a:pt x="0" y="146257"/>
                  </a:cubicBezTo>
                  <a:cubicBezTo>
                    <a:pt x="0" y="227032"/>
                    <a:pt x="145154" y="292513"/>
                    <a:pt x="324212" y="292513"/>
                  </a:cubicBezTo>
                  <a:cubicBezTo>
                    <a:pt x="503269" y="292513"/>
                    <a:pt x="648423" y="227032"/>
                    <a:pt x="648423" y="146257"/>
                  </a:cubicBezTo>
                  <a:cubicBezTo>
                    <a:pt x="648423" y="65481"/>
                    <a:pt x="503269" y="0"/>
                    <a:pt x="324212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790" y="-29727"/>
              <a:ext cx="526844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9845" y="8060375"/>
            <a:ext cx="4042903" cy="16754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2352" y="7807079"/>
            <a:ext cx="4507390" cy="1765999"/>
            <a:chOff x="0" y="0"/>
            <a:chExt cx="1698839" cy="6656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8839" cy="665606"/>
            </a:xfrm>
            <a:custGeom>
              <a:avLst/>
              <a:gdLst/>
              <a:ahLst/>
              <a:cxnLst/>
              <a:rect l="l" t="t" r="r" b="b"/>
              <a:pathLst>
                <a:path w="1698839" h="665606">
                  <a:moveTo>
                    <a:pt x="34352" y="0"/>
                  </a:moveTo>
                  <a:lnTo>
                    <a:pt x="1664487" y="0"/>
                  </a:lnTo>
                  <a:cubicBezTo>
                    <a:pt x="1683459" y="0"/>
                    <a:pt x="1698839" y="15380"/>
                    <a:pt x="1698839" y="34352"/>
                  </a:cubicBezTo>
                  <a:lnTo>
                    <a:pt x="1698839" y="631254"/>
                  </a:lnTo>
                  <a:cubicBezTo>
                    <a:pt x="1698839" y="650226"/>
                    <a:pt x="1683459" y="665606"/>
                    <a:pt x="1664487" y="665606"/>
                  </a:cubicBezTo>
                  <a:lnTo>
                    <a:pt x="34352" y="665606"/>
                  </a:lnTo>
                  <a:cubicBezTo>
                    <a:pt x="15380" y="665606"/>
                    <a:pt x="0" y="650226"/>
                    <a:pt x="0" y="631254"/>
                  </a:cubicBezTo>
                  <a:lnTo>
                    <a:pt x="0" y="34352"/>
                  </a:lnTo>
                  <a:cubicBezTo>
                    <a:pt x="0" y="15380"/>
                    <a:pt x="15380" y="0"/>
                    <a:pt x="343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98839" cy="722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41265" y="2267368"/>
            <a:ext cx="9958004" cy="7305711"/>
            <a:chOff x="0" y="0"/>
            <a:chExt cx="2602751" cy="19095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2751" cy="1909514"/>
            </a:xfrm>
            <a:custGeom>
              <a:avLst/>
              <a:gdLst/>
              <a:ahLst/>
              <a:cxnLst/>
              <a:rect l="l" t="t" r="r" b="b"/>
              <a:pathLst>
                <a:path w="2602751" h="1909514">
                  <a:moveTo>
                    <a:pt x="15549" y="0"/>
                  </a:moveTo>
                  <a:lnTo>
                    <a:pt x="2587202" y="0"/>
                  </a:lnTo>
                  <a:cubicBezTo>
                    <a:pt x="2595790" y="0"/>
                    <a:pt x="2602751" y="6962"/>
                    <a:pt x="2602751" y="15549"/>
                  </a:cubicBezTo>
                  <a:lnTo>
                    <a:pt x="2602751" y="1893965"/>
                  </a:lnTo>
                  <a:cubicBezTo>
                    <a:pt x="2602751" y="1902552"/>
                    <a:pt x="2595790" y="1909514"/>
                    <a:pt x="2587202" y="1909514"/>
                  </a:cubicBezTo>
                  <a:lnTo>
                    <a:pt x="15549" y="1909514"/>
                  </a:lnTo>
                  <a:cubicBezTo>
                    <a:pt x="6962" y="1909514"/>
                    <a:pt x="0" y="1902552"/>
                    <a:pt x="0" y="1893965"/>
                  </a:cubicBezTo>
                  <a:lnTo>
                    <a:pt x="0" y="15549"/>
                  </a:lnTo>
                  <a:cubicBezTo>
                    <a:pt x="0" y="6962"/>
                    <a:pt x="6962" y="0"/>
                    <a:pt x="1554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602751" cy="1966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0850" y="2076868"/>
            <a:ext cx="5057969" cy="5455480"/>
            <a:chOff x="0" y="0"/>
            <a:chExt cx="1698839" cy="18323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98839" cy="1832352"/>
            </a:xfrm>
            <a:custGeom>
              <a:avLst/>
              <a:gdLst/>
              <a:ahLst/>
              <a:cxnLst/>
              <a:rect l="l" t="t" r="r" b="b"/>
              <a:pathLst>
                <a:path w="1698839" h="1832352">
                  <a:moveTo>
                    <a:pt x="30613" y="0"/>
                  </a:moveTo>
                  <a:lnTo>
                    <a:pt x="1668226" y="0"/>
                  </a:lnTo>
                  <a:cubicBezTo>
                    <a:pt x="1685133" y="0"/>
                    <a:pt x="1698839" y="13706"/>
                    <a:pt x="1698839" y="30613"/>
                  </a:cubicBezTo>
                  <a:lnTo>
                    <a:pt x="1698839" y="1801739"/>
                  </a:lnTo>
                  <a:cubicBezTo>
                    <a:pt x="1698839" y="1809858"/>
                    <a:pt x="1695614" y="1817645"/>
                    <a:pt x="1689872" y="1823386"/>
                  </a:cubicBezTo>
                  <a:cubicBezTo>
                    <a:pt x="1684132" y="1829127"/>
                    <a:pt x="1676345" y="1832352"/>
                    <a:pt x="1668226" y="1832352"/>
                  </a:cubicBezTo>
                  <a:lnTo>
                    <a:pt x="30613" y="1832352"/>
                  </a:lnTo>
                  <a:cubicBezTo>
                    <a:pt x="22494" y="1832352"/>
                    <a:pt x="14707" y="1829127"/>
                    <a:pt x="8966" y="1823386"/>
                  </a:cubicBezTo>
                  <a:cubicBezTo>
                    <a:pt x="3225" y="1817645"/>
                    <a:pt x="0" y="1809858"/>
                    <a:pt x="0" y="1801739"/>
                  </a:cubicBezTo>
                  <a:lnTo>
                    <a:pt x="0" y="30613"/>
                  </a:lnTo>
                  <a:cubicBezTo>
                    <a:pt x="0" y="22494"/>
                    <a:pt x="3225" y="14707"/>
                    <a:pt x="8966" y="8966"/>
                  </a:cubicBezTo>
                  <a:cubicBezTo>
                    <a:pt x="14707" y="3225"/>
                    <a:pt x="22494" y="0"/>
                    <a:pt x="3061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698839" cy="1889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506504" y="227020"/>
            <a:ext cx="11274991" cy="93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Bagi Dua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2460606" y="433188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268099" y="34915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082" y="2365169"/>
            <a:ext cx="4746284" cy="1167736"/>
          </a:xfrm>
          <a:prstGeom prst="rect">
            <a:avLst/>
          </a:prstGeom>
        </p:spPr>
      </p:pic>
      <p:sp>
        <p:nvSpPr>
          <p:cNvPr id="18" name="Freeform 18"/>
          <p:cNvSpPr/>
          <p:nvPr/>
        </p:nvSpPr>
        <p:spPr>
          <a:xfrm>
            <a:off x="7722781" y="3104124"/>
            <a:ext cx="1916864" cy="1091548"/>
          </a:xfrm>
          <a:custGeom>
            <a:avLst/>
            <a:gdLst/>
            <a:ahLst/>
            <a:cxnLst/>
            <a:rect l="l" t="t" r="r" b="b"/>
            <a:pathLst>
              <a:path w="1916864" h="1091548">
                <a:moveTo>
                  <a:pt x="0" y="0"/>
                </a:moveTo>
                <a:lnTo>
                  <a:pt x="1916864" y="0"/>
                </a:lnTo>
                <a:lnTo>
                  <a:pt x="1916864" y="1091547"/>
                </a:lnTo>
                <a:lnTo>
                  <a:pt x="0" y="10915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0583647" y="2724481"/>
            <a:ext cx="2508259" cy="1471190"/>
          </a:xfrm>
          <a:custGeom>
            <a:avLst/>
            <a:gdLst/>
            <a:ahLst/>
            <a:cxnLst/>
            <a:rect l="l" t="t" r="r" b="b"/>
            <a:pathLst>
              <a:path w="2508259" h="1471190">
                <a:moveTo>
                  <a:pt x="0" y="0"/>
                </a:moveTo>
                <a:lnTo>
                  <a:pt x="2508259" y="0"/>
                </a:lnTo>
                <a:lnTo>
                  <a:pt x="2508259" y="1471190"/>
                </a:lnTo>
                <a:lnTo>
                  <a:pt x="0" y="14711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7743995" y="4633821"/>
            <a:ext cx="3962035" cy="1466610"/>
          </a:xfrm>
          <a:custGeom>
            <a:avLst/>
            <a:gdLst/>
            <a:ahLst/>
            <a:cxnLst/>
            <a:rect l="l" t="t" r="r" b="b"/>
            <a:pathLst>
              <a:path w="3962035" h="1466610">
                <a:moveTo>
                  <a:pt x="0" y="0"/>
                </a:moveTo>
                <a:lnTo>
                  <a:pt x="3962035" y="0"/>
                </a:lnTo>
                <a:lnTo>
                  <a:pt x="3962035" y="1466610"/>
                </a:lnTo>
                <a:lnTo>
                  <a:pt x="0" y="14666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2020267" y="4633821"/>
            <a:ext cx="4509277" cy="1466610"/>
          </a:xfrm>
          <a:custGeom>
            <a:avLst/>
            <a:gdLst/>
            <a:ahLst/>
            <a:cxnLst/>
            <a:rect l="l" t="t" r="r" b="b"/>
            <a:pathLst>
              <a:path w="4509277" h="1466610">
                <a:moveTo>
                  <a:pt x="0" y="0"/>
                </a:moveTo>
                <a:lnTo>
                  <a:pt x="4509277" y="0"/>
                </a:lnTo>
                <a:lnTo>
                  <a:pt x="4509277" y="1466610"/>
                </a:lnTo>
                <a:lnTo>
                  <a:pt x="0" y="1466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7722781" y="6538581"/>
            <a:ext cx="4484034" cy="1669587"/>
          </a:xfrm>
          <a:custGeom>
            <a:avLst/>
            <a:gdLst/>
            <a:ahLst/>
            <a:cxnLst/>
            <a:rect l="l" t="t" r="r" b="b"/>
            <a:pathLst>
              <a:path w="4484034" h="1669587">
                <a:moveTo>
                  <a:pt x="0" y="0"/>
                </a:moveTo>
                <a:lnTo>
                  <a:pt x="4484034" y="0"/>
                </a:lnTo>
                <a:lnTo>
                  <a:pt x="4484034" y="1669587"/>
                </a:lnTo>
                <a:lnTo>
                  <a:pt x="0" y="16695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443203" y="3275063"/>
            <a:ext cx="2840222" cy="110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-2</a:t>
            </a:r>
          </a:p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3</a:t>
            </a:r>
          </a:p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2181449" y="1334884"/>
            <a:ext cx="11274991" cy="70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3"/>
              </a:lnSpc>
            </a:pPr>
            <a:r>
              <a:rPr lang="en-US" sz="4546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Contoh Soal 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453439" y="7863938"/>
            <a:ext cx="7818971" cy="49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0"/>
              </a:lnSpc>
            </a:pPr>
            <a:r>
              <a:rPr lang="en-US" sz="3152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Rumus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62671" y="1267246"/>
            <a:ext cx="4150210" cy="80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9"/>
              </a:lnSpc>
            </a:pPr>
            <a:r>
              <a:rPr lang="en-US" sz="517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Jawaban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4831" y="2126400"/>
            <a:ext cx="2041215" cy="51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296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Diketahui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3203" y="4457356"/>
            <a:ext cx="4594799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akar x dengan menggunakan metoda bagi dua (nilai 24)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43203" y="5187693"/>
            <a:ext cx="4594799" cy="201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814" lvl="1" indent="-205407" algn="l">
              <a:lnSpc>
                <a:spcPts val="2663"/>
              </a:lnSpc>
              <a:buFont typeface="Arial"/>
              <a:buChar char="•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catatan: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tiap iterasi cari Et dan Ea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ketelitian 2 angka di belakang koma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iterasi 1 sampai iterasi 3</a:t>
            </a:r>
          </a:p>
          <a:p>
            <a:pPr marL="821627" lvl="2" indent="-273876" algn="l">
              <a:lnSpc>
                <a:spcPts val="2663"/>
              </a:lnSpc>
              <a:buFont typeface="Arial"/>
              <a:buChar char="⚬"/>
            </a:pPr>
            <a:r>
              <a:rPr lang="en-US" sz="190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tuliskan rumusnya terlebih dahulu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65532" y="2434207"/>
            <a:ext cx="2840222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3: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2781" y="8560593"/>
            <a:ext cx="8508758" cy="415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401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negatif</a:t>
            </a: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xu = 2.38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342058" y="3649898"/>
            <a:ext cx="1166020" cy="720299"/>
            <a:chOff x="0" y="0"/>
            <a:chExt cx="473520" cy="2925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3520" cy="292513"/>
            </a:xfrm>
            <a:custGeom>
              <a:avLst/>
              <a:gdLst/>
              <a:ahLst/>
              <a:cxnLst/>
              <a:rect l="l" t="t" r="r" b="b"/>
              <a:pathLst>
                <a:path w="473520" h="292513">
                  <a:moveTo>
                    <a:pt x="236760" y="0"/>
                  </a:moveTo>
                  <a:cubicBezTo>
                    <a:pt x="106001" y="0"/>
                    <a:pt x="0" y="65481"/>
                    <a:pt x="0" y="146257"/>
                  </a:cubicBezTo>
                  <a:cubicBezTo>
                    <a:pt x="0" y="227032"/>
                    <a:pt x="106001" y="292513"/>
                    <a:pt x="236760" y="292513"/>
                  </a:cubicBezTo>
                  <a:cubicBezTo>
                    <a:pt x="367519" y="292513"/>
                    <a:pt x="473520" y="227032"/>
                    <a:pt x="473520" y="146257"/>
                  </a:cubicBezTo>
                  <a:cubicBezTo>
                    <a:pt x="473520" y="65481"/>
                    <a:pt x="367519" y="0"/>
                    <a:pt x="23676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393" y="-29727"/>
              <a:ext cx="384735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473625" y="5560073"/>
            <a:ext cx="1166020" cy="720299"/>
            <a:chOff x="0" y="0"/>
            <a:chExt cx="473520" cy="2925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3520" cy="292513"/>
            </a:xfrm>
            <a:custGeom>
              <a:avLst/>
              <a:gdLst/>
              <a:ahLst/>
              <a:cxnLst/>
              <a:rect l="l" t="t" r="r" b="b"/>
              <a:pathLst>
                <a:path w="473520" h="292513">
                  <a:moveTo>
                    <a:pt x="236760" y="0"/>
                  </a:moveTo>
                  <a:cubicBezTo>
                    <a:pt x="106001" y="0"/>
                    <a:pt x="0" y="65481"/>
                    <a:pt x="0" y="146257"/>
                  </a:cubicBezTo>
                  <a:cubicBezTo>
                    <a:pt x="0" y="227032"/>
                    <a:pt x="106001" y="292513"/>
                    <a:pt x="236760" y="292513"/>
                  </a:cubicBezTo>
                  <a:cubicBezTo>
                    <a:pt x="367519" y="292513"/>
                    <a:pt x="473520" y="227032"/>
                    <a:pt x="473520" y="146257"/>
                  </a:cubicBezTo>
                  <a:cubicBezTo>
                    <a:pt x="473520" y="65481"/>
                    <a:pt x="367519" y="0"/>
                    <a:pt x="23676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393" y="-29727"/>
              <a:ext cx="384735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854675" y="5560073"/>
            <a:ext cx="1420231" cy="720299"/>
            <a:chOff x="0" y="0"/>
            <a:chExt cx="576755" cy="2925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76755" cy="292513"/>
            </a:xfrm>
            <a:custGeom>
              <a:avLst/>
              <a:gdLst/>
              <a:ahLst/>
              <a:cxnLst/>
              <a:rect l="l" t="t" r="r" b="b"/>
              <a:pathLst>
                <a:path w="576755" h="292513">
                  <a:moveTo>
                    <a:pt x="288378" y="0"/>
                  </a:moveTo>
                  <a:cubicBezTo>
                    <a:pt x="129111" y="0"/>
                    <a:pt x="0" y="65481"/>
                    <a:pt x="0" y="146257"/>
                  </a:cubicBezTo>
                  <a:cubicBezTo>
                    <a:pt x="0" y="227032"/>
                    <a:pt x="129111" y="292513"/>
                    <a:pt x="288378" y="292513"/>
                  </a:cubicBezTo>
                  <a:cubicBezTo>
                    <a:pt x="447644" y="292513"/>
                    <a:pt x="576755" y="227032"/>
                    <a:pt x="576755" y="146257"/>
                  </a:cubicBezTo>
                  <a:cubicBezTo>
                    <a:pt x="576755" y="65481"/>
                    <a:pt x="447644" y="0"/>
                    <a:pt x="288378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071" y="-29727"/>
              <a:ext cx="468614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4595" y="8060375"/>
            <a:ext cx="4042903" cy="16754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8862" y="602865"/>
            <a:ext cx="4265778" cy="622144"/>
            <a:chOff x="0" y="0"/>
            <a:chExt cx="1123497" cy="163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95967" y="5721408"/>
            <a:ext cx="19479934" cy="5125029"/>
            <a:chOff x="0" y="0"/>
            <a:chExt cx="5130518" cy="1349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30517" cy="1349802"/>
            </a:xfrm>
            <a:custGeom>
              <a:avLst/>
              <a:gdLst/>
              <a:ahLst/>
              <a:cxnLst/>
              <a:rect l="l" t="t" r="r" b="b"/>
              <a:pathLst>
                <a:path w="5130517" h="1349802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337879"/>
                  </a:lnTo>
                  <a:cubicBezTo>
                    <a:pt x="5130517" y="1341041"/>
                    <a:pt x="5129261" y="1344074"/>
                    <a:pt x="5127025" y="1346310"/>
                  </a:cubicBezTo>
                  <a:cubicBezTo>
                    <a:pt x="5124790" y="1348546"/>
                    <a:pt x="5121757" y="1349802"/>
                    <a:pt x="5118595" y="1349802"/>
                  </a:cubicBezTo>
                  <a:lnTo>
                    <a:pt x="11923" y="1349802"/>
                  </a:lnTo>
                  <a:cubicBezTo>
                    <a:pt x="8761" y="1349802"/>
                    <a:pt x="5728" y="1348546"/>
                    <a:pt x="3492" y="1346310"/>
                  </a:cubicBezTo>
                  <a:cubicBezTo>
                    <a:pt x="1256" y="1344074"/>
                    <a:pt x="0" y="1341041"/>
                    <a:pt x="0" y="1337879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130518" cy="1406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36127" y="532085"/>
            <a:ext cx="141561" cy="1415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51699" y="532085"/>
            <a:ext cx="141561" cy="1415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50242" y="532085"/>
            <a:ext cx="141561" cy="1415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65815" y="532085"/>
            <a:ext cx="141561" cy="14156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0470" y="2516341"/>
            <a:ext cx="14904022" cy="5301928"/>
            <a:chOff x="0" y="0"/>
            <a:chExt cx="3925339" cy="13963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25339" cy="1396392"/>
            </a:xfrm>
            <a:custGeom>
              <a:avLst/>
              <a:gdLst/>
              <a:ahLst/>
              <a:cxnLst/>
              <a:rect l="l" t="t" r="r" b="b"/>
              <a:pathLst>
                <a:path w="3925339" h="1396392">
                  <a:moveTo>
                    <a:pt x="10389" y="0"/>
                  </a:moveTo>
                  <a:lnTo>
                    <a:pt x="3914950" y="0"/>
                  </a:lnTo>
                  <a:cubicBezTo>
                    <a:pt x="3917705" y="0"/>
                    <a:pt x="3920348" y="1095"/>
                    <a:pt x="3922296" y="3043"/>
                  </a:cubicBezTo>
                  <a:cubicBezTo>
                    <a:pt x="3924245" y="4991"/>
                    <a:pt x="3925339" y="7634"/>
                    <a:pt x="3925339" y="10389"/>
                  </a:cubicBezTo>
                  <a:lnTo>
                    <a:pt x="3925339" y="1386003"/>
                  </a:lnTo>
                  <a:cubicBezTo>
                    <a:pt x="3925339" y="1388759"/>
                    <a:pt x="3924245" y="1391401"/>
                    <a:pt x="3922296" y="1393350"/>
                  </a:cubicBezTo>
                  <a:cubicBezTo>
                    <a:pt x="3920348" y="1395298"/>
                    <a:pt x="3917705" y="1396392"/>
                    <a:pt x="3914950" y="1396392"/>
                  </a:cubicBezTo>
                  <a:lnTo>
                    <a:pt x="10389" y="1396392"/>
                  </a:lnTo>
                  <a:cubicBezTo>
                    <a:pt x="7634" y="1396392"/>
                    <a:pt x="4991" y="1395298"/>
                    <a:pt x="3043" y="1393350"/>
                  </a:cubicBezTo>
                  <a:cubicBezTo>
                    <a:pt x="1095" y="1391401"/>
                    <a:pt x="0" y="1388759"/>
                    <a:pt x="0" y="1386003"/>
                  </a:cubicBezTo>
                  <a:lnTo>
                    <a:pt x="0" y="10389"/>
                  </a:lnTo>
                  <a:cubicBezTo>
                    <a:pt x="0" y="7634"/>
                    <a:pt x="1095" y="4991"/>
                    <a:pt x="3043" y="3043"/>
                  </a:cubicBezTo>
                  <a:cubicBezTo>
                    <a:pt x="4991" y="1095"/>
                    <a:pt x="7634" y="0"/>
                    <a:pt x="1038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925339" cy="1453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44050" y="1674220"/>
            <a:ext cx="992861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600" dirty="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4. Metode </a:t>
            </a:r>
            <a:r>
              <a:rPr lang="en-US" sz="6600" dirty="0" err="1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Posisi</a:t>
            </a:r>
            <a:r>
              <a:rPr lang="en-US" sz="6600" dirty="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 Salah</a:t>
            </a:r>
          </a:p>
        </p:txBody>
      </p:sp>
      <p:sp>
        <p:nvSpPr>
          <p:cNvPr id="24" name="Freeform 24"/>
          <p:cNvSpPr/>
          <p:nvPr/>
        </p:nvSpPr>
        <p:spPr>
          <a:xfrm flipH="1">
            <a:off x="10802018" y="3057877"/>
            <a:ext cx="421812" cy="605735"/>
          </a:xfrm>
          <a:custGeom>
            <a:avLst/>
            <a:gdLst/>
            <a:ahLst/>
            <a:cxnLst/>
            <a:rect l="l" t="t" r="r" b="b"/>
            <a:pathLst>
              <a:path w="421812" h="605735">
                <a:moveTo>
                  <a:pt x="421812" y="0"/>
                </a:moveTo>
                <a:lnTo>
                  <a:pt x="0" y="0"/>
                </a:lnTo>
                <a:lnTo>
                  <a:pt x="0" y="605735"/>
                </a:lnTo>
                <a:lnTo>
                  <a:pt x="421812" y="605735"/>
                </a:lnTo>
                <a:lnTo>
                  <a:pt x="4218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474157" y="1860448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8" y="0"/>
                </a:lnTo>
                <a:lnTo>
                  <a:pt x="577438" y="570088"/>
                </a:lnTo>
                <a:lnTo>
                  <a:pt x="0" y="570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2616399" y="2071923"/>
            <a:ext cx="3768899" cy="376889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2413405" y="2800382"/>
            <a:ext cx="4148529" cy="2915976"/>
          </a:xfrm>
          <a:custGeom>
            <a:avLst/>
            <a:gdLst/>
            <a:ahLst/>
            <a:cxnLst/>
            <a:rect l="l" t="t" r="r" b="b"/>
            <a:pathLst>
              <a:path w="4148529" h="2915976">
                <a:moveTo>
                  <a:pt x="0" y="0"/>
                </a:moveTo>
                <a:lnTo>
                  <a:pt x="4148529" y="0"/>
                </a:lnTo>
                <a:lnTo>
                  <a:pt x="4148529" y="2915976"/>
                </a:lnTo>
                <a:lnTo>
                  <a:pt x="0" y="2915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70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5984496" y="2527345"/>
            <a:ext cx="577438" cy="570089"/>
          </a:xfrm>
          <a:custGeom>
            <a:avLst/>
            <a:gdLst/>
            <a:ahLst/>
            <a:cxnLst/>
            <a:rect l="l" t="t" r="r" b="b"/>
            <a:pathLst>
              <a:path w="577438" h="570089">
                <a:moveTo>
                  <a:pt x="0" y="0"/>
                </a:moveTo>
                <a:lnTo>
                  <a:pt x="577438" y="0"/>
                </a:lnTo>
                <a:lnTo>
                  <a:pt x="577438" y="570088"/>
                </a:lnTo>
                <a:lnTo>
                  <a:pt x="0" y="570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323168" y="2863942"/>
            <a:ext cx="9900662" cy="3473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yang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dihasilakan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lebih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halus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dari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Metode Bagi Dua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Metode Regula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Falsi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atau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Metode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Interpolasi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Linear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Algoritma</a:t>
            </a:r>
            <a:endParaRPr lang="en-US" sz="27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1209039" lvl="2" indent="-403013">
              <a:lnSpc>
                <a:spcPts val="3919"/>
              </a:lnSpc>
              <a:buFont typeface="Arial"/>
              <a:buChar char="⚬"/>
            </a:pP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Pilih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interval             dan              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dengan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800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syarat</a:t>
            </a:r>
            <a:r>
              <a:rPr lang="en-US" sz="2800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f(XL) * f(Xu) &lt; 0, </a:t>
            </a:r>
            <a:endParaRPr lang="en-US" sz="27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taksiran</a:t>
            </a:r>
            <a:r>
              <a:rPr lang="en-US" sz="2799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799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awal</a:t>
            </a:r>
            <a:endParaRPr lang="en-US" sz="2799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6187009" y="4668978"/>
            <a:ext cx="703071" cy="669464"/>
          </a:xfrm>
          <a:custGeom>
            <a:avLst/>
            <a:gdLst/>
            <a:ahLst/>
            <a:cxnLst/>
            <a:rect l="l" t="t" r="r" b="b"/>
            <a:pathLst>
              <a:path w="703071" h="669464">
                <a:moveTo>
                  <a:pt x="0" y="0"/>
                </a:moveTo>
                <a:lnTo>
                  <a:pt x="703071" y="0"/>
                </a:lnTo>
                <a:lnTo>
                  <a:pt x="703071" y="669465"/>
                </a:lnTo>
                <a:lnTo>
                  <a:pt x="0" y="669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265004" b="-1182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7848560" y="4758311"/>
            <a:ext cx="694217" cy="490800"/>
          </a:xfrm>
          <a:custGeom>
            <a:avLst/>
            <a:gdLst/>
            <a:ahLst/>
            <a:cxnLst/>
            <a:rect l="l" t="t" r="r" b="b"/>
            <a:pathLst>
              <a:path w="694217" h="490800">
                <a:moveTo>
                  <a:pt x="0" y="0"/>
                </a:moveTo>
                <a:lnTo>
                  <a:pt x="694217" y="0"/>
                </a:lnTo>
                <a:lnTo>
                  <a:pt x="694217" y="490799"/>
                </a:lnTo>
                <a:lnTo>
                  <a:pt x="0" y="490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29338" r="-3088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5057825" y="5702426"/>
            <a:ext cx="6127905" cy="1333534"/>
          </a:xfrm>
          <a:custGeom>
            <a:avLst/>
            <a:gdLst/>
            <a:ahLst/>
            <a:cxnLst/>
            <a:rect l="l" t="t" r="r" b="b"/>
            <a:pathLst>
              <a:path w="6127905" h="1333534">
                <a:moveTo>
                  <a:pt x="0" y="0"/>
                </a:moveTo>
                <a:lnTo>
                  <a:pt x="6127905" y="0"/>
                </a:lnTo>
                <a:lnTo>
                  <a:pt x="6127905" y="1333534"/>
                </a:lnTo>
                <a:lnTo>
                  <a:pt x="0" y="13335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936127" y="677717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446B25D-9BDD-DF2D-83F8-2A6349686E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0890" y="6983564"/>
            <a:ext cx="6870709" cy="41037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6504" y="893770"/>
            <a:ext cx="11274991" cy="93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Posisi Salah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132541"/>
            <a:ext cx="15973383" cy="7125759"/>
            <a:chOff x="0" y="0"/>
            <a:chExt cx="4175008" cy="1862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75008" cy="1862480"/>
            </a:xfrm>
            <a:custGeom>
              <a:avLst/>
              <a:gdLst/>
              <a:ahLst/>
              <a:cxnLst/>
              <a:rect l="l" t="t" r="r" b="b"/>
              <a:pathLst>
                <a:path w="4175008" h="1862480">
                  <a:moveTo>
                    <a:pt x="9694" y="0"/>
                  </a:moveTo>
                  <a:lnTo>
                    <a:pt x="4165314" y="0"/>
                  </a:lnTo>
                  <a:cubicBezTo>
                    <a:pt x="4170668" y="0"/>
                    <a:pt x="4175008" y="4340"/>
                    <a:pt x="4175008" y="9694"/>
                  </a:cubicBezTo>
                  <a:lnTo>
                    <a:pt x="4175008" y="1852786"/>
                  </a:lnTo>
                  <a:cubicBezTo>
                    <a:pt x="4175008" y="1855357"/>
                    <a:pt x="4173986" y="1857822"/>
                    <a:pt x="4172169" y="1859640"/>
                  </a:cubicBezTo>
                  <a:cubicBezTo>
                    <a:pt x="4170350" y="1861458"/>
                    <a:pt x="4167885" y="1862480"/>
                    <a:pt x="4165314" y="1862480"/>
                  </a:cubicBezTo>
                  <a:lnTo>
                    <a:pt x="9694" y="1862480"/>
                  </a:lnTo>
                  <a:cubicBezTo>
                    <a:pt x="7123" y="1862480"/>
                    <a:pt x="4657" y="1861458"/>
                    <a:pt x="2839" y="1859640"/>
                  </a:cubicBezTo>
                  <a:cubicBezTo>
                    <a:pt x="1021" y="1857822"/>
                    <a:pt x="0" y="1855357"/>
                    <a:pt x="0" y="1852786"/>
                  </a:cubicBezTo>
                  <a:lnTo>
                    <a:pt x="0" y="9694"/>
                  </a:lnTo>
                  <a:cubicBezTo>
                    <a:pt x="0" y="4340"/>
                    <a:pt x="4340" y="0"/>
                    <a:pt x="969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175008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3264212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531816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50432" y="2708816"/>
            <a:ext cx="14644218" cy="68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Diketahui :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EA6564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EA6564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- 5 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8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4 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Cari akar x dengan menggunakan (nilai 24) metoda posisi salah!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Catt :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        – Tiap iterasi cari Et dan Ea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        – Ketelitian 2 angka dibelakang koma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        – Cari dari iterasi 1 sampai iterasi 3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        – Tuliskan rumusnya terlebih dahulu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6132" y="3350066"/>
            <a:ext cx="5150382" cy="496593"/>
          </a:xfrm>
          <a:custGeom>
            <a:avLst/>
            <a:gdLst/>
            <a:ahLst/>
            <a:cxnLst/>
            <a:rect l="l" t="t" r="r" b="b"/>
            <a:pathLst>
              <a:path w="5150382" h="496593">
                <a:moveTo>
                  <a:pt x="0" y="0"/>
                </a:moveTo>
                <a:lnTo>
                  <a:pt x="5150383" y="0"/>
                </a:lnTo>
                <a:lnTo>
                  <a:pt x="5150383" y="496594"/>
                </a:lnTo>
                <a:lnTo>
                  <a:pt x="0" y="496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668306" y="3680326"/>
            <a:ext cx="4269540" cy="70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73"/>
              </a:lnSpc>
            </a:pPr>
            <a:r>
              <a:rPr lang="en-US" sz="4546">
                <a:solidFill>
                  <a:srgbClr val="6E4E3B"/>
                </a:solidFill>
                <a:latin typeface="Funtastic"/>
                <a:ea typeface="Funtastic"/>
                <a:cs typeface="Funtastic"/>
                <a:sym typeface="Funtastic"/>
              </a:rPr>
              <a:t>Contoh Soal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70890" y="2282231"/>
            <a:ext cx="10170650" cy="7125759"/>
            <a:chOff x="0" y="0"/>
            <a:chExt cx="2658331" cy="1862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58331" cy="1862480"/>
            </a:xfrm>
            <a:custGeom>
              <a:avLst/>
              <a:gdLst/>
              <a:ahLst/>
              <a:cxnLst/>
              <a:rect l="l" t="t" r="r" b="b"/>
              <a:pathLst>
                <a:path w="2658331" h="1862480">
                  <a:moveTo>
                    <a:pt x="15224" y="0"/>
                  </a:moveTo>
                  <a:lnTo>
                    <a:pt x="2643107" y="0"/>
                  </a:lnTo>
                  <a:cubicBezTo>
                    <a:pt x="2647145" y="0"/>
                    <a:pt x="2651017" y="1604"/>
                    <a:pt x="2653872" y="4459"/>
                  </a:cubicBezTo>
                  <a:cubicBezTo>
                    <a:pt x="2656727" y="7314"/>
                    <a:pt x="2658331" y="11186"/>
                    <a:pt x="2658331" y="15224"/>
                  </a:cubicBezTo>
                  <a:lnTo>
                    <a:pt x="2658331" y="1847255"/>
                  </a:lnTo>
                  <a:cubicBezTo>
                    <a:pt x="2658331" y="1855663"/>
                    <a:pt x="2651515" y="1862480"/>
                    <a:pt x="2643107" y="1862480"/>
                  </a:cubicBezTo>
                  <a:lnTo>
                    <a:pt x="15224" y="1862480"/>
                  </a:lnTo>
                  <a:cubicBezTo>
                    <a:pt x="11186" y="1862480"/>
                    <a:pt x="7314" y="1860876"/>
                    <a:pt x="4459" y="1858021"/>
                  </a:cubicBezTo>
                  <a:cubicBezTo>
                    <a:pt x="1604" y="1855165"/>
                    <a:pt x="0" y="1851293"/>
                    <a:pt x="0" y="1847255"/>
                  </a:cubicBezTo>
                  <a:lnTo>
                    <a:pt x="0" y="15224"/>
                  </a:lnTo>
                  <a:cubicBezTo>
                    <a:pt x="0" y="11186"/>
                    <a:pt x="1604" y="7314"/>
                    <a:pt x="4459" y="4459"/>
                  </a:cubicBezTo>
                  <a:cubicBezTo>
                    <a:pt x="7314" y="1604"/>
                    <a:pt x="11186" y="0"/>
                    <a:pt x="152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658331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1621" y="2282231"/>
            <a:ext cx="4912901" cy="7125759"/>
            <a:chOff x="0" y="0"/>
            <a:chExt cx="1284099" cy="1862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4099" cy="1862480"/>
            </a:xfrm>
            <a:custGeom>
              <a:avLst/>
              <a:gdLst/>
              <a:ahLst/>
              <a:cxnLst/>
              <a:rect l="l" t="t" r="r" b="b"/>
              <a:pathLst>
                <a:path w="1284099" h="1862480">
                  <a:moveTo>
                    <a:pt x="31517" y="0"/>
                  </a:moveTo>
                  <a:lnTo>
                    <a:pt x="1252582" y="0"/>
                  </a:lnTo>
                  <a:cubicBezTo>
                    <a:pt x="1260941" y="0"/>
                    <a:pt x="1268957" y="3320"/>
                    <a:pt x="1274868" y="9231"/>
                  </a:cubicBezTo>
                  <a:cubicBezTo>
                    <a:pt x="1280778" y="15142"/>
                    <a:pt x="1284099" y="23158"/>
                    <a:pt x="1284099" y="31517"/>
                  </a:cubicBezTo>
                  <a:lnTo>
                    <a:pt x="1284099" y="1830963"/>
                  </a:lnTo>
                  <a:cubicBezTo>
                    <a:pt x="1284099" y="1848369"/>
                    <a:pt x="1269988" y="1862480"/>
                    <a:pt x="1252582" y="1862480"/>
                  </a:cubicBezTo>
                  <a:lnTo>
                    <a:pt x="31517" y="1862480"/>
                  </a:lnTo>
                  <a:cubicBezTo>
                    <a:pt x="23158" y="1862480"/>
                    <a:pt x="15142" y="1859159"/>
                    <a:pt x="9231" y="1853249"/>
                  </a:cubicBezTo>
                  <a:cubicBezTo>
                    <a:pt x="3320" y="1847338"/>
                    <a:pt x="0" y="1839322"/>
                    <a:pt x="0" y="1830963"/>
                  </a:cubicBezTo>
                  <a:lnTo>
                    <a:pt x="0" y="31517"/>
                  </a:lnTo>
                  <a:cubicBezTo>
                    <a:pt x="0" y="23158"/>
                    <a:pt x="3320" y="15142"/>
                    <a:pt x="9231" y="9231"/>
                  </a:cubicBezTo>
                  <a:cubicBezTo>
                    <a:pt x="15142" y="3320"/>
                    <a:pt x="23158" y="0"/>
                    <a:pt x="3151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284099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104762" y="4417685"/>
            <a:ext cx="3780244" cy="339403"/>
          </a:xfrm>
          <a:custGeom>
            <a:avLst/>
            <a:gdLst/>
            <a:ahLst/>
            <a:cxnLst/>
            <a:rect l="l" t="t" r="r" b="b"/>
            <a:pathLst>
              <a:path w="3780244" h="339403">
                <a:moveTo>
                  <a:pt x="0" y="0"/>
                </a:moveTo>
                <a:lnTo>
                  <a:pt x="3780244" y="0"/>
                </a:lnTo>
                <a:lnTo>
                  <a:pt x="3780244" y="339402"/>
                </a:lnTo>
                <a:lnTo>
                  <a:pt x="0" y="339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506504" y="893770"/>
            <a:ext cx="11274991" cy="93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Posisi Salah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13264212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531816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954558" y="2602230"/>
            <a:ext cx="3629571" cy="502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6564"/>
                </a:solidFill>
                <a:latin typeface="TDTD가온"/>
                <a:ea typeface="TDTD가온"/>
                <a:cs typeface="TDTD가온"/>
                <a:sym typeface="TDTD가온"/>
              </a:rPr>
              <a:t>Jawab :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EA6564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EA6564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EA6564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EA6564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EA6564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- 5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8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4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</a:p>
        </p:txBody>
      </p:sp>
      <p:sp>
        <p:nvSpPr>
          <p:cNvPr id="16" name="Freeform 16"/>
          <p:cNvSpPr/>
          <p:nvPr/>
        </p:nvSpPr>
        <p:spPr>
          <a:xfrm>
            <a:off x="1954558" y="3178767"/>
            <a:ext cx="3930448" cy="855331"/>
          </a:xfrm>
          <a:custGeom>
            <a:avLst/>
            <a:gdLst/>
            <a:ahLst/>
            <a:cxnLst/>
            <a:rect l="l" t="t" r="r" b="b"/>
            <a:pathLst>
              <a:path w="3930448" h="855331">
                <a:moveTo>
                  <a:pt x="0" y="0"/>
                </a:moveTo>
                <a:lnTo>
                  <a:pt x="3930448" y="0"/>
                </a:lnTo>
                <a:lnTo>
                  <a:pt x="3930448" y="855331"/>
                </a:lnTo>
                <a:lnTo>
                  <a:pt x="0" y="8553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123583" y="2966676"/>
            <a:ext cx="4002831" cy="1067422"/>
          </a:xfrm>
          <a:custGeom>
            <a:avLst/>
            <a:gdLst/>
            <a:ahLst/>
            <a:cxnLst/>
            <a:rect l="l" t="t" r="r" b="b"/>
            <a:pathLst>
              <a:path w="4002831" h="1067422">
                <a:moveTo>
                  <a:pt x="0" y="0"/>
                </a:moveTo>
                <a:lnTo>
                  <a:pt x="4002831" y="0"/>
                </a:lnTo>
                <a:lnTo>
                  <a:pt x="4002831" y="1067422"/>
                </a:lnTo>
                <a:lnTo>
                  <a:pt x="0" y="10674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1764589" y="2500758"/>
            <a:ext cx="4732632" cy="1585935"/>
          </a:xfrm>
          <a:custGeom>
            <a:avLst/>
            <a:gdLst/>
            <a:ahLst/>
            <a:cxnLst/>
            <a:rect l="l" t="t" r="r" b="b"/>
            <a:pathLst>
              <a:path w="4732632" h="1585935">
                <a:moveTo>
                  <a:pt x="0" y="0"/>
                </a:moveTo>
                <a:lnTo>
                  <a:pt x="4732632" y="0"/>
                </a:lnTo>
                <a:lnTo>
                  <a:pt x="4732632" y="1585935"/>
                </a:lnTo>
                <a:lnTo>
                  <a:pt x="0" y="15859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856215" y="5002977"/>
            <a:ext cx="857481" cy="338479"/>
          </a:xfrm>
          <a:custGeom>
            <a:avLst/>
            <a:gdLst/>
            <a:ahLst/>
            <a:cxnLst/>
            <a:rect l="l" t="t" r="r" b="b"/>
            <a:pathLst>
              <a:path w="857481" h="338479">
                <a:moveTo>
                  <a:pt x="0" y="0"/>
                </a:moveTo>
                <a:lnTo>
                  <a:pt x="857480" y="0"/>
                </a:lnTo>
                <a:lnTo>
                  <a:pt x="857480" y="338479"/>
                </a:lnTo>
                <a:lnTo>
                  <a:pt x="0" y="3384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7123583" y="6205725"/>
            <a:ext cx="5356348" cy="1856160"/>
          </a:xfrm>
          <a:custGeom>
            <a:avLst/>
            <a:gdLst/>
            <a:ahLst/>
            <a:cxnLst/>
            <a:rect l="l" t="t" r="r" b="b"/>
            <a:pathLst>
              <a:path w="5356348" h="1856160">
                <a:moveTo>
                  <a:pt x="0" y="0"/>
                </a:moveTo>
                <a:lnTo>
                  <a:pt x="5356348" y="0"/>
                </a:lnTo>
                <a:lnTo>
                  <a:pt x="5356348" y="1856160"/>
                </a:lnTo>
                <a:lnTo>
                  <a:pt x="0" y="18561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2605007" y="3500387"/>
            <a:ext cx="1348510" cy="720299"/>
            <a:chOff x="0" y="0"/>
            <a:chExt cx="547630" cy="2925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7630" cy="292513"/>
            </a:xfrm>
            <a:custGeom>
              <a:avLst/>
              <a:gdLst/>
              <a:ahLst/>
              <a:cxnLst/>
              <a:rect l="l" t="t" r="r" b="b"/>
              <a:pathLst>
                <a:path w="547630" h="292513">
                  <a:moveTo>
                    <a:pt x="273815" y="0"/>
                  </a:moveTo>
                  <a:cubicBezTo>
                    <a:pt x="122591" y="0"/>
                    <a:pt x="0" y="65481"/>
                    <a:pt x="0" y="146257"/>
                  </a:cubicBezTo>
                  <a:cubicBezTo>
                    <a:pt x="0" y="227032"/>
                    <a:pt x="122591" y="292513"/>
                    <a:pt x="273815" y="292513"/>
                  </a:cubicBezTo>
                  <a:cubicBezTo>
                    <a:pt x="425039" y="292513"/>
                    <a:pt x="547630" y="227032"/>
                    <a:pt x="547630" y="146257"/>
                  </a:cubicBezTo>
                  <a:cubicBezTo>
                    <a:pt x="547630" y="65481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40" y="-29727"/>
              <a:ext cx="444949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85975" y="5263951"/>
            <a:ext cx="1475336" cy="811895"/>
            <a:chOff x="0" y="0"/>
            <a:chExt cx="599134" cy="3297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99134" cy="329711"/>
            </a:xfrm>
            <a:custGeom>
              <a:avLst/>
              <a:gdLst/>
              <a:ahLst/>
              <a:cxnLst/>
              <a:rect l="l" t="t" r="r" b="b"/>
              <a:pathLst>
                <a:path w="599134" h="329711">
                  <a:moveTo>
                    <a:pt x="299567" y="0"/>
                  </a:moveTo>
                  <a:cubicBezTo>
                    <a:pt x="134121" y="0"/>
                    <a:pt x="0" y="73808"/>
                    <a:pt x="0" y="164855"/>
                  </a:cubicBezTo>
                  <a:cubicBezTo>
                    <a:pt x="0" y="255902"/>
                    <a:pt x="134121" y="329711"/>
                    <a:pt x="299567" y="329711"/>
                  </a:cubicBezTo>
                  <a:cubicBezTo>
                    <a:pt x="465013" y="329711"/>
                    <a:pt x="599134" y="255902"/>
                    <a:pt x="599134" y="164855"/>
                  </a:cubicBezTo>
                  <a:cubicBezTo>
                    <a:pt x="599134" y="73808"/>
                    <a:pt x="465013" y="0"/>
                    <a:pt x="299567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69" y="-26240"/>
              <a:ext cx="486796" cy="325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7123583" y="4370272"/>
            <a:ext cx="4475457" cy="1499278"/>
          </a:xfrm>
          <a:custGeom>
            <a:avLst/>
            <a:gdLst/>
            <a:ahLst/>
            <a:cxnLst/>
            <a:rect l="l" t="t" r="r" b="b"/>
            <a:pathLst>
              <a:path w="4475457" h="1499278">
                <a:moveTo>
                  <a:pt x="0" y="0"/>
                </a:moveTo>
                <a:lnTo>
                  <a:pt x="4475457" y="0"/>
                </a:lnTo>
                <a:lnTo>
                  <a:pt x="4475457" y="1499278"/>
                </a:lnTo>
                <a:lnTo>
                  <a:pt x="0" y="14992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7123583" y="2453133"/>
            <a:ext cx="1162708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1: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66478" y="4976587"/>
            <a:ext cx="3044778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Belum Dapat Dilakukan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23583" y="8357160"/>
            <a:ext cx="8508758" cy="415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401">
                <a:solidFill>
                  <a:srgbClr val="309C2A"/>
                </a:solidFill>
                <a:latin typeface="TDTD가온"/>
                <a:ea typeface="TDTD가온"/>
                <a:cs typeface="TDTD가온"/>
                <a:sym typeface="TDTD가온"/>
              </a:rPr>
              <a:t>positif</a:t>
            </a: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xl = -4.5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1621" y="2282231"/>
            <a:ext cx="15369919" cy="7125759"/>
            <a:chOff x="0" y="0"/>
            <a:chExt cx="4017279" cy="1862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17279" cy="1862480"/>
            </a:xfrm>
            <a:custGeom>
              <a:avLst/>
              <a:gdLst/>
              <a:ahLst/>
              <a:cxnLst/>
              <a:rect l="l" t="t" r="r" b="b"/>
              <a:pathLst>
                <a:path w="4017279" h="1862480">
                  <a:moveTo>
                    <a:pt x="10074" y="0"/>
                  </a:moveTo>
                  <a:lnTo>
                    <a:pt x="4007205" y="0"/>
                  </a:lnTo>
                  <a:cubicBezTo>
                    <a:pt x="4012769" y="0"/>
                    <a:pt x="4017279" y="4510"/>
                    <a:pt x="4017279" y="10074"/>
                  </a:cubicBezTo>
                  <a:lnTo>
                    <a:pt x="4017279" y="1852405"/>
                  </a:lnTo>
                  <a:cubicBezTo>
                    <a:pt x="4017279" y="1857969"/>
                    <a:pt x="4012769" y="1862480"/>
                    <a:pt x="4007205" y="1862480"/>
                  </a:cubicBezTo>
                  <a:lnTo>
                    <a:pt x="10074" y="1862480"/>
                  </a:lnTo>
                  <a:cubicBezTo>
                    <a:pt x="7402" y="1862480"/>
                    <a:pt x="4840" y="1861418"/>
                    <a:pt x="2951" y="1859529"/>
                  </a:cubicBezTo>
                  <a:cubicBezTo>
                    <a:pt x="1061" y="1857640"/>
                    <a:pt x="0" y="1855077"/>
                    <a:pt x="0" y="1852405"/>
                  </a:cubicBezTo>
                  <a:lnTo>
                    <a:pt x="0" y="10074"/>
                  </a:lnTo>
                  <a:cubicBezTo>
                    <a:pt x="0" y="4510"/>
                    <a:pt x="4510" y="0"/>
                    <a:pt x="1007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17279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3264212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531816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831364" y="2955207"/>
            <a:ext cx="3301266" cy="780945"/>
          </a:xfrm>
          <a:custGeom>
            <a:avLst/>
            <a:gdLst/>
            <a:ahLst/>
            <a:cxnLst/>
            <a:rect l="l" t="t" r="r" b="b"/>
            <a:pathLst>
              <a:path w="3301266" h="780945">
                <a:moveTo>
                  <a:pt x="0" y="0"/>
                </a:moveTo>
                <a:lnTo>
                  <a:pt x="3301267" y="0"/>
                </a:lnTo>
                <a:lnTo>
                  <a:pt x="3301267" y="780944"/>
                </a:lnTo>
                <a:lnTo>
                  <a:pt x="0" y="780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296116" y="2628460"/>
            <a:ext cx="3585643" cy="1118294"/>
          </a:xfrm>
          <a:custGeom>
            <a:avLst/>
            <a:gdLst/>
            <a:ahLst/>
            <a:cxnLst/>
            <a:rect l="l" t="t" r="r" b="b"/>
            <a:pathLst>
              <a:path w="3585643" h="1118294">
                <a:moveTo>
                  <a:pt x="0" y="0"/>
                </a:moveTo>
                <a:lnTo>
                  <a:pt x="3585642" y="0"/>
                </a:lnTo>
                <a:lnTo>
                  <a:pt x="3585642" y="1118294"/>
                </a:lnTo>
                <a:lnTo>
                  <a:pt x="0" y="1118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31364" y="3918204"/>
            <a:ext cx="3464751" cy="1160692"/>
          </a:xfrm>
          <a:custGeom>
            <a:avLst/>
            <a:gdLst/>
            <a:ahLst/>
            <a:cxnLst/>
            <a:rect l="l" t="t" r="r" b="b"/>
            <a:pathLst>
              <a:path w="3464751" h="1160692">
                <a:moveTo>
                  <a:pt x="0" y="0"/>
                </a:moveTo>
                <a:lnTo>
                  <a:pt x="3464752" y="0"/>
                </a:lnTo>
                <a:lnTo>
                  <a:pt x="3464752" y="1160692"/>
                </a:lnTo>
                <a:lnTo>
                  <a:pt x="0" y="1160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831364" y="5278921"/>
            <a:ext cx="4437338" cy="1292616"/>
          </a:xfrm>
          <a:custGeom>
            <a:avLst/>
            <a:gdLst/>
            <a:ahLst/>
            <a:cxnLst/>
            <a:rect l="l" t="t" r="r" b="b"/>
            <a:pathLst>
              <a:path w="4437338" h="1292616">
                <a:moveTo>
                  <a:pt x="0" y="0"/>
                </a:moveTo>
                <a:lnTo>
                  <a:pt x="4437339" y="0"/>
                </a:lnTo>
                <a:lnTo>
                  <a:pt x="4437339" y="1292616"/>
                </a:lnTo>
                <a:lnTo>
                  <a:pt x="0" y="1292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831364" y="6742987"/>
            <a:ext cx="4437338" cy="1537692"/>
          </a:xfrm>
          <a:custGeom>
            <a:avLst/>
            <a:gdLst/>
            <a:ahLst/>
            <a:cxnLst/>
            <a:rect l="l" t="t" r="r" b="b"/>
            <a:pathLst>
              <a:path w="4437338" h="1537692">
                <a:moveTo>
                  <a:pt x="0" y="0"/>
                </a:moveTo>
                <a:lnTo>
                  <a:pt x="4437339" y="0"/>
                </a:lnTo>
                <a:lnTo>
                  <a:pt x="4437339" y="1537691"/>
                </a:lnTo>
                <a:lnTo>
                  <a:pt x="0" y="15376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5903735" y="3345679"/>
            <a:ext cx="935360" cy="481816"/>
            <a:chOff x="0" y="0"/>
            <a:chExt cx="498507" cy="2567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8507" cy="256788"/>
            </a:xfrm>
            <a:custGeom>
              <a:avLst/>
              <a:gdLst/>
              <a:ahLst/>
              <a:cxnLst/>
              <a:rect l="l" t="t" r="r" b="b"/>
              <a:pathLst>
                <a:path w="498507" h="256788">
                  <a:moveTo>
                    <a:pt x="249254" y="0"/>
                  </a:moveTo>
                  <a:cubicBezTo>
                    <a:pt x="111595" y="0"/>
                    <a:pt x="0" y="57484"/>
                    <a:pt x="0" y="128394"/>
                  </a:cubicBezTo>
                  <a:cubicBezTo>
                    <a:pt x="0" y="199304"/>
                    <a:pt x="111595" y="256788"/>
                    <a:pt x="249254" y="256788"/>
                  </a:cubicBezTo>
                  <a:cubicBezTo>
                    <a:pt x="386913" y="256788"/>
                    <a:pt x="498507" y="199304"/>
                    <a:pt x="498507" y="128394"/>
                  </a:cubicBezTo>
                  <a:cubicBezTo>
                    <a:pt x="498507" y="57484"/>
                    <a:pt x="386913" y="0"/>
                    <a:pt x="249254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735" y="-33076"/>
              <a:ext cx="405037" cy="265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705577" y="3345679"/>
            <a:ext cx="1027529" cy="548849"/>
            <a:chOff x="0" y="0"/>
            <a:chExt cx="547630" cy="2925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7630" cy="292513"/>
            </a:xfrm>
            <a:custGeom>
              <a:avLst/>
              <a:gdLst/>
              <a:ahLst/>
              <a:cxnLst/>
              <a:rect l="l" t="t" r="r" b="b"/>
              <a:pathLst>
                <a:path w="547630" h="292513">
                  <a:moveTo>
                    <a:pt x="273815" y="0"/>
                  </a:moveTo>
                  <a:cubicBezTo>
                    <a:pt x="122591" y="0"/>
                    <a:pt x="0" y="65481"/>
                    <a:pt x="0" y="146257"/>
                  </a:cubicBezTo>
                  <a:cubicBezTo>
                    <a:pt x="0" y="227032"/>
                    <a:pt x="122591" y="292513"/>
                    <a:pt x="273815" y="292513"/>
                  </a:cubicBezTo>
                  <a:cubicBezTo>
                    <a:pt x="425039" y="292513"/>
                    <a:pt x="547630" y="227032"/>
                    <a:pt x="547630" y="146257"/>
                  </a:cubicBezTo>
                  <a:cubicBezTo>
                    <a:pt x="547630" y="65481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340" y="-29727"/>
              <a:ext cx="444949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388211" y="4643041"/>
            <a:ext cx="1093786" cy="584239"/>
            <a:chOff x="0" y="0"/>
            <a:chExt cx="547630" cy="2925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7630" cy="292513"/>
            </a:xfrm>
            <a:custGeom>
              <a:avLst/>
              <a:gdLst/>
              <a:ahLst/>
              <a:cxnLst/>
              <a:rect l="l" t="t" r="r" b="b"/>
              <a:pathLst>
                <a:path w="547630" h="292513">
                  <a:moveTo>
                    <a:pt x="273815" y="0"/>
                  </a:moveTo>
                  <a:cubicBezTo>
                    <a:pt x="122591" y="0"/>
                    <a:pt x="0" y="65481"/>
                    <a:pt x="0" y="146257"/>
                  </a:cubicBezTo>
                  <a:cubicBezTo>
                    <a:pt x="0" y="227032"/>
                    <a:pt x="122591" y="292513"/>
                    <a:pt x="273815" y="292513"/>
                  </a:cubicBezTo>
                  <a:cubicBezTo>
                    <a:pt x="425039" y="292513"/>
                    <a:pt x="547630" y="227032"/>
                    <a:pt x="547630" y="146257"/>
                  </a:cubicBezTo>
                  <a:cubicBezTo>
                    <a:pt x="547630" y="65481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40" y="-29727"/>
              <a:ext cx="444949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541666" y="6091611"/>
            <a:ext cx="1352741" cy="585046"/>
            <a:chOff x="0" y="0"/>
            <a:chExt cx="677282" cy="29291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7282" cy="292917"/>
            </a:xfrm>
            <a:custGeom>
              <a:avLst/>
              <a:gdLst/>
              <a:ahLst/>
              <a:cxnLst/>
              <a:rect l="l" t="t" r="r" b="b"/>
              <a:pathLst>
                <a:path w="677282" h="292917">
                  <a:moveTo>
                    <a:pt x="338641" y="0"/>
                  </a:moveTo>
                  <a:cubicBezTo>
                    <a:pt x="151615" y="0"/>
                    <a:pt x="0" y="65572"/>
                    <a:pt x="0" y="146459"/>
                  </a:cubicBezTo>
                  <a:cubicBezTo>
                    <a:pt x="0" y="227345"/>
                    <a:pt x="151615" y="292917"/>
                    <a:pt x="338641" y="292917"/>
                  </a:cubicBezTo>
                  <a:cubicBezTo>
                    <a:pt x="525667" y="292917"/>
                    <a:pt x="677282" y="227345"/>
                    <a:pt x="677282" y="146459"/>
                  </a:cubicBezTo>
                  <a:cubicBezTo>
                    <a:pt x="677282" y="65572"/>
                    <a:pt x="525667" y="0"/>
                    <a:pt x="338641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495" y="-29689"/>
              <a:ext cx="550291" cy="295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9483910" y="2905140"/>
            <a:ext cx="3388260" cy="738037"/>
          </a:xfrm>
          <a:custGeom>
            <a:avLst/>
            <a:gdLst/>
            <a:ahLst/>
            <a:cxnLst/>
            <a:rect l="l" t="t" r="r" b="b"/>
            <a:pathLst>
              <a:path w="3388260" h="738037">
                <a:moveTo>
                  <a:pt x="0" y="0"/>
                </a:moveTo>
                <a:lnTo>
                  <a:pt x="3388260" y="0"/>
                </a:lnTo>
                <a:lnTo>
                  <a:pt x="3388260" y="738037"/>
                </a:lnTo>
                <a:lnTo>
                  <a:pt x="0" y="7380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3034095" y="2628460"/>
            <a:ext cx="3657600" cy="1140737"/>
          </a:xfrm>
          <a:custGeom>
            <a:avLst/>
            <a:gdLst/>
            <a:ahLst/>
            <a:cxnLst/>
            <a:rect l="l" t="t" r="r" b="b"/>
            <a:pathLst>
              <a:path w="3657600" h="1140737">
                <a:moveTo>
                  <a:pt x="0" y="0"/>
                </a:moveTo>
                <a:lnTo>
                  <a:pt x="3657600" y="0"/>
                </a:lnTo>
                <a:lnTo>
                  <a:pt x="3657600" y="1140736"/>
                </a:lnTo>
                <a:lnTo>
                  <a:pt x="0" y="11407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9483910" y="3894528"/>
            <a:ext cx="3780302" cy="1211867"/>
          </a:xfrm>
          <a:custGeom>
            <a:avLst/>
            <a:gdLst/>
            <a:ahLst/>
            <a:cxnLst/>
            <a:rect l="l" t="t" r="r" b="b"/>
            <a:pathLst>
              <a:path w="3780302" h="1211867">
                <a:moveTo>
                  <a:pt x="0" y="0"/>
                </a:moveTo>
                <a:lnTo>
                  <a:pt x="3780302" y="0"/>
                </a:lnTo>
                <a:lnTo>
                  <a:pt x="3780302" y="1211867"/>
                </a:lnTo>
                <a:lnTo>
                  <a:pt x="0" y="12118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9483910" y="5312517"/>
            <a:ext cx="4033709" cy="1135540"/>
          </a:xfrm>
          <a:custGeom>
            <a:avLst/>
            <a:gdLst/>
            <a:ahLst/>
            <a:cxnLst/>
            <a:rect l="l" t="t" r="r" b="b"/>
            <a:pathLst>
              <a:path w="4033709" h="1135540">
                <a:moveTo>
                  <a:pt x="0" y="0"/>
                </a:moveTo>
                <a:lnTo>
                  <a:pt x="4033709" y="0"/>
                </a:lnTo>
                <a:lnTo>
                  <a:pt x="4033709" y="1135540"/>
                </a:lnTo>
                <a:lnTo>
                  <a:pt x="0" y="113554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9483910" y="6676657"/>
            <a:ext cx="5034914" cy="1670351"/>
          </a:xfrm>
          <a:custGeom>
            <a:avLst/>
            <a:gdLst/>
            <a:ahLst/>
            <a:cxnLst/>
            <a:rect l="l" t="t" r="r" b="b"/>
            <a:pathLst>
              <a:path w="5034914" h="1670351">
                <a:moveTo>
                  <a:pt x="0" y="0"/>
                </a:moveTo>
                <a:lnTo>
                  <a:pt x="5034914" y="0"/>
                </a:lnTo>
                <a:lnTo>
                  <a:pt x="5034914" y="1670351"/>
                </a:lnTo>
                <a:lnTo>
                  <a:pt x="0" y="167035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3506504" y="893770"/>
            <a:ext cx="11274991" cy="93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Posisi Salah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31364" y="2422213"/>
            <a:ext cx="1162708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2: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31364" y="8494938"/>
            <a:ext cx="7312636" cy="415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401">
                <a:solidFill>
                  <a:srgbClr val="309C2A"/>
                </a:solidFill>
                <a:latin typeface="TDTD가온"/>
                <a:ea typeface="TDTD가온"/>
                <a:cs typeface="TDTD가온"/>
                <a:sym typeface="TDTD가온"/>
              </a:rPr>
              <a:t>positif</a:t>
            </a: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xl = -3.8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83910" y="2422213"/>
            <a:ext cx="1162708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3: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83910" y="8524466"/>
            <a:ext cx="6701641" cy="36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101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negatif</a:t>
            </a: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xu = -2.84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084254" y="4658338"/>
            <a:ext cx="1093786" cy="584239"/>
            <a:chOff x="0" y="0"/>
            <a:chExt cx="547630" cy="29251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7630" cy="292513"/>
            </a:xfrm>
            <a:custGeom>
              <a:avLst/>
              <a:gdLst/>
              <a:ahLst/>
              <a:cxnLst/>
              <a:rect l="l" t="t" r="r" b="b"/>
              <a:pathLst>
                <a:path w="547630" h="292513">
                  <a:moveTo>
                    <a:pt x="273815" y="0"/>
                  </a:moveTo>
                  <a:cubicBezTo>
                    <a:pt x="122591" y="0"/>
                    <a:pt x="0" y="65481"/>
                    <a:pt x="0" y="146257"/>
                  </a:cubicBezTo>
                  <a:cubicBezTo>
                    <a:pt x="0" y="227032"/>
                    <a:pt x="122591" y="292513"/>
                    <a:pt x="273815" y="292513"/>
                  </a:cubicBezTo>
                  <a:cubicBezTo>
                    <a:pt x="425039" y="292513"/>
                    <a:pt x="547630" y="227032"/>
                    <a:pt x="547630" y="146257"/>
                  </a:cubicBezTo>
                  <a:cubicBezTo>
                    <a:pt x="547630" y="65481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340" y="-29727"/>
              <a:ext cx="444949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56565" y="6011274"/>
            <a:ext cx="1093786" cy="584239"/>
            <a:chOff x="0" y="0"/>
            <a:chExt cx="547630" cy="29251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47630" cy="292513"/>
            </a:xfrm>
            <a:custGeom>
              <a:avLst/>
              <a:gdLst/>
              <a:ahLst/>
              <a:cxnLst/>
              <a:rect l="l" t="t" r="r" b="b"/>
              <a:pathLst>
                <a:path w="547630" h="292513">
                  <a:moveTo>
                    <a:pt x="273815" y="0"/>
                  </a:moveTo>
                  <a:cubicBezTo>
                    <a:pt x="122591" y="0"/>
                    <a:pt x="0" y="65481"/>
                    <a:pt x="0" y="146257"/>
                  </a:cubicBezTo>
                  <a:cubicBezTo>
                    <a:pt x="0" y="227032"/>
                    <a:pt x="122591" y="292513"/>
                    <a:pt x="273815" y="292513"/>
                  </a:cubicBezTo>
                  <a:cubicBezTo>
                    <a:pt x="425039" y="292513"/>
                    <a:pt x="547630" y="227032"/>
                    <a:pt x="547630" y="146257"/>
                  </a:cubicBezTo>
                  <a:cubicBezTo>
                    <a:pt x="547630" y="65481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340" y="-29727"/>
              <a:ext cx="444949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3" name="AutoShape 43"/>
          <p:cNvSpPr/>
          <p:nvPr/>
        </p:nvSpPr>
        <p:spPr>
          <a:xfrm flipH="1">
            <a:off x="9144000" y="2628460"/>
            <a:ext cx="0" cy="64994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49EB-7316-E6D2-2F01-00885457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973D-A583-BEF1-C31A-65287B44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266700"/>
            <a:ext cx="3673592" cy="1143000"/>
          </a:xfrm>
          <a:ln>
            <a:solidFill>
              <a:schemeClr val="accent6">
                <a:lumMod val="50000"/>
              </a:schemeClr>
            </a:solidFill>
          </a:ln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0084-D25C-85C5-1FF3-040DCDCB4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9404"/>
            <a:ext cx="5143500" cy="6629096"/>
          </a:xfrm>
        </p:spPr>
        <p:txBody>
          <a:bodyPr>
            <a:normAutofit/>
          </a:bodyPr>
          <a:lstStyle/>
          <a:p>
            <a:pPr lvl="0"/>
            <a:r>
              <a:rPr lang="en-US" sz="2400" dirty="0" err="1"/>
              <a:t>Carilah</a:t>
            </a:r>
            <a:r>
              <a:rPr lang="en-US" sz="2400" dirty="0"/>
              <a:t> </a:t>
            </a:r>
            <a:r>
              <a:rPr lang="en-US" sz="2400" dirty="0" err="1"/>
              <a:t>akar</a:t>
            </a:r>
            <a:r>
              <a:rPr lang="en-US" sz="2400" dirty="0"/>
              <a:t> X,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b="1" dirty="0" err="1"/>
              <a:t>Metoda</a:t>
            </a:r>
            <a:r>
              <a:rPr lang="en-US" sz="2400" b="1" dirty="0"/>
              <a:t> </a:t>
            </a:r>
            <a:r>
              <a:rPr lang="en-US" sz="2400" b="1" dirty="0" err="1"/>
              <a:t>posisi</a:t>
            </a:r>
            <a:r>
              <a:rPr lang="en-US" sz="2400" b="1" dirty="0"/>
              <a:t>  salah.</a:t>
            </a:r>
            <a:br>
              <a:rPr lang="en-US" sz="2400" dirty="0"/>
            </a:br>
            <a:r>
              <a:rPr lang="en-US" sz="2400" dirty="0" err="1"/>
              <a:t>Diketahui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f(x) =10 x</a:t>
            </a:r>
            <a:r>
              <a:rPr lang="en-US" sz="2400" baseline="30000" dirty="0"/>
              <a:t>3</a:t>
            </a:r>
            <a:r>
              <a:rPr lang="en-US" sz="2400" dirty="0"/>
              <a:t> - 220 x</a:t>
            </a:r>
            <a:r>
              <a:rPr lang="en-US" sz="2400" baseline="30000" dirty="0"/>
              <a:t>2</a:t>
            </a:r>
            <a:r>
              <a:rPr lang="en-US" sz="2400" dirty="0"/>
              <a:t> - 630 x + 3600</a:t>
            </a:r>
          </a:p>
          <a:p>
            <a:r>
              <a:rPr lang="en-US" sz="2400" dirty="0"/>
              <a:t>Batas </a:t>
            </a:r>
            <a:r>
              <a:rPr lang="en-US" sz="2400" dirty="0" err="1"/>
              <a:t>bawah</a:t>
            </a:r>
            <a:r>
              <a:rPr lang="en-US" sz="2400" dirty="0"/>
              <a:t> (</a:t>
            </a:r>
            <a:r>
              <a:rPr lang="en-US" sz="2400" dirty="0" err="1"/>
              <a:t>Xl</a:t>
            </a:r>
            <a:r>
              <a:rPr lang="en-US" sz="2400" dirty="0"/>
              <a:t>) = 18</a:t>
            </a:r>
          </a:p>
          <a:p>
            <a:r>
              <a:rPr lang="en-US" sz="2400" dirty="0"/>
              <a:t>Batas </a:t>
            </a:r>
            <a:r>
              <a:rPr lang="en-US" sz="2400" dirty="0" err="1"/>
              <a:t>atas</a:t>
            </a:r>
            <a:r>
              <a:rPr lang="en-US" sz="2400" dirty="0"/>
              <a:t> (Xu) = 37</a:t>
            </a:r>
          </a:p>
          <a:p>
            <a:r>
              <a:rPr lang="en-US" sz="2400" dirty="0"/>
              <a:t>Nilai X </a:t>
            </a:r>
            <a:r>
              <a:rPr lang="en-US" sz="2400" dirty="0" err="1"/>
              <a:t>sebenarnya</a:t>
            </a:r>
            <a:r>
              <a:rPr lang="en-US" sz="2400" dirty="0"/>
              <a:t> = 24</a:t>
            </a:r>
          </a:p>
          <a:p>
            <a:r>
              <a:rPr lang="en-US" sz="2400" dirty="0"/>
              <a:t>Pada </a:t>
            </a:r>
            <a:r>
              <a:rPr lang="en-US" sz="2400" dirty="0" err="1"/>
              <a:t>iterasi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 err="1"/>
              <a:t>Xr</a:t>
            </a:r>
            <a:r>
              <a:rPr lang="en-US" sz="2400" dirty="0"/>
              <a:t> = </a:t>
            </a:r>
            <a:r>
              <a:rPr lang="en-US" sz="2400" b="1" dirty="0"/>
              <a:t>19.91</a:t>
            </a:r>
            <a:endParaRPr lang="en-US" sz="2400" dirty="0"/>
          </a:p>
          <a:p>
            <a:r>
              <a:rPr lang="en-US" sz="2400" dirty="0"/>
              <a:t>Pada </a:t>
            </a:r>
            <a:r>
              <a:rPr lang="en-US" sz="2400" dirty="0" err="1"/>
              <a:t>iterasi</a:t>
            </a:r>
            <a:r>
              <a:rPr lang="en-US" sz="2400" dirty="0"/>
              <a:t> </a:t>
            </a:r>
            <a:r>
              <a:rPr lang="en-US" sz="2400" dirty="0" err="1"/>
              <a:t>kedua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 err="1"/>
              <a:t>Xr</a:t>
            </a:r>
            <a:r>
              <a:rPr lang="en-US" sz="2400" dirty="0"/>
              <a:t> = </a:t>
            </a:r>
            <a:r>
              <a:rPr lang="en-US" sz="2400" b="1" dirty="0"/>
              <a:t>21.36</a:t>
            </a:r>
            <a:br>
              <a:rPr lang="en-US" sz="2400" dirty="0"/>
            </a:br>
            <a:r>
              <a:rPr lang="en-US" sz="2400" dirty="0"/>
              <a:t>Et = </a:t>
            </a:r>
            <a:r>
              <a:rPr lang="en-US" sz="2400" b="1" dirty="0"/>
              <a:t>11</a:t>
            </a:r>
            <a:endParaRPr lang="en-US" sz="2400" dirty="0"/>
          </a:p>
          <a:p>
            <a:r>
              <a:rPr lang="en-US" sz="2400" dirty="0"/>
              <a:t>Pada </a:t>
            </a:r>
            <a:r>
              <a:rPr lang="en-US" sz="2400" dirty="0" err="1"/>
              <a:t>iterasi</a:t>
            </a:r>
            <a:r>
              <a:rPr lang="en-US" sz="2400" dirty="0"/>
              <a:t> </a:t>
            </a:r>
            <a:r>
              <a:rPr lang="en-US" sz="2400" dirty="0" err="1"/>
              <a:t>ketiga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 err="1"/>
              <a:t>Xr</a:t>
            </a:r>
            <a:r>
              <a:rPr lang="en-US" sz="2400" dirty="0"/>
              <a:t> = </a:t>
            </a:r>
            <a:r>
              <a:rPr lang="en-US" sz="2400" b="1" dirty="0"/>
              <a:t>22.37</a:t>
            </a:r>
            <a:endParaRPr lang="en-US" sz="2400" dirty="0"/>
          </a:p>
          <a:p>
            <a:r>
              <a:rPr lang="en-US" sz="2400" dirty="0" err="1"/>
              <a:t>Ea</a:t>
            </a:r>
            <a:r>
              <a:rPr lang="en-US" sz="2400" dirty="0"/>
              <a:t> = </a:t>
            </a:r>
            <a:r>
              <a:rPr lang="en-US" sz="2400" b="1" dirty="0"/>
              <a:t>4.51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B9B7C-9F2B-2382-AC36-27ABB2C39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400300"/>
            <a:ext cx="6357804" cy="44196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3E06FB-363C-EC0B-2AC7-B86366572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430784"/>
            <a:ext cx="6422572" cy="531265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EEC440-1DAB-BA82-9A51-E0FB54CE9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294" y="6057900"/>
            <a:ext cx="6390860" cy="380969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06479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74C33-0D42-204C-3F1D-A9E383696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5B46-3783-B25A-633F-DC8EF322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7D0583-F155-CBD7-4684-D1F3F4F2A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29382"/>
            <a:ext cx="3505200" cy="7843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F37F77-6DB1-4F11-0AFD-1F3B6EEA81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343"/>
          <a:stretch>
            <a:fillRect/>
          </a:stretch>
        </p:blipFill>
        <p:spPr>
          <a:xfrm>
            <a:off x="914401" y="1281294"/>
            <a:ext cx="3505199" cy="10428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E29167-FADD-7A31-A6AD-86A6418F3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1644364"/>
            <a:ext cx="11371232" cy="809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84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06504" y="893770"/>
            <a:ext cx="11274991" cy="93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Posisi Salah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3264212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531816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200850" y="2236965"/>
            <a:ext cx="6968275" cy="7515919"/>
            <a:chOff x="0" y="0"/>
            <a:chExt cx="1698839" cy="18323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8839" cy="1832352"/>
            </a:xfrm>
            <a:custGeom>
              <a:avLst/>
              <a:gdLst/>
              <a:ahLst/>
              <a:cxnLst/>
              <a:rect l="l" t="t" r="r" b="b"/>
              <a:pathLst>
                <a:path w="1698839" h="1832352">
                  <a:moveTo>
                    <a:pt x="22220" y="0"/>
                  </a:moveTo>
                  <a:lnTo>
                    <a:pt x="1676618" y="0"/>
                  </a:lnTo>
                  <a:cubicBezTo>
                    <a:pt x="1688890" y="0"/>
                    <a:pt x="1698839" y="9948"/>
                    <a:pt x="1698839" y="22220"/>
                  </a:cubicBezTo>
                  <a:lnTo>
                    <a:pt x="1698839" y="1810132"/>
                  </a:lnTo>
                  <a:cubicBezTo>
                    <a:pt x="1698839" y="1816025"/>
                    <a:pt x="1696498" y="1821677"/>
                    <a:pt x="1692331" y="1825844"/>
                  </a:cubicBezTo>
                  <a:cubicBezTo>
                    <a:pt x="1688163" y="1830011"/>
                    <a:pt x="1682511" y="1832352"/>
                    <a:pt x="1676618" y="1832352"/>
                  </a:cubicBezTo>
                  <a:lnTo>
                    <a:pt x="22220" y="1832352"/>
                  </a:lnTo>
                  <a:cubicBezTo>
                    <a:pt x="16327" y="1832352"/>
                    <a:pt x="10675" y="1830011"/>
                    <a:pt x="6508" y="1825844"/>
                  </a:cubicBezTo>
                  <a:cubicBezTo>
                    <a:pt x="2341" y="1821677"/>
                    <a:pt x="0" y="1816025"/>
                    <a:pt x="0" y="1810132"/>
                  </a:cubicBezTo>
                  <a:lnTo>
                    <a:pt x="0" y="22220"/>
                  </a:lnTo>
                  <a:cubicBezTo>
                    <a:pt x="0" y="16327"/>
                    <a:pt x="2341" y="10675"/>
                    <a:pt x="6508" y="6508"/>
                  </a:cubicBezTo>
                  <a:cubicBezTo>
                    <a:pt x="10675" y="2341"/>
                    <a:pt x="16327" y="0"/>
                    <a:pt x="2222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698839" cy="1889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194" y="2601702"/>
            <a:ext cx="6538874" cy="160877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8651427" y="2278791"/>
            <a:ext cx="8607873" cy="7474093"/>
            <a:chOff x="0" y="0"/>
            <a:chExt cx="2249864" cy="19535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49864" cy="1953525"/>
            </a:xfrm>
            <a:custGeom>
              <a:avLst/>
              <a:gdLst/>
              <a:ahLst/>
              <a:cxnLst/>
              <a:rect l="l" t="t" r="r" b="b"/>
              <a:pathLst>
                <a:path w="2249864" h="1953525">
                  <a:moveTo>
                    <a:pt x="17988" y="0"/>
                  </a:moveTo>
                  <a:lnTo>
                    <a:pt x="2231876" y="0"/>
                  </a:lnTo>
                  <a:cubicBezTo>
                    <a:pt x="2241810" y="0"/>
                    <a:pt x="2249864" y="8054"/>
                    <a:pt x="2249864" y="17988"/>
                  </a:cubicBezTo>
                  <a:lnTo>
                    <a:pt x="2249864" y="1935537"/>
                  </a:lnTo>
                  <a:cubicBezTo>
                    <a:pt x="2249864" y="1945471"/>
                    <a:pt x="2241810" y="1953525"/>
                    <a:pt x="2231876" y="1953525"/>
                  </a:cubicBezTo>
                  <a:lnTo>
                    <a:pt x="17988" y="1953525"/>
                  </a:lnTo>
                  <a:cubicBezTo>
                    <a:pt x="8054" y="1953525"/>
                    <a:pt x="0" y="1945471"/>
                    <a:pt x="0" y="1935537"/>
                  </a:cubicBezTo>
                  <a:lnTo>
                    <a:pt x="0" y="17988"/>
                  </a:lnTo>
                  <a:cubicBezTo>
                    <a:pt x="0" y="8054"/>
                    <a:pt x="8054" y="0"/>
                    <a:pt x="179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249864" cy="201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914238" y="3036891"/>
            <a:ext cx="3754249" cy="1032418"/>
          </a:xfrm>
          <a:custGeom>
            <a:avLst/>
            <a:gdLst/>
            <a:ahLst/>
            <a:cxnLst/>
            <a:rect l="l" t="t" r="r" b="b"/>
            <a:pathLst>
              <a:path w="3754249" h="1032418">
                <a:moveTo>
                  <a:pt x="0" y="0"/>
                </a:moveTo>
                <a:lnTo>
                  <a:pt x="3754248" y="0"/>
                </a:lnTo>
                <a:lnTo>
                  <a:pt x="3754248" y="1032418"/>
                </a:lnTo>
                <a:lnTo>
                  <a:pt x="0" y="1032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955364" y="2864943"/>
            <a:ext cx="4024678" cy="1376315"/>
          </a:xfrm>
          <a:custGeom>
            <a:avLst/>
            <a:gdLst/>
            <a:ahLst/>
            <a:cxnLst/>
            <a:rect l="l" t="t" r="r" b="b"/>
            <a:pathLst>
              <a:path w="4024678" h="1376315">
                <a:moveTo>
                  <a:pt x="0" y="0"/>
                </a:moveTo>
                <a:lnTo>
                  <a:pt x="4024678" y="0"/>
                </a:lnTo>
                <a:lnTo>
                  <a:pt x="4024678" y="1376315"/>
                </a:lnTo>
                <a:lnTo>
                  <a:pt x="0" y="13763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914238" y="4586116"/>
            <a:ext cx="4603381" cy="1704014"/>
          </a:xfrm>
          <a:custGeom>
            <a:avLst/>
            <a:gdLst/>
            <a:ahLst/>
            <a:cxnLst/>
            <a:rect l="l" t="t" r="r" b="b"/>
            <a:pathLst>
              <a:path w="4603381" h="1704014">
                <a:moveTo>
                  <a:pt x="0" y="0"/>
                </a:moveTo>
                <a:lnTo>
                  <a:pt x="4603381" y="0"/>
                </a:lnTo>
                <a:lnTo>
                  <a:pt x="4603381" y="1704015"/>
                </a:lnTo>
                <a:lnTo>
                  <a:pt x="0" y="17040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398760" y="5919260"/>
            <a:ext cx="857481" cy="338479"/>
          </a:xfrm>
          <a:custGeom>
            <a:avLst/>
            <a:gdLst/>
            <a:ahLst/>
            <a:cxnLst/>
            <a:rect l="l" t="t" r="r" b="b"/>
            <a:pathLst>
              <a:path w="857481" h="338479">
                <a:moveTo>
                  <a:pt x="0" y="0"/>
                </a:moveTo>
                <a:lnTo>
                  <a:pt x="857480" y="0"/>
                </a:lnTo>
                <a:lnTo>
                  <a:pt x="857480" y="338479"/>
                </a:lnTo>
                <a:lnTo>
                  <a:pt x="0" y="3384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914238" y="6610655"/>
            <a:ext cx="5598583" cy="2084579"/>
          </a:xfrm>
          <a:custGeom>
            <a:avLst/>
            <a:gdLst/>
            <a:ahLst/>
            <a:cxnLst/>
            <a:rect l="l" t="t" r="r" b="b"/>
            <a:pathLst>
              <a:path w="5598583" h="2084579">
                <a:moveTo>
                  <a:pt x="0" y="0"/>
                </a:moveTo>
                <a:lnTo>
                  <a:pt x="5598583" y="0"/>
                </a:lnTo>
                <a:lnTo>
                  <a:pt x="5598583" y="2084579"/>
                </a:lnTo>
                <a:lnTo>
                  <a:pt x="0" y="2084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534735" y="3913216"/>
            <a:ext cx="3912924" cy="152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894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bawah (XL) = -2</a:t>
            </a:r>
          </a:p>
          <a:p>
            <a:pPr algn="l">
              <a:lnSpc>
                <a:spcPts val="4052"/>
              </a:lnSpc>
            </a:pPr>
            <a:r>
              <a:rPr lang="en-US" sz="2894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Batas atas (Xu) = 3</a:t>
            </a:r>
          </a:p>
          <a:p>
            <a:pPr algn="l">
              <a:lnSpc>
                <a:spcPts val="4052"/>
              </a:lnSpc>
            </a:pPr>
            <a:r>
              <a:rPr lang="en-US" sz="2894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Nilai X sebenarnya =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34735" y="2316891"/>
            <a:ext cx="2812147" cy="70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082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Diketahui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9901" y="5695299"/>
            <a:ext cx="6330174" cy="91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62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akar x dengan menggunakan metoda bagi dua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4735" y="6677330"/>
            <a:ext cx="6330174" cy="276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971" lvl="1" indent="-282985" algn="l">
              <a:lnSpc>
                <a:spcPts val="3670"/>
              </a:lnSpc>
              <a:buFont typeface="Arial"/>
              <a:buChar char="•"/>
            </a:pPr>
            <a:r>
              <a:rPr lang="en-US" sz="262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catatan:</a:t>
            </a:r>
          </a:p>
          <a:p>
            <a:pPr marL="1131941" lvl="2" indent="-377314" algn="l">
              <a:lnSpc>
                <a:spcPts val="3670"/>
              </a:lnSpc>
              <a:buFont typeface="Arial"/>
              <a:buChar char="⚬"/>
            </a:pPr>
            <a:r>
              <a:rPr lang="en-US" sz="262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tiap iterasi cari Et dan Ea</a:t>
            </a:r>
          </a:p>
          <a:p>
            <a:pPr marL="1131941" lvl="2" indent="-377314" algn="l">
              <a:lnSpc>
                <a:spcPts val="3670"/>
              </a:lnSpc>
              <a:buFont typeface="Arial"/>
              <a:buChar char="⚬"/>
            </a:pPr>
            <a:r>
              <a:rPr lang="en-US" sz="262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ketelitian 2 angka di belakang koma</a:t>
            </a:r>
          </a:p>
          <a:p>
            <a:pPr marL="1131941" lvl="2" indent="-377314" algn="l">
              <a:lnSpc>
                <a:spcPts val="3670"/>
              </a:lnSpc>
              <a:buFont typeface="Arial"/>
              <a:buChar char="⚬"/>
            </a:pPr>
            <a:r>
              <a:rPr lang="en-US" sz="262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cari iterasi 1 sampai iterasi 3</a:t>
            </a:r>
          </a:p>
          <a:p>
            <a:pPr marL="1131941" lvl="2" indent="-377314" algn="l">
              <a:lnSpc>
                <a:spcPts val="3670"/>
              </a:lnSpc>
              <a:buFont typeface="Arial"/>
              <a:buChar char="⚬"/>
            </a:pPr>
            <a:r>
              <a:rPr lang="en-US" sz="262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tuliskan rumusnya terlebih dahulu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0850" y="1573031"/>
            <a:ext cx="4269540" cy="70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73"/>
              </a:lnSpc>
            </a:pPr>
            <a:r>
              <a:rPr lang="en-US" sz="4546">
                <a:solidFill>
                  <a:srgbClr val="6E4E3B"/>
                </a:solidFill>
                <a:latin typeface="Funtastic"/>
                <a:ea typeface="Funtastic"/>
                <a:cs typeface="Funtastic"/>
                <a:sym typeface="Funtastic"/>
              </a:rPr>
              <a:t>Contoh Soal 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14238" y="2504542"/>
            <a:ext cx="1162708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1: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09023" y="5892870"/>
            <a:ext cx="3044778" cy="36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Belum Dapat Dilakukan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14238" y="8971459"/>
            <a:ext cx="6701641" cy="36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101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negatif</a:t>
            </a:r>
            <a:r>
              <a:rPr lang="en-US" sz="21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xu = -2.62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593259" y="3777190"/>
            <a:ext cx="1093786" cy="584239"/>
            <a:chOff x="0" y="0"/>
            <a:chExt cx="547630" cy="29251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7630" cy="292513"/>
            </a:xfrm>
            <a:custGeom>
              <a:avLst/>
              <a:gdLst/>
              <a:ahLst/>
              <a:cxnLst/>
              <a:rect l="l" t="t" r="r" b="b"/>
              <a:pathLst>
                <a:path w="547630" h="292513">
                  <a:moveTo>
                    <a:pt x="273815" y="0"/>
                  </a:moveTo>
                  <a:cubicBezTo>
                    <a:pt x="122591" y="0"/>
                    <a:pt x="0" y="65481"/>
                    <a:pt x="0" y="146257"/>
                  </a:cubicBezTo>
                  <a:cubicBezTo>
                    <a:pt x="0" y="227032"/>
                    <a:pt x="122591" y="292513"/>
                    <a:pt x="273815" y="292513"/>
                  </a:cubicBezTo>
                  <a:cubicBezTo>
                    <a:pt x="425039" y="292513"/>
                    <a:pt x="547630" y="227032"/>
                    <a:pt x="547630" y="146257"/>
                  </a:cubicBezTo>
                  <a:cubicBezTo>
                    <a:pt x="547630" y="65481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340" y="-29727"/>
              <a:ext cx="444949" cy="294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839700" y="5723935"/>
            <a:ext cx="1093786" cy="652058"/>
            <a:chOff x="0" y="0"/>
            <a:chExt cx="547630" cy="32646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47630" cy="326468"/>
            </a:xfrm>
            <a:custGeom>
              <a:avLst/>
              <a:gdLst/>
              <a:ahLst/>
              <a:cxnLst/>
              <a:rect l="l" t="t" r="r" b="b"/>
              <a:pathLst>
                <a:path w="547630" h="326468">
                  <a:moveTo>
                    <a:pt x="273815" y="0"/>
                  </a:moveTo>
                  <a:cubicBezTo>
                    <a:pt x="122591" y="0"/>
                    <a:pt x="0" y="73082"/>
                    <a:pt x="0" y="163234"/>
                  </a:cubicBezTo>
                  <a:cubicBezTo>
                    <a:pt x="0" y="253386"/>
                    <a:pt x="122591" y="326468"/>
                    <a:pt x="273815" y="326468"/>
                  </a:cubicBezTo>
                  <a:cubicBezTo>
                    <a:pt x="425039" y="326468"/>
                    <a:pt x="547630" y="253386"/>
                    <a:pt x="547630" y="163234"/>
                  </a:cubicBezTo>
                  <a:cubicBezTo>
                    <a:pt x="547630" y="73082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340" y="-26544"/>
              <a:ext cx="444949" cy="322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1621" y="2282231"/>
            <a:ext cx="15369919" cy="7125759"/>
            <a:chOff x="0" y="0"/>
            <a:chExt cx="4017279" cy="1862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17279" cy="1862480"/>
            </a:xfrm>
            <a:custGeom>
              <a:avLst/>
              <a:gdLst/>
              <a:ahLst/>
              <a:cxnLst/>
              <a:rect l="l" t="t" r="r" b="b"/>
              <a:pathLst>
                <a:path w="4017279" h="1862480">
                  <a:moveTo>
                    <a:pt x="10074" y="0"/>
                  </a:moveTo>
                  <a:lnTo>
                    <a:pt x="4007205" y="0"/>
                  </a:lnTo>
                  <a:cubicBezTo>
                    <a:pt x="4012769" y="0"/>
                    <a:pt x="4017279" y="4510"/>
                    <a:pt x="4017279" y="10074"/>
                  </a:cubicBezTo>
                  <a:lnTo>
                    <a:pt x="4017279" y="1852405"/>
                  </a:lnTo>
                  <a:cubicBezTo>
                    <a:pt x="4017279" y="1857969"/>
                    <a:pt x="4012769" y="1862480"/>
                    <a:pt x="4007205" y="1862480"/>
                  </a:cubicBezTo>
                  <a:lnTo>
                    <a:pt x="10074" y="1862480"/>
                  </a:lnTo>
                  <a:cubicBezTo>
                    <a:pt x="7402" y="1862480"/>
                    <a:pt x="4840" y="1861418"/>
                    <a:pt x="2951" y="1859529"/>
                  </a:cubicBezTo>
                  <a:cubicBezTo>
                    <a:pt x="1061" y="1857640"/>
                    <a:pt x="0" y="1855077"/>
                    <a:pt x="0" y="1852405"/>
                  </a:cubicBezTo>
                  <a:lnTo>
                    <a:pt x="0" y="10074"/>
                  </a:lnTo>
                  <a:cubicBezTo>
                    <a:pt x="0" y="4510"/>
                    <a:pt x="4510" y="0"/>
                    <a:pt x="1007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17279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3264212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531816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831364" y="2977857"/>
            <a:ext cx="5665733" cy="1305195"/>
          </a:xfrm>
          <a:custGeom>
            <a:avLst/>
            <a:gdLst/>
            <a:ahLst/>
            <a:cxnLst/>
            <a:rect l="l" t="t" r="r" b="b"/>
            <a:pathLst>
              <a:path w="5665733" h="1305195">
                <a:moveTo>
                  <a:pt x="0" y="0"/>
                </a:moveTo>
                <a:lnTo>
                  <a:pt x="5665733" y="0"/>
                </a:lnTo>
                <a:lnTo>
                  <a:pt x="5665733" y="1305195"/>
                </a:lnTo>
                <a:lnTo>
                  <a:pt x="0" y="1305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79980" y="2648894"/>
            <a:ext cx="6239513" cy="1634158"/>
          </a:xfrm>
          <a:custGeom>
            <a:avLst/>
            <a:gdLst/>
            <a:ahLst/>
            <a:cxnLst/>
            <a:rect l="l" t="t" r="r" b="b"/>
            <a:pathLst>
              <a:path w="6239513" h="1634158">
                <a:moveTo>
                  <a:pt x="0" y="0"/>
                </a:moveTo>
                <a:lnTo>
                  <a:pt x="6239514" y="0"/>
                </a:lnTo>
                <a:lnTo>
                  <a:pt x="6239514" y="1634158"/>
                </a:lnTo>
                <a:lnTo>
                  <a:pt x="0" y="1634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31364" y="4564779"/>
            <a:ext cx="5361040" cy="1984473"/>
          </a:xfrm>
          <a:custGeom>
            <a:avLst/>
            <a:gdLst/>
            <a:ahLst/>
            <a:cxnLst/>
            <a:rect l="l" t="t" r="r" b="b"/>
            <a:pathLst>
              <a:path w="5361040" h="1984473">
                <a:moveTo>
                  <a:pt x="0" y="0"/>
                </a:moveTo>
                <a:lnTo>
                  <a:pt x="5361040" y="0"/>
                </a:lnTo>
                <a:lnTo>
                  <a:pt x="5361040" y="1984474"/>
                </a:lnTo>
                <a:lnTo>
                  <a:pt x="0" y="19844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679980" y="4564779"/>
            <a:ext cx="6101515" cy="1984473"/>
          </a:xfrm>
          <a:custGeom>
            <a:avLst/>
            <a:gdLst/>
            <a:ahLst/>
            <a:cxnLst/>
            <a:rect l="l" t="t" r="r" b="b"/>
            <a:pathLst>
              <a:path w="6101515" h="1984473">
                <a:moveTo>
                  <a:pt x="0" y="0"/>
                </a:moveTo>
                <a:lnTo>
                  <a:pt x="6101516" y="0"/>
                </a:lnTo>
                <a:lnTo>
                  <a:pt x="6101516" y="1984474"/>
                </a:lnTo>
                <a:lnTo>
                  <a:pt x="0" y="19844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831364" y="6835003"/>
            <a:ext cx="5892726" cy="2205833"/>
          </a:xfrm>
          <a:custGeom>
            <a:avLst/>
            <a:gdLst/>
            <a:ahLst/>
            <a:cxnLst/>
            <a:rect l="l" t="t" r="r" b="b"/>
            <a:pathLst>
              <a:path w="5892726" h="2205833">
                <a:moveTo>
                  <a:pt x="0" y="0"/>
                </a:moveTo>
                <a:lnTo>
                  <a:pt x="5892726" y="0"/>
                </a:lnTo>
                <a:lnTo>
                  <a:pt x="5892726" y="2205833"/>
                </a:lnTo>
                <a:lnTo>
                  <a:pt x="0" y="22058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506504" y="893770"/>
            <a:ext cx="11274991" cy="93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Posisi Salah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31364" y="2412688"/>
            <a:ext cx="1413632" cy="415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2: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3654" y="8485413"/>
            <a:ext cx="8572166" cy="49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8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801">
                <a:solidFill>
                  <a:srgbClr val="FF3131"/>
                </a:solidFill>
                <a:latin typeface="TDTD가온"/>
                <a:ea typeface="TDTD가온"/>
                <a:cs typeface="TDTD가온"/>
                <a:sym typeface="TDTD가온"/>
              </a:rPr>
              <a:t>negatif</a:t>
            </a:r>
            <a:r>
              <a:rPr lang="en-US" sz="28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xu = -2.32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895719" y="5922004"/>
            <a:ext cx="1302219" cy="776314"/>
            <a:chOff x="0" y="0"/>
            <a:chExt cx="547630" cy="3264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7630" cy="326468"/>
            </a:xfrm>
            <a:custGeom>
              <a:avLst/>
              <a:gdLst/>
              <a:ahLst/>
              <a:cxnLst/>
              <a:rect l="l" t="t" r="r" b="b"/>
              <a:pathLst>
                <a:path w="547630" h="326468">
                  <a:moveTo>
                    <a:pt x="273815" y="0"/>
                  </a:moveTo>
                  <a:cubicBezTo>
                    <a:pt x="122591" y="0"/>
                    <a:pt x="0" y="73082"/>
                    <a:pt x="0" y="163234"/>
                  </a:cubicBezTo>
                  <a:cubicBezTo>
                    <a:pt x="0" y="253386"/>
                    <a:pt x="122591" y="326468"/>
                    <a:pt x="273815" y="326468"/>
                  </a:cubicBezTo>
                  <a:cubicBezTo>
                    <a:pt x="425039" y="326468"/>
                    <a:pt x="547630" y="253386"/>
                    <a:pt x="547630" y="163234"/>
                  </a:cubicBezTo>
                  <a:cubicBezTo>
                    <a:pt x="547630" y="73082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340" y="-26544"/>
              <a:ext cx="444949" cy="322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36767" y="3721710"/>
            <a:ext cx="1302219" cy="776314"/>
            <a:chOff x="0" y="0"/>
            <a:chExt cx="547630" cy="3264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7630" cy="326468"/>
            </a:xfrm>
            <a:custGeom>
              <a:avLst/>
              <a:gdLst/>
              <a:ahLst/>
              <a:cxnLst/>
              <a:rect l="l" t="t" r="r" b="b"/>
              <a:pathLst>
                <a:path w="547630" h="326468">
                  <a:moveTo>
                    <a:pt x="273815" y="0"/>
                  </a:moveTo>
                  <a:cubicBezTo>
                    <a:pt x="122591" y="0"/>
                    <a:pt x="0" y="73082"/>
                    <a:pt x="0" y="163234"/>
                  </a:cubicBezTo>
                  <a:cubicBezTo>
                    <a:pt x="0" y="253386"/>
                    <a:pt x="122591" y="326468"/>
                    <a:pt x="273815" y="326468"/>
                  </a:cubicBezTo>
                  <a:cubicBezTo>
                    <a:pt x="425039" y="326468"/>
                    <a:pt x="547630" y="253386"/>
                    <a:pt x="547630" y="163234"/>
                  </a:cubicBezTo>
                  <a:cubicBezTo>
                    <a:pt x="547630" y="73082"/>
                    <a:pt x="425039" y="0"/>
                    <a:pt x="27381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40" y="-26544"/>
              <a:ext cx="444949" cy="322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849178" y="5883474"/>
            <a:ext cx="2046469" cy="853208"/>
            <a:chOff x="0" y="0"/>
            <a:chExt cx="860613" cy="3588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0613" cy="358804"/>
            </a:xfrm>
            <a:custGeom>
              <a:avLst/>
              <a:gdLst/>
              <a:ahLst/>
              <a:cxnLst/>
              <a:rect l="l" t="t" r="r" b="b"/>
              <a:pathLst>
                <a:path w="860613" h="358804">
                  <a:moveTo>
                    <a:pt x="430307" y="0"/>
                  </a:moveTo>
                  <a:cubicBezTo>
                    <a:pt x="192655" y="0"/>
                    <a:pt x="0" y="80321"/>
                    <a:pt x="0" y="179402"/>
                  </a:cubicBezTo>
                  <a:cubicBezTo>
                    <a:pt x="0" y="278483"/>
                    <a:pt x="192655" y="358804"/>
                    <a:pt x="430307" y="358804"/>
                  </a:cubicBezTo>
                  <a:cubicBezTo>
                    <a:pt x="667958" y="358804"/>
                    <a:pt x="860613" y="278483"/>
                    <a:pt x="860613" y="179402"/>
                  </a:cubicBezTo>
                  <a:cubicBezTo>
                    <a:pt x="860613" y="80321"/>
                    <a:pt x="667958" y="0"/>
                    <a:pt x="430307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682" y="-23512"/>
              <a:ext cx="699248" cy="348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6257739"/>
            <a:ext cx="19479934" cy="4588699"/>
            <a:chOff x="0" y="0"/>
            <a:chExt cx="5130518" cy="1208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208546"/>
            </a:xfrm>
            <a:custGeom>
              <a:avLst/>
              <a:gdLst/>
              <a:ahLst/>
              <a:cxnLst/>
              <a:rect l="l" t="t" r="r" b="b"/>
              <a:pathLst>
                <a:path w="5130517" h="1208546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196623"/>
                  </a:lnTo>
                  <a:cubicBezTo>
                    <a:pt x="5130517" y="1199785"/>
                    <a:pt x="5129261" y="1202818"/>
                    <a:pt x="5127025" y="1205054"/>
                  </a:cubicBezTo>
                  <a:cubicBezTo>
                    <a:pt x="5124790" y="1207290"/>
                    <a:pt x="5121757" y="1208546"/>
                    <a:pt x="5118595" y="1208546"/>
                  </a:cubicBezTo>
                  <a:lnTo>
                    <a:pt x="11923" y="1208546"/>
                  </a:lnTo>
                  <a:cubicBezTo>
                    <a:pt x="8761" y="1208546"/>
                    <a:pt x="5728" y="1207290"/>
                    <a:pt x="3492" y="1205054"/>
                  </a:cubicBezTo>
                  <a:cubicBezTo>
                    <a:pt x="1256" y="1202818"/>
                    <a:pt x="0" y="1199785"/>
                    <a:pt x="0" y="1196623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265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1621" y="2282231"/>
            <a:ext cx="15369919" cy="7125759"/>
            <a:chOff x="0" y="0"/>
            <a:chExt cx="4017279" cy="1862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17279" cy="1862480"/>
            </a:xfrm>
            <a:custGeom>
              <a:avLst/>
              <a:gdLst/>
              <a:ahLst/>
              <a:cxnLst/>
              <a:rect l="l" t="t" r="r" b="b"/>
              <a:pathLst>
                <a:path w="4017279" h="1862480">
                  <a:moveTo>
                    <a:pt x="10074" y="0"/>
                  </a:moveTo>
                  <a:lnTo>
                    <a:pt x="4007205" y="0"/>
                  </a:lnTo>
                  <a:cubicBezTo>
                    <a:pt x="4012769" y="0"/>
                    <a:pt x="4017279" y="4510"/>
                    <a:pt x="4017279" y="10074"/>
                  </a:cubicBezTo>
                  <a:lnTo>
                    <a:pt x="4017279" y="1852405"/>
                  </a:lnTo>
                  <a:cubicBezTo>
                    <a:pt x="4017279" y="1857969"/>
                    <a:pt x="4012769" y="1862480"/>
                    <a:pt x="4007205" y="1862480"/>
                  </a:cubicBezTo>
                  <a:lnTo>
                    <a:pt x="10074" y="1862480"/>
                  </a:lnTo>
                  <a:cubicBezTo>
                    <a:pt x="7402" y="1862480"/>
                    <a:pt x="4840" y="1861418"/>
                    <a:pt x="2951" y="1859529"/>
                  </a:cubicBezTo>
                  <a:cubicBezTo>
                    <a:pt x="1061" y="1857640"/>
                    <a:pt x="0" y="1855077"/>
                    <a:pt x="0" y="1852405"/>
                  </a:cubicBezTo>
                  <a:lnTo>
                    <a:pt x="0" y="10074"/>
                  </a:lnTo>
                  <a:cubicBezTo>
                    <a:pt x="0" y="4510"/>
                    <a:pt x="4510" y="0"/>
                    <a:pt x="1007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17279" cy="191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3264212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506815" y="0"/>
                </a:moveTo>
                <a:lnTo>
                  <a:pt x="0" y="0"/>
                </a:lnTo>
                <a:lnTo>
                  <a:pt x="0" y="727803"/>
                </a:lnTo>
                <a:lnTo>
                  <a:pt x="506815" y="727803"/>
                </a:lnTo>
                <a:lnTo>
                  <a:pt x="506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531816" y="1015904"/>
            <a:ext cx="506815" cy="727802"/>
          </a:xfrm>
          <a:custGeom>
            <a:avLst/>
            <a:gdLst/>
            <a:ahLst/>
            <a:cxnLst/>
            <a:rect l="l" t="t" r="r" b="b"/>
            <a:pathLst>
              <a:path w="506815" h="727802">
                <a:moveTo>
                  <a:pt x="0" y="0"/>
                </a:moveTo>
                <a:lnTo>
                  <a:pt x="506815" y="0"/>
                </a:lnTo>
                <a:lnTo>
                  <a:pt x="506815" y="727803"/>
                </a:lnTo>
                <a:lnTo>
                  <a:pt x="0" y="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831364" y="2996233"/>
            <a:ext cx="5358021" cy="1240805"/>
          </a:xfrm>
          <a:custGeom>
            <a:avLst/>
            <a:gdLst/>
            <a:ahLst/>
            <a:cxnLst/>
            <a:rect l="l" t="t" r="r" b="b"/>
            <a:pathLst>
              <a:path w="5358021" h="1240805">
                <a:moveTo>
                  <a:pt x="0" y="0"/>
                </a:moveTo>
                <a:lnTo>
                  <a:pt x="5358021" y="0"/>
                </a:lnTo>
                <a:lnTo>
                  <a:pt x="5358021" y="1240805"/>
                </a:lnTo>
                <a:lnTo>
                  <a:pt x="0" y="12408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771225" y="2827950"/>
            <a:ext cx="6214813" cy="1627689"/>
          </a:xfrm>
          <a:custGeom>
            <a:avLst/>
            <a:gdLst/>
            <a:ahLst/>
            <a:cxnLst/>
            <a:rect l="l" t="t" r="r" b="b"/>
            <a:pathLst>
              <a:path w="6214813" h="1627689">
                <a:moveTo>
                  <a:pt x="0" y="0"/>
                </a:moveTo>
                <a:lnTo>
                  <a:pt x="6214813" y="0"/>
                </a:lnTo>
                <a:lnTo>
                  <a:pt x="6214813" y="1627689"/>
                </a:lnTo>
                <a:lnTo>
                  <a:pt x="0" y="16276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31364" y="4491192"/>
            <a:ext cx="5089948" cy="1884124"/>
          </a:xfrm>
          <a:custGeom>
            <a:avLst/>
            <a:gdLst/>
            <a:ahLst/>
            <a:cxnLst/>
            <a:rect l="l" t="t" r="r" b="b"/>
            <a:pathLst>
              <a:path w="5089948" h="1884124">
                <a:moveTo>
                  <a:pt x="0" y="0"/>
                </a:moveTo>
                <a:lnTo>
                  <a:pt x="5089948" y="0"/>
                </a:lnTo>
                <a:lnTo>
                  <a:pt x="5089948" y="1884125"/>
                </a:lnTo>
                <a:lnTo>
                  <a:pt x="0" y="1884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648027" y="4693624"/>
            <a:ext cx="5616185" cy="1826623"/>
          </a:xfrm>
          <a:custGeom>
            <a:avLst/>
            <a:gdLst/>
            <a:ahLst/>
            <a:cxnLst/>
            <a:rect l="l" t="t" r="r" b="b"/>
            <a:pathLst>
              <a:path w="5616185" h="1826623">
                <a:moveTo>
                  <a:pt x="0" y="0"/>
                </a:moveTo>
                <a:lnTo>
                  <a:pt x="5616185" y="0"/>
                </a:lnTo>
                <a:lnTo>
                  <a:pt x="5616185" y="1826624"/>
                </a:lnTo>
                <a:lnTo>
                  <a:pt x="0" y="18266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886372" y="6828782"/>
            <a:ext cx="5303013" cy="1241131"/>
          </a:xfrm>
          <a:custGeom>
            <a:avLst/>
            <a:gdLst/>
            <a:ahLst/>
            <a:cxnLst/>
            <a:rect l="l" t="t" r="r" b="b"/>
            <a:pathLst>
              <a:path w="5303013" h="1241131">
                <a:moveTo>
                  <a:pt x="0" y="0"/>
                </a:moveTo>
                <a:lnTo>
                  <a:pt x="5303013" y="0"/>
                </a:lnTo>
                <a:lnTo>
                  <a:pt x="5303013" y="1241131"/>
                </a:lnTo>
                <a:lnTo>
                  <a:pt x="0" y="12411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506504" y="893770"/>
            <a:ext cx="11274991" cy="93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3"/>
              </a:lnSpc>
            </a:pPr>
            <a:r>
              <a:rPr lang="en-US" sz="5945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Metode Posisi Salah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31364" y="2412688"/>
            <a:ext cx="1413632" cy="415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Iterasi 3:</a:t>
            </a:r>
          </a:p>
        </p:txBody>
      </p:sp>
      <p:sp>
        <p:nvSpPr>
          <p:cNvPr id="17" name="Freeform 17"/>
          <p:cNvSpPr/>
          <p:nvPr/>
        </p:nvSpPr>
        <p:spPr>
          <a:xfrm>
            <a:off x="2460190" y="8327088"/>
            <a:ext cx="3832296" cy="544370"/>
          </a:xfrm>
          <a:custGeom>
            <a:avLst/>
            <a:gdLst/>
            <a:ahLst/>
            <a:cxnLst/>
            <a:rect l="l" t="t" r="r" b="b"/>
            <a:pathLst>
              <a:path w="3832296" h="544370">
                <a:moveTo>
                  <a:pt x="0" y="0"/>
                </a:moveTo>
                <a:lnTo>
                  <a:pt x="3832296" y="0"/>
                </a:lnTo>
                <a:lnTo>
                  <a:pt x="3832296" y="544370"/>
                </a:lnTo>
                <a:lnTo>
                  <a:pt x="0" y="5443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3166" t="-240974" r="-266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7422409" y="8260413"/>
            <a:ext cx="8572166" cy="49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8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Karena f(xl) * f(xr) bernilai </a:t>
            </a:r>
            <a:r>
              <a:rPr lang="en-US" sz="2801">
                <a:solidFill>
                  <a:srgbClr val="309C2A"/>
                </a:solidFill>
                <a:latin typeface="TDTD가온"/>
                <a:ea typeface="TDTD가온"/>
                <a:cs typeface="TDTD가온"/>
                <a:sym typeface="TDTD가온"/>
              </a:rPr>
              <a:t>positif</a:t>
            </a:r>
            <a:r>
              <a:rPr lang="en-US" sz="280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maka xl = -2.15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587425" y="5718399"/>
            <a:ext cx="1838158" cy="853208"/>
            <a:chOff x="0" y="0"/>
            <a:chExt cx="773011" cy="3588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73011" cy="358804"/>
            </a:xfrm>
            <a:custGeom>
              <a:avLst/>
              <a:gdLst/>
              <a:ahLst/>
              <a:cxnLst/>
              <a:rect l="l" t="t" r="r" b="b"/>
              <a:pathLst>
                <a:path w="773011" h="358804">
                  <a:moveTo>
                    <a:pt x="386505" y="0"/>
                  </a:moveTo>
                  <a:cubicBezTo>
                    <a:pt x="173044" y="0"/>
                    <a:pt x="0" y="80321"/>
                    <a:pt x="0" y="179402"/>
                  </a:cubicBezTo>
                  <a:cubicBezTo>
                    <a:pt x="0" y="278483"/>
                    <a:pt x="173044" y="358804"/>
                    <a:pt x="386505" y="358804"/>
                  </a:cubicBezTo>
                  <a:cubicBezTo>
                    <a:pt x="599967" y="358804"/>
                    <a:pt x="773011" y="278483"/>
                    <a:pt x="773011" y="179402"/>
                  </a:cubicBezTo>
                  <a:cubicBezTo>
                    <a:pt x="773011" y="80321"/>
                    <a:pt x="599967" y="0"/>
                    <a:pt x="38650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470" y="-23512"/>
              <a:ext cx="628071" cy="348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07046" y="5845111"/>
            <a:ext cx="1838158" cy="853208"/>
            <a:chOff x="0" y="0"/>
            <a:chExt cx="773011" cy="3588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73011" cy="358804"/>
            </a:xfrm>
            <a:custGeom>
              <a:avLst/>
              <a:gdLst/>
              <a:ahLst/>
              <a:cxnLst/>
              <a:rect l="l" t="t" r="r" b="b"/>
              <a:pathLst>
                <a:path w="773011" h="358804">
                  <a:moveTo>
                    <a:pt x="386505" y="0"/>
                  </a:moveTo>
                  <a:cubicBezTo>
                    <a:pt x="173044" y="0"/>
                    <a:pt x="0" y="80321"/>
                    <a:pt x="0" y="179402"/>
                  </a:cubicBezTo>
                  <a:cubicBezTo>
                    <a:pt x="0" y="278483"/>
                    <a:pt x="173044" y="358804"/>
                    <a:pt x="386505" y="358804"/>
                  </a:cubicBezTo>
                  <a:cubicBezTo>
                    <a:pt x="599967" y="358804"/>
                    <a:pt x="773011" y="278483"/>
                    <a:pt x="773011" y="179402"/>
                  </a:cubicBezTo>
                  <a:cubicBezTo>
                    <a:pt x="773011" y="80321"/>
                    <a:pt x="599967" y="0"/>
                    <a:pt x="386505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470" y="-23512"/>
              <a:ext cx="628071" cy="348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26125" y="3861298"/>
            <a:ext cx="1519414" cy="751481"/>
            <a:chOff x="0" y="0"/>
            <a:chExt cx="638968" cy="3160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8968" cy="316025"/>
            </a:xfrm>
            <a:custGeom>
              <a:avLst/>
              <a:gdLst/>
              <a:ahLst/>
              <a:cxnLst/>
              <a:rect l="l" t="t" r="r" b="b"/>
              <a:pathLst>
                <a:path w="638968" h="316025">
                  <a:moveTo>
                    <a:pt x="319484" y="0"/>
                  </a:moveTo>
                  <a:cubicBezTo>
                    <a:pt x="143038" y="0"/>
                    <a:pt x="0" y="70744"/>
                    <a:pt x="0" y="158012"/>
                  </a:cubicBezTo>
                  <a:cubicBezTo>
                    <a:pt x="0" y="245280"/>
                    <a:pt x="143038" y="316025"/>
                    <a:pt x="319484" y="316025"/>
                  </a:cubicBezTo>
                  <a:cubicBezTo>
                    <a:pt x="495930" y="316025"/>
                    <a:pt x="638968" y="245280"/>
                    <a:pt x="638968" y="158012"/>
                  </a:cubicBezTo>
                  <a:cubicBezTo>
                    <a:pt x="638968" y="70744"/>
                    <a:pt x="495930" y="0"/>
                    <a:pt x="319484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903" y="-27523"/>
              <a:ext cx="519161" cy="313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3241" y="1536139"/>
            <a:ext cx="4265778" cy="622144"/>
            <a:chOff x="0" y="0"/>
            <a:chExt cx="1123497" cy="163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3497" cy="163857"/>
            </a:xfrm>
            <a:custGeom>
              <a:avLst/>
              <a:gdLst/>
              <a:ahLst/>
              <a:cxnLst/>
              <a:rect l="l" t="t" r="r" b="b"/>
              <a:pathLst>
                <a:path w="1123497" h="163857">
                  <a:moveTo>
                    <a:pt x="81928" y="0"/>
                  </a:moveTo>
                  <a:lnTo>
                    <a:pt x="1041569" y="0"/>
                  </a:lnTo>
                  <a:cubicBezTo>
                    <a:pt x="1063297" y="0"/>
                    <a:pt x="1084136" y="8632"/>
                    <a:pt x="1099501" y="23996"/>
                  </a:cubicBezTo>
                  <a:cubicBezTo>
                    <a:pt x="1114865" y="39361"/>
                    <a:pt x="1123497" y="60200"/>
                    <a:pt x="1123497" y="81928"/>
                  </a:cubicBezTo>
                  <a:lnTo>
                    <a:pt x="1123497" y="81928"/>
                  </a:lnTo>
                  <a:cubicBezTo>
                    <a:pt x="1123497" y="127176"/>
                    <a:pt x="1086817" y="163857"/>
                    <a:pt x="1041569" y="163857"/>
                  </a:cubicBezTo>
                  <a:lnTo>
                    <a:pt x="81928" y="163857"/>
                  </a:lnTo>
                  <a:cubicBezTo>
                    <a:pt x="60200" y="163857"/>
                    <a:pt x="39361" y="155225"/>
                    <a:pt x="23996" y="139861"/>
                  </a:cubicBezTo>
                  <a:cubicBezTo>
                    <a:pt x="8632" y="124496"/>
                    <a:pt x="0" y="103657"/>
                    <a:pt x="0" y="81928"/>
                  </a:cubicBezTo>
                  <a:lnTo>
                    <a:pt x="0" y="81928"/>
                  </a:lnTo>
                  <a:cubicBezTo>
                    <a:pt x="0" y="60200"/>
                    <a:pt x="8632" y="39361"/>
                    <a:pt x="23996" y="23996"/>
                  </a:cubicBezTo>
                  <a:cubicBezTo>
                    <a:pt x="39361" y="8632"/>
                    <a:pt x="60200" y="0"/>
                    <a:pt x="81928" y="0"/>
                  </a:cubicBezTo>
                  <a:close/>
                </a:path>
              </a:pathLst>
            </a:custGeom>
            <a:solidFill>
              <a:srgbClr val="FFCB6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23497" cy="221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00506" y="1465359"/>
            <a:ext cx="141561" cy="1415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16078" y="1465359"/>
            <a:ext cx="141561" cy="1415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14621" y="1465359"/>
            <a:ext cx="141561" cy="1415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430194" y="1465359"/>
            <a:ext cx="141561" cy="1415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603241" y="2254454"/>
            <a:ext cx="6574543" cy="8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6599" dirty="0" err="1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Tugas</a:t>
            </a:r>
            <a:r>
              <a:rPr lang="en-US" sz="6599" dirty="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 </a:t>
            </a:r>
            <a:r>
              <a:rPr lang="en-US" sz="6599" dirty="0" err="1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Individu</a:t>
            </a:r>
            <a:endParaRPr lang="en-US" sz="6599" dirty="0">
              <a:solidFill>
                <a:srgbClr val="EA6564"/>
              </a:solidFill>
              <a:latin typeface="Funtastic"/>
              <a:ea typeface="Funtastic"/>
              <a:cs typeface="Funtastic"/>
              <a:sym typeface="Funtastic"/>
            </a:endParaRPr>
          </a:p>
        </p:txBody>
      </p:sp>
      <p:sp>
        <p:nvSpPr>
          <p:cNvPr id="18" name="Freeform 18"/>
          <p:cNvSpPr/>
          <p:nvPr/>
        </p:nvSpPr>
        <p:spPr>
          <a:xfrm flipH="1">
            <a:off x="16177784" y="2417300"/>
            <a:ext cx="503121" cy="722498"/>
          </a:xfrm>
          <a:custGeom>
            <a:avLst/>
            <a:gdLst/>
            <a:ahLst/>
            <a:cxnLst/>
            <a:rect l="l" t="t" r="r" b="b"/>
            <a:pathLst>
              <a:path w="503121" h="722498">
                <a:moveTo>
                  <a:pt x="503121" y="0"/>
                </a:moveTo>
                <a:lnTo>
                  <a:pt x="0" y="0"/>
                </a:lnTo>
                <a:lnTo>
                  <a:pt x="0" y="722498"/>
                </a:lnTo>
                <a:lnTo>
                  <a:pt x="503121" y="722498"/>
                </a:lnTo>
                <a:lnTo>
                  <a:pt x="5031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-595967" y="6074323"/>
            <a:ext cx="19479934" cy="4772115"/>
            <a:chOff x="0" y="0"/>
            <a:chExt cx="5130518" cy="125685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30517" cy="1256853"/>
            </a:xfrm>
            <a:custGeom>
              <a:avLst/>
              <a:gdLst/>
              <a:ahLst/>
              <a:cxnLst/>
              <a:rect l="l" t="t" r="r" b="b"/>
              <a:pathLst>
                <a:path w="5130517" h="1256853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244931"/>
                  </a:lnTo>
                  <a:cubicBezTo>
                    <a:pt x="5130517" y="1248093"/>
                    <a:pt x="5129261" y="1251125"/>
                    <a:pt x="5127025" y="1253361"/>
                  </a:cubicBezTo>
                  <a:cubicBezTo>
                    <a:pt x="5124790" y="1255597"/>
                    <a:pt x="5121757" y="1256853"/>
                    <a:pt x="5118595" y="1256853"/>
                  </a:cubicBezTo>
                  <a:lnTo>
                    <a:pt x="11923" y="1256853"/>
                  </a:lnTo>
                  <a:cubicBezTo>
                    <a:pt x="8761" y="1256853"/>
                    <a:pt x="5728" y="1255597"/>
                    <a:pt x="3492" y="1253361"/>
                  </a:cubicBezTo>
                  <a:cubicBezTo>
                    <a:pt x="1256" y="1251125"/>
                    <a:pt x="0" y="1248093"/>
                    <a:pt x="0" y="1244931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5130518" cy="1314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03241" y="3561251"/>
            <a:ext cx="7452169" cy="3555788"/>
            <a:chOff x="0" y="0"/>
            <a:chExt cx="1962711" cy="9365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62711" cy="936504"/>
            </a:xfrm>
            <a:custGeom>
              <a:avLst/>
              <a:gdLst/>
              <a:ahLst/>
              <a:cxnLst/>
              <a:rect l="l" t="t" r="r" b="b"/>
              <a:pathLst>
                <a:path w="1962711" h="936504">
                  <a:moveTo>
                    <a:pt x="20778" y="0"/>
                  </a:moveTo>
                  <a:lnTo>
                    <a:pt x="1941934" y="0"/>
                  </a:lnTo>
                  <a:cubicBezTo>
                    <a:pt x="1953409" y="0"/>
                    <a:pt x="1962711" y="9302"/>
                    <a:pt x="1962711" y="20778"/>
                  </a:cubicBezTo>
                  <a:lnTo>
                    <a:pt x="1962711" y="915726"/>
                  </a:lnTo>
                  <a:cubicBezTo>
                    <a:pt x="1962711" y="921237"/>
                    <a:pt x="1960522" y="926522"/>
                    <a:pt x="1956626" y="930418"/>
                  </a:cubicBezTo>
                  <a:cubicBezTo>
                    <a:pt x="1952729" y="934315"/>
                    <a:pt x="1947444" y="936504"/>
                    <a:pt x="1941934" y="936504"/>
                  </a:cubicBezTo>
                  <a:lnTo>
                    <a:pt x="20778" y="936504"/>
                  </a:lnTo>
                  <a:cubicBezTo>
                    <a:pt x="9302" y="936504"/>
                    <a:pt x="0" y="927201"/>
                    <a:pt x="0" y="915726"/>
                  </a:cubicBezTo>
                  <a:lnTo>
                    <a:pt x="0" y="20778"/>
                  </a:lnTo>
                  <a:cubicBezTo>
                    <a:pt x="0" y="15267"/>
                    <a:pt x="2189" y="9982"/>
                    <a:pt x="6086" y="6086"/>
                  </a:cubicBezTo>
                  <a:cubicBezTo>
                    <a:pt x="9982" y="2189"/>
                    <a:pt x="15267" y="0"/>
                    <a:pt x="2077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962711" cy="993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62823" y="7450414"/>
            <a:ext cx="5471551" cy="2141261"/>
            <a:chOff x="0" y="0"/>
            <a:chExt cx="1441067" cy="56395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41067" cy="563954"/>
            </a:xfrm>
            <a:custGeom>
              <a:avLst/>
              <a:gdLst/>
              <a:ahLst/>
              <a:cxnLst/>
              <a:rect l="l" t="t" r="r" b="b"/>
              <a:pathLst>
                <a:path w="1441067" h="563954">
                  <a:moveTo>
                    <a:pt x="22639" y="0"/>
                  </a:moveTo>
                  <a:lnTo>
                    <a:pt x="1418428" y="0"/>
                  </a:lnTo>
                  <a:cubicBezTo>
                    <a:pt x="1430931" y="0"/>
                    <a:pt x="1441067" y="10136"/>
                    <a:pt x="1441067" y="22639"/>
                  </a:cubicBezTo>
                  <a:lnTo>
                    <a:pt x="1441067" y="541315"/>
                  </a:lnTo>
                  <a:cubicBezTo>
                    <a:pt x="1441067" y="547319"/>
                    <a:pt x="1438682" y="553077"/>
                    <a:pt x="1434436" y="557323"/>
                  </a:cubicBezTo>
                  <a:cubicBezTo>
                    <a:pt x="1430190" y="561568"/>
                    <a:pt x="1424432" y="563954"/>
                    <a:pt x="1418428" y="563954"/>
                  </a:cubicBezTo>
                  <a:lnTo>
                    <a:pt x="22639" y="563954"/>
                  </a:lnTo>
                  <a:cubicBezTo>
                    <a:pt x="16635" y="563954"/>
                    <a:pt x="10876" y="561568"/>
                    <a:pt x="6631" y="557323"/>
                  </a:cubicBezTo>
                  <a:cubicBezTo>
                    <a:pt x="2385" y="553077"/>
                    <a:pt x="0" y="547319"/>
                    <a:pt x="0" y="541315"/>
                  </a:cubicBezTo>
                  <a:lnTo>
                    <a:pt x="0" y="22639"/>
                  </a:lnTo>
                  <a:cubicBezTo>
                    <a:pt x="0" y="16635"/>
                    <a:pt x="2385" y="10876"/>
                    <a:pt x="6631" y="6631"/>
                  </a:cubicBezTo>
                  <a:cubicBezTo>
                    <a:pt x="10876" y="2385"/>
                    <a:pt x="16635" y="0"/>
                    <a:pt x="22639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441067" cy="621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DTD갬성명조"/>
                  <a:ea typeface="TDTD갬성명조"/>
                  <a:cs typeface="TDTD갬성명조"/>
                  <a:sym typeface="TDTD갬성명조"/>
                </a:rPr>
                <a:t>  Ditanya : 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TDTD갬성명조"/>
                  <a:ea typeface="TDTD갬성명조"/>
                  <a:cs typeface="TDTD갬성명조"/>
                  <a:sym typeface="TDTD갬성명조"/>
                </a:rPr>
                <a:t>•Tiap iterasi cari Et dan Ea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TDTD갬성명조"/>
                  <a:ea typeface="TDTD갬성명조"/>
                  <a:cs typeface="TDTD갬성명조"/>
                  <a:sym typeface="TDTD갬성명조"/>
                </a:rPr>
                <a:t>•Ketelitian 2 angka dibelakang koma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TDTD갬성명조"/>
                  <a:ea typeface="TDTD갬성명조"/>
                  <a:cs typeface="TDTD갬성명조"/>
                  <a:sym typeface="TDTD갬성명조"/>
                </a:rPr>
                <a:t>•Cari dari iterasi 1 sampai iterasi 3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TDTD갬성명조"/>
                  <a:ea typeface="TDTD갬성명조"/>
                  <a:cs typeface="TDTD갬성명조"/>
                  <a:sym typeface="TDTD갬성명조"/>
                </a:rPr>
                <a:t>•Tuliskan rumusnya terlebih dahulu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900506" y="1610991"/>
            <a:ext cx="3671249" cy="415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00213" y="1465359"/>
            <a:ext cx="7157351" cy="7157351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3656" tIns="53656" rIns="53656" bIns="53656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2191357" y="1930093"/>
            <a:ext cx="5975062" cy="6770915"/>
          </a:xfrm>
          <a:custGeom>
            <a:avLst/>
            <a:gdLst/>
            <a:ahLst/>
            <a:cxnLst/>
            <a:rect l="l" t="t" r="r" b="b"/>
            <a:pathLst>
              <a:path w="5975062" h="6770915">
                <a:moveTo>
                  <a:pt x="0" y="0"/>
                </a:moveTo>
                <a:lnTo>
                  <a:pt x="5975063" y="0"/>
                </a:lnTo>
                <a:lnTo>
                  <a:pt x="5975063" y="6770915"/>
                </a:lnTo>
                <a:lnTo>
                  <a:pt x="0" y="6770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528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1600213" y="8423778"/>
            <a:ext cx="7157351" cy="397863"/>
            <a:chOff x="0" y="0"/>
            <a:chExt cx="1294626" cy="7196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94626" cy="71966"/>
            </a:xfrm>
            <a:custGeom>
              <a:avLst/>
              <a:gdLst/>
              <a:ahLst/>
              <a:cxnLst/>
              <a:rect l="l" t="t" r="r" b="b"/>
              <a:pathLst>
                <a:path w="1294626" h="71966">
                  <a:moveTo>
                    <a:pt x="35983" y="0"/>
                  </a:moveTo>
                  <a:lnTo>
                    <a:pt x="1258643" y="0"/>
                  </a:lnTo>
                  <a:cubicBezTo>
                    <a:pt x="1268186" y="0"/>
                    <a:pt x="1277339" y="3791"/>
                    <a:pt x="1284087" y="10539"/>
                  </a:cubicBezTo>
                  <a:cubicBezTo>
                    <a:pt x="1290835" y="17287"/>
                    <a:pt x="1294626" y="26440"/>
                    <a:pt x="1294626" y="35983"/>
                  </a:cubicBezTo>
                  <a:lnTo>
                    <a:pt x="1294626" y="35983"/>
                  </a:lnTo>
                  <a:cubicBezTo>
                    <a:pt x="1294626" y="55856"/>
                    <a:pt x="1278516" y="71966"/>
                    <a:pt x="1258643" y="71966"/>
                  </a:cubicBezTo>
                  <a:lnTo>
                    <a:pt x="35983" y="71966"/>
                  </a:lnTo>
                  <a:cubicBezTo>
                    <a:pt x="16110" y="71966"/>
                    <a:pt x="0" y="55856"/>
                    <a:pt x="0" y="35983"/>
                  </a:cubicBezTo>
                  <a:lnTo>
                    <a:pt x="0" y="35983"/>
                  </a:lnTo>
                  <a:cubicBezTo>
                    <a:pt x="0" y="16110"/>
                    <a:pt x="16110" y="0"/>
                    <a:pt x="35983" y="0"/>
                  </a:cubicBezTo>
                  <a:close/>
                </a:path>
              </a:pathLst>
            </a:custGeom>
            <a:solidFill>
              <a:srgbClr val="D8AA8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294626" cy="129116"/>
            </a:xfrm>
            <a:prstGeom prst="rect">
              <a:avLst/>
            </a:prstGeom>
          </p:spPr>
          <p:txBody>
            <a:bodyPr lIns="53656" tIns="53656" rIns="53656" bIns="53656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600213" y="1668141"/>
            <a:ext cx="758816" cy="749159"/>
          </a:xfrm>
          <a:custGeom>
            <a:avLst/>
            <a:gdLst/>
            <a:ahLst/>
            <a:cxnLst/>
            <a:rect l="l" t="t" r="r" b="b"/>
            <a:pathLst>
              <a:path w="758816" h="749159">
                <a:moveTo>
                  <a:pt x="0" y="0"/>
                </a:moveTo>
                <a:lnTo>
                  <a:pt x="758817" y="0"/>
                </a:lnTo>
                <a:lnTo>
                  <a:pt x="758817" y="749159"/>
                </a:lnTo>
                <a:lnTo>
                  <a:pt x="0" y="74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8378156" y="7122329"/>
            <a:ext cx="758816" cy="749159"/>
          </a:xfrm>
          <a:custGeom>
            <a:avLst/>
            <a:gdLst/>
            <a:ahLst/>
            <a:cxnLst/>
            <a:rect l="l" t="t" r="r" b="b"/>
            <a:pathLst>
              <a:path w="758816" h="749159">
                <a:moveTo>
                  <a:pt x="0" y="0"/>
                </a:moveTo>
                <a:lnTo>
                  <a:pt x="758816" y="0"/>
                </a:lnTo>
                <a:lnTo>
                  <a:pt x="758816" y="749159"/>
                </a:lnTo>
                <a:lnTo>
                  <a:pt x="0" y="74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9839073" y="3579095"/>
            <a:ext cx="6448285" cy="315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1624" lvl="1" indent="-235812" algn="l">
              <a:lnSpc>
                <a:spcPts val="3058"/>
              </a:lnSpc>
              <a:buAutoNum type="arabicPeriod"/>
            </a:pP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Buatlah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contoh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soal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sendiri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,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boleh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mengarang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atau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mengambil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dari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internet dan di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tulis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tangan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di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kertas</a:t>
            </a:r>
            <a:endParaRPr lang="en-US" sz="2184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943248" lvl="2" indent="-314416" algn="l">
              <a:lnSpc>
                <a:spcPts val="3058"/>
              </a:lnSpc>
              <a:buAutoNum type="alphaLcPeriod"/>
            </a:pP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No.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urut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1 - 25 : Bagi Dua</a:t>
            </a:r>
          </a:p>
          <a:p>
            <a:pPr marL="943248" lvl="2" indent="-314416" algn="l">
              <a:lnSpc>
                <a:spcPts val="3058"/>
              </a:lnSpc>
              <a:buAutoNum type="alphaLcPeriod"/>
            </a:pP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26 – 50 :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Posisi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Salah</a:t>
            </a:r>
          </a:p>
          <a:p>
            <a:pPr marL="628832" lvl="2" algn="l">
              <a:lnSpc>
                <a:spcPts val="3058"/>
              </a:lnSpc>
            </a:pPr>
            <a:endParaRPr lang="en-US" sz="2184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  <a:p>
            <a:pPr marL="471624" lvl="1" indent="-235812" algn="l">
              <a:lnSpc>
                <a:spcPts val="3058"/>
              </a:lnSpc>
              <a:buAutoNum type="arabicPeriod"/>
            </a:pP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Berikan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contoh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implementasi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di dunia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nyata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dari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metode</a:t>
            </a:r>
            <a:r>
              <a:rPr lang="en-US" sz="2184" dirty="0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 yang </a:t>
            </a:r>
            <a:r>
              <a:rPr lang="en-US" sz="2184" dirty="0" err="1">
                <a:solidFill>
                  <a:srgbClr val="6E4E3B"/>
                </a:solidFill>
                <a:latin typeface="TDTD가온"/>
                <a:ea typeface="TDTD가온"/>
                <a:cs typeface="TDTD가온"/>
                <a:sym typeface="TDTD가온"/>
              </a:rPr>
              <a:t>digunakan</a:t>
            </a:r>
            <a:endParaRPr lang="en-US" sz="2184" dirty="0">
              <a:solidFill>
                <a:srgbClr val="6E4E3B"/>
              </a:solidFill>
              <a:latin typeface="TDTD가온"/>
              <a:ea typeface="TDTD가온"/>
              <a:cs typeface="TDTD가온"/>
              <a:sym typeface="TDTD가온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967" y="5143500"/>
            <a:ext cx="19479934" cy="5702938"/>
            <a:chOff x="0" y="0"/>
            <a:chExt cx="5130518" cy="150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0517" cy="1502008"/>
            </a:xfrm>
            <a:custGeom>
              <a:avLst/>
              <a:gdLst/>
              <a:ahLst/>
              <a:cxnLst/>
              <a:rect l="l" t="t" r="r" b="b"/>
              <a:pathLst>
                <a:path w="5130517" h="1502008">
                  <a:moveTo>
                    <a:pt x="11923" y="0"/>
                  </a:moveTo>
                  <a:lnTo>
                    <a:pt x="5118595" y="0"/>
                  </a:lnTo>
                  <a:cubicBezTo>
                    <a:pt x="5121757" y="0"/>
                    <a:pt x="5124790" y="1256"/>
                    <a:pt x="5127025" y="3492"/>
                  </a:cubicBezTo>
                  <a:cubicBezTo>
                    <a:pt x="5129261" y="5728"/>
                    <a:pt x="5130517" y="8761"/>
                    <a:pt x="5130517" y="11923"/>
                  </a:cubicBezTo>
                  <a:lnTo>
                    <a:pt x="5130517" y="1490085"/>
                  </a:lnTo>
                  <a:cubicBezTo>
                    <a:pt x="5130517" y="1493248"/>
                    <a:pt x="5129261" y="1496280"/>
                    <a:pt x="5127025" y="1498516"/>
                  </a:cubicBezTo>
                  <a:cubicBezTo>
                    <a:pt x="5124790" y="1500752"/>
                    <a:pt x="5121757" y="1502008"/>
                    <a:pt x="5118595" y="1502008"/>
                  </a:cubicBezTo>
                  <a:lnTo>
                    <a:pt x="11923" y="1502008"/>
                  </a:lnTo>
                  <a:cubicBezTo>
                    <a:pt x="8761" y="1502008"/>
                    <a:pt x="5728" y="1500752"/>
                    <a:pt x="3492" y="1498516"/>
                  </a:cubicBezTo>
                  <a:cubicBezTo>
                    <a:pt x="1256" y="1496280"/>
                    <a:pt x="0" y="1493248"/>
                    <a:pt x="0" y="1490085"/>
                  </a:cubicBezTo>
                  <a:lnTo>
                    <a:pt x="0" y="11923"/>
                  </a:lnTo>
                  <a:cubicBezTo>
                    <a:pt x="0" y="8761"/>
                    <a:pt x="1256" y="5728"/>
                    <a:pt x="3492" y="3492"/>
                  </a:cubicBezTo>
                  <a:cubicBezTo>
                    <a:pt x="5728" y="1256"/>
                    <a:pt x="8761" y="0"/>
                    <a:pt x="11923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30518" cy="1559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91717" y="2142024"/>
            <a:ext cx="11904565" cy="6002953"/>
            <a:chOff x="0" y="0"/>
            <a:chExt cx="3135359" cy="15810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5359" cy="1581025"/>
            </a:xfrm>
            <a:custGeom>
              <a:avLst/>
              <a:gdLst/>
              <a:ahLst/>
              <a:cxnLst/>
              <a:rect l="l" t="t" r="r" b="b"/>
              <a:pathLst>
                <a:path w="3135359" h="1581025">
                  <a:moveTo>
                    <a:pt x="19510" y="0"/>
                  </a:moveTo>
                  <a:lnTo>
                    <a:pt x="3115849" y="0"/>
                  </a:lnTo>
                  <a:cubicBezTo>
                    <a:pt x="3121023" y="0"/>
                    <a:pt x="3125986" y="2056"/>
                    <a:pt x="3129644" y="5714"/>
                  </a:cubicBezTo>
                  <a:cubicBezTo>
                    <a:pt x="3133303" y="9373"/>
                    <a:pt x="3135359" y="14336"/>
                    <a:pt x="3135359" y="19510"/>
                  </a:cubicBezTo>
                  <a:lnTo>
                    <a:pt x="3135359" y="1561515"/>
                  </a:lnTo>
                  <a:cubicBezTo>
                    <a:pt x="3135359" y="1572290"/>
                    <a:pt x="3126624" y="1581025"/>
                    <a:pt x="3115849" y="1581025"/>
                  </a:cubicBezTo>
                  <a:lnTo>
                    <a:pt x="19510" y="1581025"/>
                  </a:lnTo>
                  <a:cubicBezTo>
                    <a:pt x="14336" y="1581025"/>
                    <a:pt x="9373" y="1578969"/>
                    <a:pt x="5714" y="1575310"/>
                  </a:cubicBezTo>
                  <a:cubicBezTo>
                    <a:pt x="2056" y="1571651"/>
                    <a:pt x="0" y="1566689"/>
                    <a:pt x="0" y="1561515"/>
                  </a:cubicBezTo>
                  <a:lnTo>
                    <a:pt x="0" y="19510"/>
                  </a:lnTo>
                  <a:cubicBezTo>
                    <a:pt x="0" y="14336"/>
                    <a:pt x="2056" y="9373"/>
                    <a:pt x="5714" y="5714"/>
                  </a:cubicBezTo>
                  <a:cubicBezTo>
                    <a:pt x="9373" y="2056"/>
                    <a:pt x="14336" y="0"/>
                    <a:pt x="1951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135359" cy="163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86151" y="2845056"/>
            <a:ext cx="5426165" cy="667266"/>
            <a:chOff x="0" y="0"/>
            <a:chExt cx="1429114" cy="1757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29114" cy="175741"/>
            </a:xfrm>
            <a:custGeom>
              <a:avLst/>
              <a:gdLst/>
              <a:ahLst/>
              <a:cxnLst/>
              <a:rect l="l" t="t" r="r" b="b"/>
              <a:pathLst>
                <a:path w="1429114" h="175741">
                  <a:moveTo>
                    <a:pt x="87870" y="0"/>
                  </a:moveTo>
                  <a:lnTo>
                    <a:pt x="1341243" y="0"/>
                  </a:lnTo>
                  <a:cubicBezTo>
                    <a:pt x="1389773" y="0"/>
                    <a:pt x="1429114" y="39341"/>
                    <a:pt x="1429114" y="87870"/>
                  </a:cubicBezTo>
                  <a:lnTo>
                    <a:pt x="1429114" y="87870"/>
                  </a:lnTo>
                  <a:cubicBezTo>
                    <a:pt x="1429114" y="111175"/>
                    <a:pt x="1419856" y="133525"/>
                    <a:pt x="1403377" y="150004"/>
                  </a:cubicBezTo>
                  <a:cubicBezTo>
                    <a:pt x="1386898" y="166483"/>
                    <a:pt x="1364548" y="175741"/>
                    <a:pt x="1341243" y="175741"/>
                  </a:cubicBezTo>
                  <a:lnTo>
                    <a:pt x="87870" y="175741"/>
                  </a:lnTo>
                  <a:cubicBezTo>
                    <a:pt x="39341" y="175741"/>
                    <a:pt x="0" y="136400"/>
                    <a:pt x="0" y="87870"/>
                  </a:cubicBezTo>
                  <a:lnTo>
                    <a:pt x="0" y="87870"/>
                  </a:lnTo>
                  <a:cubicBezTo>
                    <a:pt x="0" y="39341"/>
                    <a:pt x="39341" y="0"/>
                    <a:pt x="87870" y="0"/>
                  </a:cubicBezTo>
                  <a:close/>
                </a:path>
              </a:pathLst>
            </a:custGeom>
            <a:solidFill>
              <a:srgbClr val="FFCB6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29114" cy="232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69206" y="3061744"/>
            <a:ext cx="233890" cy="2338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595371" y="3061744"/>
            <a:ext cx="233890" cy="23389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5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35004" y="6675656"/>
            <a:ext cx="4617992" cy="766288"/>
            <a:chOff x="0" y="0"/>
            <a:chExt cx="1216261" cy="20182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6261" cy="201821"/>
            </a:xfrm>
            <a:custGeom>
              <a:avLst/>
              <a:gdLst/>
              <a:ahLst/>
              <a:cxnLst/>
              <a:rect l="l" t="t" r="r" b="b"/>
              <a:pathLst>
                <a:path w="1216261" h="201821">
                  <a:moveTo>
                    <a:pt x="100910" y="0"/>
                  </a:moveTo>
                  <a:lnTo>
                    <a:pt x="1115351" y="0"/>
                  </a:lnTo>
                  <a:cubicBezTo>
                    <a:pt x="1171082" y="0"/>
                    <a:pt x="1216261" y="45179"/>
                    <a:pt x="1216261" y="100910"/>
                  </a:cubicBezTo>
                  <a:lnTo>
                    <a:pt x="1216261" y="100910"/>
                  </a:lnTo>
                  <a:cubicBezTo>
                    <a:pt x="1216261" y="127673"/>
                    <a:pt x="1205630" y="153340"/>
                    <a:pt x="1186705" y="172265"/>
                  </a:cubicBezTo>
                  <a:cubicBezTo>
                    <a:pt x="1167781" y="191189"/>
                    <a:pt x="1142114" y="201821"/>
                    <a:pt x="1115351" y="201821"/>
                  </a:cubicBezTo>
                  <a:lnTo>
                    <a:pt x="100910" y="201821"/>
                  </a:lnTo>
                  <a:cubicBezTo>
                    <a:pt x="74147" y="201821"/>
                    <a:pt x="48480" y="191189"/>
                    <a:pt x="29556" y="172265"/>
                  </a:cubicBezTo>
                  <a:cubicBezTo>
                    <a:pt x="10632" y="153340"/>
                    <a:pt x="0" y="127673"/>
                    <a:pt x="0" y="100910"/>
                  </a:cubicBezTo>
                  <a:lnTo>
                    <a:pt x="0" y="100910"/>
                  </a:lnTo>
                  <a:cubicBezTo>
                    <a:pt x="0" y="74147"/>
                    <a:pt x="10632" y="48480"/>
                    <a:pt x="29556" y="29556"/>
                  </a:cubicBezTo>
                  <a:cubicBezTo>
                    <a:pt x="48480" y="10632"/>
                    <a:pt x="74147" y="0"/>
                    <a:pt x="100910" y="0"/>
                  </a:cubicBezTo>
                  <a:close/>
                </a:path>
              </a:pathLst>
            </a:custGeom>
            <a:solidFill>
              <a:srgbClr val="FFF0D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216261" cy="258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166552" y="3996690"/>
            <a:ext cx="9954896" cy="194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sz="10200">
                <a:solidFill>
                  <a:srgbClr val="EA6564"/>
                </a:solidFill>
                <a:latin typeface="Funtastic"/>
                <a:ea typeface="Funtastic"/>
                <a:cs typeface="Funtastic"/>
                <a:sym typeface="Funtastic"/>
              </a:rPr>
              <a:t>TERIMA KASIH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643274" y="3407289"/>
            <a:ext cx="956348" cy="825238"/>
            <a:chOff x="0" y="0"/>
            <a:chExt cx="737117" cy="6360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7117" cy="600395"/>
            </a:xfrm>
            <a:custGeom>
              <a:avLst/>
              <a:gdLst/>
              <a:ahLst/>
              <a:cxnLst/>
              <a:rect l="l" t="t" r="r" b="b"/>
              <a:pathLst>
                <a:path w="737117" h="600395">
                  <a:moveTo>
                    <a:pt x="656164" y="0"/>
                  </a:moveTo>
                  <a:lnTo>
                    <a:pt x="80953" y="0"/>
                  </a:lnTo>
                  <a:cubicBezTo>
                    <a:pt x="59483" y="0"/>
                    <a:pt x="38892" y="8529"/>
                    <a:pt x="23711" y="23711"/>
                  </a:cubicBezTo>
                  <a:cubicBezTo>
                    <a:pt x="8529" y="38892"/>
                    <a:pt x="0" y="59483"/>
                    <a:pt x="0" y="80953"/>
                  </a:cubicBezTo>
                  <a:lnTo>
                    <a:pt x="0" y="369362"/>
                  </a:lnTo>
                  <a:cubicBezTo>
                    <a:pt x="0" y="412849"/>
                    <a:pt x="35253" y="448102"/>
                    <a:pt x="78740" y="448102"/>
                  </a:cubicBezTo>
                  <a:lnTo>
                    <a:pt x="78740" y="448102"/>
                  </a:lnTo>
                  <a:cubicBezTo>
                    <a:pt x="122227" y="448102"/>
                    <a:pt x="157480" y="483355"/>
                    <a:pt x="157480" y="526842"/>
                  </a:cubicBezTo>
                  <a:lnTo>
                    <a:pt x="157480" y="555109"/>
                  </a:lnTo>
                  <a:cubicBezTo>
                    <a:pt x="157480" y="571508"/>
                    <a:pt x="166345" y="586625"/>
                    <a:pt x="180657" y="594631"/>
                  </a:cubicBezTo>
                  <a:cubicBezTo>
                    <a:pt x="194968" y="602637"/>
                    <a:pt x="212490" y="602280"/>
                    <a:pt x="226464" y="593699"/>
                  </a:cubicBezTo>
                  <a:lnTo>
                    <a:pt x="394566" y="490466"/>
                  </a:lnTo>
                  <a:cubicBezTo>
                    <a:pt x="439673" y="462766"/>
                    <a:pt x="491570" y="448102"/>
                    <a:pt x="544503" y="448102"/>
                  </a:cubicBezTo>
                  <a:lnTo>
                    <a:pt x="656164" y="448102"/>
                  </a:lnTo>
                  <a:cubicBezTo>
                    <a:pt x="677634" y="448102"/>
                    <a:pt x="698224" y="439573"/>
                    <a:pt x="713406" y="424392"/>
                  </a:cubicBezTo>
                  <a:cubicBezTo>
                    <a:pt x="728588" y="409210"/>
                    <a:pt x="737117" y="388619"/>
                    <a:pt x="737117" y="367149"/>
                  </a:cubicBezTo>
                  <a:lnTo>
                    <a:pt x="737117" y="80953"/>
                  </a:lnTo>
                  <a:cubicBezTo>
                    <a:pt x="737117" y="59483"/>
                    <a:pt x="728588" y="38892"/>
                    <a:pt x="713406" y="23711"/>
                  </a:cubicBezTo>
                  <a:cubicBezTo>
                    <a:pt x="698224" y="8529"/>
                    <a:pt x="677634" y="0"/>
                    <a:pt x="656164" y="0"/>
                  </a:cubicBezTo>
                  <a:close/>
                </a:path>
              </a:pathLst>
            </a:custGeom>
            <a:solidFill>
              <a:srgbClr val="FFE4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737117" cy="502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3840295" y="3488705"/>
            <a:ext cx="562305" cy="413294"/>
          </a:xfrm>
          <a:custGeom>
            <a:avLst/>
            <a:gdLst/>
            <a:ahLst/>
            <a:cxnLst/>
            <a:rect l="l" t="t" r="r" b="b"/>
            <a:pathLst>
              <a:path w="562305" h="413294">
                <a:moveTo>
                  <a:pt x="0" y="0"/>
                </a:moveTo>
                <a:lnTo>
                  <a:pt x="562306" y="0"/>
                </a:lnTo>
                <a:lnTo>
                  <a:pt x="562306" y="413295"/>
                </a:lnTo>
                <a:lnTo>
                  <a:pt x="0" y="413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3834063" y="3994443"/>
            <a:ext cx="664979" cy="954930"/>
          </a:xfrm>
          <a:custGeom>
            <a:avLst/>
            <a:gdLst/>
            <a:ahLst/>
            <a:cxnLst/>
            <a:rect l="l" t="t" r="r" b="b"/>
            <a:pathLst>
              <a:path w="664979" h="954930">
                <a:moveTo>
                  <a:pt x="0" y="0"/>
                </a:moveTo>
                <a:lnTo>
                  <a:pt x="664978" y="0"/>
                </a:lnTo>
                <a:lnTo>
                  <a:pt x="664978" y="954930"/>
                </a:lnTo>
                <a:lnTo>
                  <a:pt x="0" y="954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 flipV="1">
            <a:off x="4450575" y="6675656"/>
            <a:ext cx="2313392" cy="1931682"/>
          </a:xfrm>
          <a:custGeom>
            <a:avLst/>
            <a:gdLst/>
            <a:ahLst/>
            <a:cxnLst/>
            <a:rect l="l" t="t" r="r" b="b"/>
            <a:pathLst>
              <a:path w="2313392" h="1931682">
                <a:moveTo>
                  <a:pt x="0" y="1931682"/>
                </a:moveTo>
                <a:lnTo>
                  <a:pt x="2313392" y="1931682"/>
                </a:lnTo>
                <a:lnTo>
                  <a:pt x="2313392" y="0"/>
                </a:lnTo>
                <a:lnTo>
                  <a:pt x="0" y="0"/>
                </a:lnTo>
                <a:lnTo>
                  <a:pt x="0" y="193168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6664449" y="2883414"/>
            <a:ext cx="4669569" cy="52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F3837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Komnum Week 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72310" y="6763525"/>
            <a:ext cx="41433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E4E3B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Sampai Bertemu Kembali</a:t>
            </a:r>
          </a:p>
        </p:txBody>
      </p:sp>
      <p:sp>
        <p:nvSpPr>
          <p:cNvPr id="29" name="Freeform 29"/>
          <p:cNvSpPr/>
          <p:nvPr/>
        </p:nvSpPr>
        <p:spPr>
          <a:xfrm>
            <a:off x="-1282169" y="-1303529"/>
            <a:ext cx="2981576" cy="4851677"/>
          </a:xfrm>
          <a:custGeom>
            <a:avLst/>
            <a:gdLst/>
            <a:ahLst/>
            <a:cxnLst/>
            <a:rect l="l" t="t" r="r" b="b"/>
            <a:pathLst>
              <a:path w="2981576" h="4851677">
                <a:moveTo>
                  <a:pt x="0" y="0"/>
                </a:moveTo>
                <a:lnTo>
                  <a:pt x="2981576" y="0"/>
                </a:lnTo>
                <a:lnTo>
                  <a:pt x="2981576" y="4851678"/>
                </a:lnTo>
                <a:lnTo>
                  <a:pt x="0" y="48516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 flipH="1" flipV="1">
            <a:off x="16763199" y="7022974"/>
            <a:ext cx="2806970" cy="4567555"/>
          </a:xfrm>
          <a:custGeom>
            <a:avLst/>
            <a:gdLst/>
            <a:ahLst/>
            <a:cxnLst/>
            <a:rect l="l" t="t" r="r" b="b"/>
            <a:pathLst>
              <a:path w="2806970" h="4567555">
                <a:moveTo>
                  <a:pt x="2806970" y="4567555"/>
                </a:moveTo>
                <a:lnTo>
                  <a:pt x="0" y="4567555"/>
                </a:lnTo>
                <a:lnTo>
                  <a:pt x="0" y="0"/>
                </a:lnTo>
                <a:lnTo>
                  <a:pt x="2806970" y="0"/>
                </a:lnTo>
                <a:lnTo>
                  <a:pt x="2806970" y="456755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1955</Words>
  <Application>Microsoft Office PowerPoint</Application>
  <PresentationFormat>Custom</PresentationFormat>
  <Paragraphs>309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TDTD가온</vt:lpstr>
      <vt:lpstr>Calibri</vt:lpstr>
      <vt:lpstr>Funtastic</vt:lpstr>
      <vt:lpstr>TDTD갬성명조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Contoh Quiz</vt:lpstr>
      <vt:lpstr>Contoh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Contoh Quiz</vt:lpstr>
      <vt:lpstr>Contoh Program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2</dc:title>
  <cp:lastModifiedBy>Raniah Mufidah Admayana</cp:lastModifiedBy>
  <cp:revision>22</cp:revision>
  <dcterms:created xsi:type="dcterms:W3CDTF">2006-08-16T00:00:00Z</dcterms:created>
  <dcterms:modified xsi:type="dcterms:W3CDTF">2026-03-02T12:25:46Z</dcterms:modified>
  <dc:identifier>DAGyBI2WYPU</dc:identifier>
</cp:coreProperties>
</file>