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7" r:id="rId1"/>
  </p:sldMasterIdLst>
  <p:notesMasterIdLst>
    <p:notesMasterId r:id="rId18"/>
  </p:notesMasterIdLst>
  <p:handoutMasterIdLst>
    <p:handoutMasterId r:id="rId19"/>
  </p:handoutMasterIdLst>
  <p:sldIdLst>
    <p:sldId id="256" r:id="rId2"/>
    <p:sldId id="286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1" r:id="rId11"/>
    <p:sldId id="282" r:id="rId12"/>
    <p:sldId id="283" r:id="rId13"/>
    <p:sldId id="284" r:id="rId14"/>
    <p:sldId id="266" r:id="rId15"/>
    <p:sldId id="285" r:id="rId16"/>
    <p:sldId id="287" r:id="rId17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737" autoAdjust="0"/>
  </p:normalViewPr>
  <p:slideViewPr>
    <p:cSldViewPr>
      <p:cViewPr varScale="1">
        <p:scale>
          <a:sx n="82" d="100"/>
          <a:sy n="82" d="100"/>
        </p:scale>
        <p:origin x="1227" y="5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4BD4E-AD4A-4167-9D8C-16841B5C9EEE}" type="datetimeFigureOut">
              <a:rPr lang="en-US" smtClean="0"/>
              <a:pPr/>
              <a:t>22-Feb-26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15CCF6-F37A-4711-9EE4-969BD47C214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08:47:07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1 72,'0'0'344,"-12"0"-352,9 0-64,-1 0-192,1 0 256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08:47:09.7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127 51 104,'-96'-35'227,"75"25"-188,21 10-37,0 0 0,0 0 0,0 0 0,0 0 0,0 0 0,0 0 0,0 0 0,0 0 0,0 0 0,0 0 0,-1 0 0,1 0 0,0 0 0,0-1 0,0 1 0,0 0 0,0 0 0,0 0 0,0 0 0,0 0-1,0 0 1,0 0 0,0 0 0,0 0 0,0-1 0,0 1 0,0 0 0,0 0 0,0 0 0,0 0 0,0 0 0,0 0 0,0 0 0,0 0 0,0 0 0,0-1 0,0 1 0,0 0 0,1 0 0,-1 0 0,0 0 0,0 0 0,0 0-1,0 0 1,0 0 0,0 0 0,0 0 0,0 0 0,0 0 0,0-1 0,2 0 363,1 26 6300,10 37-5308,5 19-1453,-16-66 121,34 157 280,-3-19-44,-4-16-67,-21-100-66,-1 0 0,2 50 0,16 249-8,-21-281-84,8 68 100,20 114 250,-12-153-186,-12-55-169,4 31-1,-4-3 39,0 69-1,-8-132 407,1-1-429,0-1 1,-1 1-1,-1-1 1,-1-13-1,-8-17-52,-4-15-38,-7-64-1,-52-332 89,36 254-105,24 119 36,-2 1-1,-32-91 0,37 135-47,0 0 1,2-1-1,2 0 0,0 0 1,2-1-1,1-45 1,0-181 182,3 259-34,0-25-4,0 25 207,-1 1-267,0 1-1,1 0 0,-1 0 1,0 0-1,1-1 1,-1 1-1,1 0 1,0 0-1,0 0 1,0 3-1,-1 5 11,-8 91-15,7 142 0,3-123 102,1 45-106,8 0 0,6 0 0,47 198 0,-13-120 26,-50-243-128,0 1-1,0-1 1,0 1-1,0-1 1,1 0-1,-1 1 1,0-1-1,0 1 1,0-1-1,0 1 1,0-1-1,1 0 1,-1 1-1,0-1 1,0 0-1,1 1 0,-1-1 1,0 0-1,0 1 1,1-1-1,-1 0 1,1 1-1,4-7-1112,3-17-2319,-7 22 2904,2-9-3435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08:47:13.0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448 151 104,'0'0'408,"-3"-3"-208,2 2-151,0-1 127,0 0 0,0 1 0,0-1 0,-1 1 0,1-1 0,0 1 0,-1 0 0,1-1 0,-1 1 0,1 0 0,-1 0 0,0 0 0,0 0 0,-2-1 2168,-16 2 91,20 1-2424,-1-1 0,0 1 1,0-1-1,1 0 0,-1 1 0,0-1 0,1 1 0,-1 0 0,0-1 0,1 1 0,-1 0 0,1-1 0,-1 1 0,1 0 0,0-1 0,-1 1 0,1 0 0,-1 0 0,1-1 1,0 1-1,0 0 0,0 0 0,-1 1 0,-6 27 131,5-17-70,-11 47 36,3 1 0,-4 92-1,12 125 232,4-145-283,-17 238-141,3-250 33,-30 125 1,18-123 10,-8 34-19,27-146-40,5-8 87,-1-1-1,0 1 1,1-1-1,-1 1 1,1-1-1,-1 1 1,1-1-1,0 1 1,0-1-1,-1 3 1,1-4-54,0-13-185,-8-299 375,1 112-54,1 1-41,-38-228 0,24 304 0,-72-344-52,64 361 4,27 102 21,1 4-14,0 1-169,0 0 178,0 0 0,0 0-1,0 0 1,0 0 0,0 0-1,0 1 1,0-1 0,0 0-1,1 0 1,-1 0 0,0 0-1,1 0 1,-1 0 0,1 0 0,-1 0-1,1 0 1,0 0 0,-1 0-1,1 0 1,0 0 0,1 0-1,0 0-36,0 0 0,1-1 0,-1 1 0,1-1 0,-1 1 0,1-1 0,-1 0 0,1 0 0,2 0 0,-3 0 25,0 0 8,0-1 1,0 1-1,1 0 1,-1-1-1,0 1 1,0-1-1,0 0 0,0 0 1,0 1-1,0-2 1,0 1-1,0 0 1,0 0-1,1-2 1,24-25-158,-23 22 127,0 1 1,1 0-1,0 0 1,9-7-1,-12 11 34,0 0 0,-1 0 0,1 0 0,0 0-1,0 0 1,0 1 0,1-1 0,-1 0 0,0 1 0,0 0-1,0-1 1,0 1 0,0 0 0,1 0 0,-1 0-1,0 1 1,0-1 0,0 0 0,3 2 0,-4-2 5,0 1 1,1-1-1,-1 1 1,1 0 0,-1 0-1,0 0 1,0 0-1,0 0 1,1 0 0,-1 0-1,0 0 1,0 0-1,0 1 1,0-1 0,-1 0-1,1 1 1,1 1-1,8 30 66,-7-23-42,5 22 57,-2 1-1,-1-1 1,1 37 0,-6 104 338,-1-85-277,-14 357 552,-10 177-412,25-532-635,1-276 331,-4-234-2,-30 146-80,6 72 110,11-295-79,16 491 72,0 5-153,0 10 44,19 83 257,-1-15-66,26 412 358,-35-337-320,26 850 191,-35-980-219,-1 27-3357,0-46 2792,1 1 1,-1-1-1,0 0 1,0 1-1,0-1 1,0 0-1,-1 0 0,1 0 1,-1 0-1,-3 5 1,-16 15-734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08:47:15.2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1 151 120,'0'0'617,"3"-9"800,9-24-258,-10 29-909,-1-1-1,0 1 1,0 0 0,-1 0 0,1-1 0,-1 1-1,0 0 1,0 0 0,-1-9 0,0-4 94,1-23 3180,0 42-3260,0 34-8,22 503 1269,30-177-1285,-21-43 3,-30-298-237,29 352 264,-23-287-222,3 77 94,-9-134-118,9 55 0,-6-55 50,-3-18-12,0-1-1,6 20 0,-7-26-26,0-3-30,0-1 0,0 0 0,0 1 0,0-1 1,0 0-1,0 1 0,0-1 0,0 0 0,0 1 0,0-1 1,0 0-1,0 1 0,0-1 0,0 0 0,0 1 1,1-1-1,-1 0 0,0 1 0,0-1 0,0 0 0,1 0 1,-1 1-1,0-1 0,0 0 0,1 0 0,-1 1 0,1-1 181,0 0-765,3-2-1096,-3-9-1482,-1-7-3595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4T08:47:18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8942,'0'2027'0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AF1BEC94-6633-47E3-9CF5-CF4DEAE57BE3}" type="datetimeFigureOut">
              <a:rPr lang="id-ID" smtClean="0"/>
              <a:pPr/>
              <a:t>22/02/2026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682AC767-0D3B-414B-96DF-74B6AAAA579A}" type="slidenum">
              <a:rPr lang="id-ID" smtClean="0"/>
              <a:pPr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220995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id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2AC767-0D3B-414B-96DF-74B6AAAA579A}" type="slidenum">
              <a:rPr lang="id-ID" smtClean="0"/>
              <a:pPr/>
              <a:t>1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9929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82AC767-0D3B-414B-96DF-74B6AAAA579A}" type="slidenum">
              <a:rPr lang="id-ID" smtClean="0"/>
              <a:pPr/>
              <a:t>4</a:t>
            </a:fld>
            <a:endParaRPr lang="id-ID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C767-0D3B-414B-96DF-74B6AAAA579A}" type="slidenum">
              <a:rPr lang="id-ID" smtClean="0"/>
              <a:pPr/>
              <a:t>8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209672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2AC767-0D3B-414B-96DF-74B6AAAA579A}" type="slidenum">
              <a:rPr lang="id-ID" smtClean="0"/>
              <a:pPr/>
              <a:t>10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829616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22030" y="1371600"/>
            <a:ext cx="8229600" cy="1828800"/>
          </a:xfrm>
        </p:spPr>
        <p:txBody>
          <a:bodyPr vert="horz" lIns="45720" tIns="0" rIns="45720" bIns="0" anchor="b">
            <a:norm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</a:sp3d>
          </a:bodyPr>
          <a:lstStyle>
            <a:lvl1pPr>
              <a:defRPr sz="4800" b="1" cap="all" baseline="0">
                <a:ln w="6350">
                  <a:noFill/>
                </a:ln>
                <a:gradFill>
                  <a:gsLst>
                    <a:gs pos="0">
                      <a:schemeClr val="accent1">
                        <a:tint val="73000"/>
                        <a:satMod val="145000"/>
                      </a:schemeClr>
                    </a:gs>
                    <a:gs pos="73000">
                      <a:schemeClr val="accent1">
                        <a:tint val="73000"/>
                        <a:satMod val="145000"/>
                      </a:schemeClr>
                    </a:gs>
                    <a:gs pos="100000">
                      <a:schemeClr val="accent1">
                        <a:tint val="83000"/>
                        <a:satMod val="143000"/>
                      </a:schemeClr>
                    </a:gs>
                  </a:gsLst>
                  <a:lin ang="4800000" scaled="1"/>
                </a:gradFill>
                <a:effectLst>
                  <a:outerShdw blurRad="127000" dist="200000" dir="2700000" algn="tl" rotWithShape="0">
                    <a:srgbClr val="000000">
                      <a:alpha val="30000"/>
                    </a:srgbClr>
                  </a:outerShdw>
                </a:effectLst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7D9C5D1-677D-49E2-AAD5-3809698547D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3331698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</p:spTree>
  </p:cSld>
  <p:clrMapOvr>
    <a:masterClrMapping/>
  </p:clrMapOvr>
  <p:transition spd="slow">
    <p:wheel spokes="8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9DD6E2-E274-4FB0-8DD6-C14A6C28F1C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8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609600"/>
            <a:ext cx="7086600" cy="1828800"/>
          </a:xfrm>
        </p:spPr>
        <p:txBody>
          <a:bodyPr vert="horz" bIns="0" anchor="b">
            <a:noAutofit/>
            <a:scene3d>
              <a:camera prst="orthographicFront"/>
              <a:lightRig rig="soft" dir="t">
                <a:rot lat="0" lon="0" rev="17220000"/>
              </a:lightRig>
            </a:scene3d>
            <a:sp3d prstMaterial="softEdge">
              <a:bevelT w="38100" h="38100"/>
              <a:contourClr>
                <a:schemeClr val="tx2">
                  <a:shade val="50000"/>
                </a:schemeClr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4800" b="1" cap="none" baseline="0">
                <a:ln w="6350">
                  <a:noFill/>
                </a:ln>
                <a:solidFill>
                  <a:schemeClr val="accent1">
                    <a:tint val="90000"/>
                    <a:satMod val="120000"/>
                  </a:schemeClr>
                </a:solidFill>
                <a:effectLst>
                  <a:outerShdw blurRad="114300" dist="101600" dir="2700000" algn="tl" rotWithShape="0">
                    <a:srgbClr val="000000">
                      <a:alpha val="4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00200" y="2507786"/>
            <a:ext cx="7086600" cy="1509712"/>
          </a:xfrm>
        </p:spPr>
        <p:txBody>
          <a:bodyPr anchor="t"/>
          <a:lstStyle>
            <a:lvl1pPr marL="73152" indent="0" algn="l">
              <a:buNone/>
              <a:defRPr sz="20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24800" y="6416675"/>
            <a:ext cx="762000" cy="365125"/>
          </a:xfrm>
        </p:spPr>
        <p:txBody>
          <a:bodyPr/>
          <a:lstStyle/>
          <a:p>
            <a:pPr>
              <a:defRPr/>
            </a:pPr>
            <a:fld id="{5E42F404-9DF1-46E2-B6E3-99617F53377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heel spokes="8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8B2A75F-993E-4800-BC06-85CA496E148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8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2"/>
            <a:ext cx="4040188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2"/>
            <a:ext cx="4041775" cy="750887"/>
          </a:xfrm>
        </p:spPr>
        <p:txBody>
          <a:bodyPr anchor="ctr"/>
          <a:lstStyle>
            <a:lvl1pPr marL="0" indent="0">
              <a:buNone/>
              <a:defRPr sz="2400" b="0" cap="all" baseline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76396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3ACC1C-8450-4CE8-976F-E40662AEEED6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8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018505-6AA3-4363-B5C5-76EC971F910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8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07F1E4-19EB-4940-B08E-96479A4CFF7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8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vert="horz" anchor="b">
            <a:normAutofit/>
            <a:sp3d prstMaterial="softEdge"/>
          </a:bodyPr>
          <a:lstStyle>
            <a:lvl1pPr algn="l">
              <a:buNone/>
              <a:defRPr sz="2200" b="0">
                <a:ln w="6350">
                  <a:noFill/>
                </a:ln>
                <a:solidFill>
                  <a:schemeClr val="accent1">
                    <a:tint val="73000"/>
                    <a:satMod val="180000"/>
                  </a:schemeClr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524000"/>
            <a:ext cx="3008313" cy="4602163"/>
          </a:xfrm>
        </p:spPr>
        <p:txBody>
          <a:bodyPr/>
          <a:lstStyle>
            <a:lvl1pPr marL="0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2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9514AD-2760-4D27-AC71-F00D67D1C3A3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8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609600"/>
            <a:ext cx="5486400" cy="522288"/>
          </a:xfrm>
        </p:spPr>
        <p:txBody>
          <a:bodyPr lIns="45720" rIns="45720" bIns="0" anchor="b">
            <a:sp3d prstMaterial="softEdge"/>
          </a:bodyPr>
          <a:lstStyle>
            <a:lvl1pPr algn="ctr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1831975"/>
            <a:ext cx="5486400" cy="3962400"/>
          </a:xfrm>
          <a:solidFill>
            <a:schemeClr val="bg2"/>
          </a:solidFill>
          <a:ln w="44450" cap="sq" cmpd="sng" algn="ctr">
            <a:solidFill>
              <a:srgbClr val="FFFFFF"/>
            </a:solidFill>
            <a:prstDash val="solid"/>
            <a:miter lim="800000"/>
          </a:ln>
          <a:effectLst>
            <a:outerShdw blurRad="190500" dist="228600" dir="2700000" sy="90000">
              <a:srgbClr val="000000">
                <a:alpha val="25000"/>
              </a:srgbClr>
            </a:outerShdw>
          </a:effectLst>
          <a:scene3d>
            <a:camera prst="orthographicFront">
              <a:rot lat="0" lon="0" rev="0"/>
            </a:camera>
            <a:lightRig rig="balanced" dir="tr">
              <a:rot lat="0" lon="0" rev="2700000"/>
            </a:lightRig>
          </a:scene3d>
          <a:sp3d prstMaterial="matte">
            <a:contourClr>
              <a:schemeClr val="tx2">
                <a:shade val="50000"/>
              </a:schemeClr>
            </a:contourClr>
          </a:sp3d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</a:lstStyle>
          <a:p>
            <a:pPr marL="0" algn="l" rtl="0" eaLnBrk="1" latinLnBrk="0" hangingPunct="1"/>
            <a:r>
              <a:rPr kumimoji="0" lang="en-US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1166787"/>
            <a:ext cx="5486400" cy="530352"/>
          </a:xfrm>
        </p:spPr>
        <p:txBody>
          <a:bodyPr lIns="45720" tIns="45720" rIns="45720" anchor="t"/>
          <a:lstStyle>
            <a:lvl1pPr marL="0" indent="0" algn="ct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E32C4C-A49C-4D4C-8D1E-41BA04774D8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8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6BBCC32-AC06-4C16-B7D7-7D44FEC8D70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8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C2B7B9B-1303-4D7B-A9D1-E73C679E14B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 spd="slow">
    <p:wheel spokes="8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T. Inf - ITS / 2009-2014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KomNum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0CAF31C-E5D0-43BE-B44F-9E2CE0B44C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979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T. Inf - ITS / 2009-2014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KomNum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C2846D-7FE1-4F1D-AFA8-2AAD93000DB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280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8160">
              <a:schemeClr val="tx2">
                <a:lumMod val="75000"/>
              </a:schemeClr>
            </a:gs>
            <a:gs pos="0">
              <a:schemeClr val="accent1">
                <a:lumMod val="60000"/>
                <a:lumOff val="40000"/>
              </a:schemeClr>
            </a:gs>
            <a:gs pos="20000">
              <a:srgbClr val="000040"/>
            </a:gs>
            <a:gs pos="50000">
              <a:srgbClr val="400040"/>
            </a:gs>
            <a:gs pos="75000">
              <a:srgbClr val="8F0040"/>
            </a:gs>
            <a:gs pos="89999">
              <a:srgbClr val="F27300"/>
            </a:gs>
            <a:gs pos="100000">
              <a:srgbClr val="FFBF00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>
                <a:rot lat="0" lon="0" rev="16800000"/>
              </a:lightRig>
            </a:scene3d>
            <a:sp3d prstMaterial="softEdge">
              <a:bevelT w="38100" h="381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70916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924800" y="6416675"/>
            <a:ext cx="762000" cy="365125"/>
          </a:xfrm>
          <a:prstGeom prst="rect">
            <a:avLst/>
          </a:prstGeom>
        </p:spPr>
        <p:txBody>
          <a:bodyPr vert="horz" lIns="0" rIns="0" anchor="b"/>
          <a:lstStyle>
            <a:lvl1pPr algn="r" eaLnBrk="1" latinLnBrk="0" hangingPunct="1">
              <a:defRPr kumimoji="0" sz="1200">
                <a:solidFill>
                  <a:schemeClr val="tx1">
                    <a:shade val="50000"/>
                  </a:schemeClr>
                </a:solidFill>
              </a:defRPr>
            </a:lvl1pPr>
          </a:lstStyle>
          <a:p>
            <a:pPr>
              <a:defRPr/>
            </a:pPr>
            <a:fld id="{48E2F6D4-A4BB-4E26-BA8D-1123B404F8B9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8" r:id="rId1"/>
    <p:sldLayoutId id="2147483779" r:id="rId2"/>
    <p:sldLayoutId id="2147483780" r:id="rId3"/>
    <p:sldLayoutId id="2147483781" r:id="rId4"/>
    <p:sldLayoutId id="2147483782" r:id="rId5"/>
    <p:sldLayoutId id="2147483783" r:id="rId6"/>
    <p:sldLayoutId id="2147483784" r:id="rId7"/>
    <p:sldLayoutId id="2147483785" r:id="rId8"/>
    <p:sldLayoutId id="2147483786" r:id="rId9"/>
    <p:sldLayoutId id="2147483787" r:id="rId10"/>
    <p:sldLayoutId id="2147483788" r:id="rId11"/>
    <p:sldLayoutId id="2147483789" r:id="rId12"/>
    <p:sldLayoutId id="2147483790" r:id="rId13"/>
  </p:sldLayoutIdLst>
  <p:transition spd="slow">
    <p:wheel spokes="8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13" grpId="0" build="p"/>
    </p:bldLst>
  </p:timing>
  <p:txStyles>
    <p:titleStyle>
      <a:lvl1pPr algn="ctr" rtl="0" eaLnBrk="1" latinLnBrk="0" hangingPunct="1">
        <a:spcBef>
          <a:spcPct val="0"/>
        </a:spcBef>
        <a:buNone/>
        <a:defRPr kumimoji="0" sz="4100" b="1" kern="1200" cap="none" baseline="0">
          <a:ln w="6350">
            <a:noFill/>
          </a:ln>
          <a:gradFill>
            <a:gsLst>
              <a:gs pos="0">
                <a:schemeClr val="accent1">
                  <a:tint val="73000"/>
                  <a:satMod val="145000"/>
                </a:schemeClr>
              </a:gs>
              <a:gs pos="73000">
                <a:schemeClr val="accent1">
                  <a:tint val="73000"/>
                  <a:satMod val="145000"/>
                </a:schemeClr>
              </a:gs>
              <a:gs pos="100000">
                <a:schemeClr val="accent1">
                  <a:tint val="83000"/>
                  <a:satMod val="143000"/>
                </a:schemeClr>
              </a:gs>
            </a:gsLst>
            <a:lin ang="4800000" scaled="1"/>
          </a:gradFill>
          <a:effectLst>
            <a:outerShdw blurRad="114300" dist="101600" dir="27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548640" indent="-411480" algn="l" rtl="0" eaLnBrk="1" latinLnBrk="0" hangingPunct="1">
        <a:spcBef>
          <a:spcPct val="20000"/>
        </a:spcBef>
        <a:buClr>
          <a:schemeClr val="tx1">
            <a:shade val="95000"/>
          </a:schemeClr>
        </a:buClr>
        <a:buSzPct val="65000"/>
        <a:buFont typeface="Wingdings 2"/>
        <a:buChar char="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868680" indent="-283464" algn="l" rtl="0" eaLnBrk="1" latinLnBrk="0" hangingPunct="1">
        <a:spcBef>
          <a:spcPct val="20000"/>
        </a:spcBef>
        <a:buClr>
          <a:schemeClr val="tx1"/>
        </a:buClr>
        <a:buSzPct val="80000"/>
        <a:buFont typeface="Wingdings 2"/>
        <a:buChar char="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33856" indent="-228600" algn="l" rtl="0" eaLnBrk="1" latinLnBrk="0" hangingPunct="1">
        <a:spcBef>
          <a:spcPct val="20000"/>
        </a:spcBef>
        <a:buClr>
          <a:schemeClr val="tx1"/>
        </a:buClr>
        <a:buSzPct val="95000"/>
        <a:buFont typeface="Wingdings"/>
        <a:buChar char="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353312" indent="-182880" algn="l" rtl="0" eaLnBrk="1" latinLnBrk="0" hangingPunct="1">
        <a:spcBef>
          <a:spcPct val="20000"/>
        </a:spcBef>
        <a:buClr>
          <a:schemeClr val="tx1"/>
        </a:buClr>
        <a:buSzPct val="100000"/>
        <a:buFont typeface="Wingdings 3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4533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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64792" indent="-182880" algn="l" rtl="0" eaLnBrk="1" latinLnBrk="0" hangingPunct="1">
        <a:spcBef>
          <a:spcPct val="20000"/>
        </a:spcBef>
        <a:buClr>
          <a:schemeClr val="tx1"/>
        </a:buClr>
        <a:buFont typeface="Wingdings 3"/>
        <a:buChar char="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65960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67128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368296" indent="-182880" algn="l" rtl="0" eaLnBrk="1" latinLnBrk="0" hangingPunct="1">
        <a:spcBef>
          <a:spcPct val="20000"/>
        </a:spcBef>
        <a:buClr>
          <a:schemeClr val="tx1"/>
        </a:buClr>
        <a:buFont typeface="Wingdings 2"/>
        <a:buChar char="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wmf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5.xml"/><Relationship Id="rId3" Type="http://schemas.openxmlformats.org/officeDocument/2006/relationships/image" Target="../media/image5.wmf"/><Relationship Id="rId7" Type="http://schemas.openxmlformats.org/officeDocument/2006/relationships/customXml" Target="../ink/ink2.xml"/><Relationship Id="rId12" Type="http://schemas.openxmlformats.org/officeDocument/2006/relationships/image" Target="../media/image9.png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8.png"/><Relationship Id="rId4" Type="http://schemas.openxmlformats.org/officeDocument/2006/relationships/image" Target="../media/image6.jpeg"/><Relationship Id="rId9" Type="http://schemas.openxmlformats.org/officeDocument/2006/relationships/customXml" Target="../ink/ink3.xml"/><Relationship Id="rId1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8160">
              <a:schemeClr val="tx2">
                <a:lumMod val="75000"/>
              </a:schemeClr>
            </a:gs>
            <a:gs pos="0">
              <a:schemeClr val="accent1">
                <a:lumMod val="60000"/>
                <a:lumOff val="40000"/>
              </a:schemeClr>
            </a:gs>
            <a:gs pos="20000">
              <a:srgbClr val="000040"/>
            </a:gs>
            <a:gs pos="58750">
              <a:schemeClr val="accent5">
                <a:lumMod val="40000"/>
                <a:lumOff val="60000"/>
              </a:schemeClr>
            </a:gs>
            <a:gs pos="50000">
              <a:srgbClr val="400040"/>
            </a:gs>
            <a:gs pos="75000">
              <a:srgbClr val="8F0040"/>
            </a:gs>
            <a:gs pos="89999">
              <a:srgbClr val="F27300"/>
            </a:gs>
            <a:gs pos="100000">
              <a:srgbClr val="FFBF00"/>
            </a:gs>
          </a:gsLst>
          <a:lin ang="27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dirty="0">
                <a:solidFill>
                  <a:srgbClr val="FFFF00"/>
                </a:solidFill>
              </a:rPr>
              <a:t>PENGANTAR </a:t>
            </a:r>
            <a:br>
              <a:rPr lang="id-ID" dirty="0">
                <a:solidFill>
                  <a:srgbClr val="FFFF00"/>
                </a:solidFill>
              </a:rPr>
            </a:br>
            <a:r>
              <a:rPr lang="id-ID" dirty="0">
                <a:solidFill>
                  <a:srgbClr val="FFFF00"/>
                </a:solidFill>
              </a:rPr>
              <a:t>Komputasi Numerik</a:t>
            </a:r>
            <a:r>
              <a:rPr lang="en-US" dirty="0">
                <a:solidFill>
                  <a:srgbClr val="FFFF00"/>
                </a:solidFill>
              </a:rPr>
              <a:t> 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z="2000">
                <a:solidFill>
                  <a:srgbClr val="FFFF00"/>
                </a:solidFill>
              </a:rPr>
              <a:t>By :</a:t>
            </a:r>
          </a:p>
          <a:p>
            <a:pPr eaLnBrk="1" hangingPunct="1"/>
            <a:r>
              <a:rPr lang="en-US">
                <a:solidFill>
                  <a:srgbClr val="FFFF00"/>
                </a:solidFill>
              </a:rPr>
              <a:t>Bilqis Amaliah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Materi</a:t>
            </a:r>
            <a:r>
              <a:rPr lang="en-US" dirty="0"/>
              <a:t> </a:t>
            </a:r>
            <a:r>
              <a:rPr lang="en-US" dirty="0" err="1"/>
              <a:t>minggu</a:t>
            </a:r>
            <a:r>
              <a:rPr lang="en-US" dirty="0"/>
              <a:t> </a:t>
            </a:r>
            <a:r>
              <a:rPr lang="en-US" dirty="0" err="1"/>
              <a:t>ini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51510" lvl="0" indent="-514350">
              <a:buFont typeface="+mj-lt"/>
              <a:buAutoNum type="arabicPeriod"/>
            </a:pPr>
            <a:r>
              <a:rPr lang="en-US" b="1" dirty="0" err="1"/>
              <a:t>Pengertian</a:t>
            </a:r>
            <a:r>
              <a:rPr lang="en-US" b="1" dirty="0"/>
              <a:t> </a:t>
            </a:r>
            <a:r>
              <a:rPr lang="en-US" b="1" dirty="0" err="1"/>
              <a:t>Komputasi</a:t>
            </a:r>
            <a:r>
              <a:rPr lang="en-US" b="1" dirty="0"/>
              <a:t> </a:t>
            </a:r>
            <a:r>
              <a:rPr lang="en-US" b="1" dirty="0" err="1"/>
              <a:t>Numerik</a:t>
            </a:r>
            <a:r>
              <a:rPr lang="en-US" b="1" dirty="0"/>
              <a:t> </a:t>
            </a:r>
          </a:p>
          <a:p>
            <a:pPr marL="651510" lvl="0" indent="-514350">
              <a:buFont typeface="+mj-lt"/>
              <a:buAutoNum type="arabicPeriod"/>
            </a:pPr>
            <a:r>
              <a:rPr lang="en-US" b="1" dirty="0" err="1"/>
              <a:t>Bilangan</a:t>
            </a:r>
            <a:r>
              <a:rPr lang="en-US" b="1" dirty="0"/>
              <a:t> </a:t>
            </a:r>
            <a:r>
              <a:rPr lang="en-US" b="1" dirty="0" err="1"/>
              <a:t>Berarti</a:t>
            </a:r>
            <a:endParaRPr lang="en-US" dirty="0"/>
          </a:p>
          <a:p>
            <a:pPr marL="651510" lvl="0" indent="-514350">
              <a:buFont typeface="+mj-lt"/>
              <a:buAutoNum type="arabicPeriod"/>
            </a:pPr>
            <a:r>
              <a:rPr lang="en-US" b="1" dirty="0" err="1"/>
              <a:t>Akurasi</a:t>
            </a:r>
            <a:r>
              <a:rPr lang="en-US" b="1" dirty="0"/>
              <a:t>  </a:t>
            </a:r>
            <a:r>
              <a:rPr lang="en-US" b="1" dirty="0" err="1"/>
              <a:t>dan</a:t>
            </a:r>
            <a:r>
              <a:rPr lang="en-US" b="1" dirty="0"/>
              <a:t>  </a:t>
            </a:r>
            <a:r>
              <a:rPr lang="en-US" b="1" dirty="0" err="1"/>
              <a:t>Presisi</a:t>
            </a:r>
            <a:endParaRPr lang="en-US" dirty="0"/>
          </a:p>
          <a:p>
            <a:pPr marL="651510" lvl="0" indent="-514350">
              <a:buFont typeface="+mj-lt"/>
              <a:buAutoNum type="arabicPeriod"/>
            </a:pPr>
            <a:r>
              <a:rPr lang="en-US" b="1" dirty="0" err="1"/>
              <a:t>Aturan</a:t>
            </a:r>
            <a:r>
              <a:rPr lang="en-US" b="1" dirty="0"/>
              <a:t> </a:t>
            </a:r>
            <a:r>
              <a:rPr lang="en-US" b="1" dirty="0" err="1"/>
              <a:t>Pembulatan</a:t>
            </a:r>
            <a:r>
              <a:rPr lang="en-US" b="1" dirty="0"/>
              <a:t>     </a:t>
            </a:r>
            <a:endParaRPr lang="en-US" dirty="0"/>
          </a:p>
          <a:p>
            <a:pPr marL="651510" lvl="0" indent="-514350">
              <a:buFont typeface="+mj-lt"/>
              <a:buAutoNum type="arabicPeriod"/>
            </a:pPr>
            <a:r>
              <a:rPr lang="en-US" b="1" dirty="0" err="1"/>
              <a:t>Pengertian</a:t>
            </a:r>
            <a:r>
              <a:rPr lang="en-US" b="1" dirty="0"/>
              <a:t> Error</a:t>
            </a:r>
            <a:endParaRPr lang="en-US" dirty="0"/>
          </a:p>
          <a:p>
            <a:pPr marL="651510" indent="-514350">
              <a:buFont typeface="+mj-lt"/>
              <a:buAutoNum type="arabicPeriod"/>
            </a:pPr>
            <a:endParaRPr lang="en-US" dirty="0"/>
          </a:p>
        </p:txBody>
      </p:sp>
    </p:spTree>
  </p:cSld>
  <p:clrMapOvr>
    <a:masterClrMapping/>
  </p:clrMapOvr>
  <p:transition spd="slow">
    <p:wheel spokes="8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63000" cy="7921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dirty="0">
                <a:solidFill>
                  <a:srgbClr val="FFFF00"/>
                </a:solidFill>
              </a:rPr>
              <a:t>1. </a:t>
            </a:r>
            <a:r>
              <a:rPr lang="en-US" dirty="0" err="1">
                <a:solidFill>
                  <a:srgbClr val="FFFF00"/>
                </a:solidFill>
              </a:rPr>
              <a:t>Pengertian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Komputasi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Numerik</a:t>
            </a:r>
            <a:endParaRPr lang="en-US" sz="2000" b="1" dirty="0">
              <a:solidFill>
                <a:srgbClr val="969696"/>
              </a:solidFill>
            </a:endParaRPr>
          </a:p>
        </p:txBody>
      </p:sp>
      <p:sp>
        <p:nvSpPr>
          <p:cNvPr id="11270" name="Rectangle 3"/>
          <p:cNvSpPr>
            <a:spLocks noGrp="1" noChangeArrowheads="1"/>
          </p:cNvSpPr>
          <p:nvPr>
            <p:ph idx="1"/>
          </p:nvPr>
        </p:nvSpPr>
        <p:spPr>
          <a:xfrm>
            <a:off x="762000" y="1066800"/>
            <a:ext cx="7924800" cy="838200"/>
          </a:xfrm>
        </p:spPr>
        <p:txBody>
          <a:bodyPr>
            <a:normAutofit fontScale="70000" lnSpcReduction="20000"/>
          </a:bodyPr>
          <a:lstStyle/>
          <a:p>
            <a:pPr algn="ctr" eaLnBrk="1" hangingPunct="1">
              <a:buFontTx/>
              <a:buNone/>
            </a:pPr>
            <a:r>
              <a:rPr lang="id-ID" sz="2400" b="1" dirty="0">
                <a:solidFill>
                  <a:srgbClr val="FFFF00"/>
                </a:solidFill>
                <a:latin typeface="Comic Sans MS" pitchFamily="66" charset="0"/>
              </a:rPr>
              <a:t>Komputasi </a:t>
            </a:r>
            <a:r>
              <a:rPr lang="en-US" sz="2400" b="1" dirty="0" err="1">
                <a:solidFill>
                  <a:srgbClr val="FFFF00"/>
                </a:solidFill>
                <a:latin typeface="Comic Sans MS" pitchFamily="66" charset="0"/>
              </a:rPr>
              <a:t>Numerik</a:t>
            </a:r>
            <a:r>
              <a:rPr lang="en-US" sz="2400" b="1" dirty="0">
                <a:solidFill>
                  <a:srgbClr val="FFFF00"/>
                </a:solidFill>
                <a:latin typeface="Comic Sans MS" pitchFamily="66" charset="0"/>
              </a:rPr>
              <a:t> : </a:t>
            </a:r>
          </a:p>
          <a:p>
            <a:pPr algn="ctr" eaLnBrk="1" hangingPunct="1">
              <a:buFontTx/>
              <a:buNone/>
            </a:pPr>
            <a:r>
              <a:rPr lang="en-US" sz="2400" b="1" dirty="0" err="1">
                <a:solidFill>
                  <a:srgbClr val="FFFF00"/>
                </a:solidFill>
                <a:latin typeface="Comic Sans MS" pitchFamily="66" charset="0"/>
              </a:rPr>
              <a:t>memformulasikan</a:t>
            </a:r>
            <a:r>
              <a:rPr lang="en-US" sz="2400" b="1" dirty="0">
                <a:solidFill>
                  <a:srgbClr val="FFFF00"/>
                </a:solidFill>
                <a:latin typeface="Comic Sans MS" pitchFamily="66" charset="0"/>
              </a:rPr>
              <a:t> (</a:t>
            </a:r>
            <a:r>
              <a:rPr lang="en-US" sz="2400" b="1" dirty="0" err="1">
                <a:solidFill>
                  <a:srgbClr val="FFFF00"/>
                </a:solidFill>
                <a:latin typeface="Comic Sans MS" pitchFamily="66" charset="0"/>
              </a:rPr>
              <a:t>persamaan</a:t>
            </a:r>
            <a:r>
              <a:rPr lang="en-US" sz="24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mic Sans MS" pitchFamily="66" charset="0"/>
              </a:rPr>
              <a:t>matematika</a:t>
            </a:r>
            <a:r>
              <a:rPr lang="en-US" sz="2400" b="1" dirty="0">
                <a:solidFill>
                  <a:srgbClr val="FFFF00"/>
                </a:solidFill>
                <a:latin typeface="Comic Sans MS" pitchFamily="66" charset="0"/>
              </a:rPr>
              <a:t>) </a:t>
            </a:r>
            <a:r>
              <a:rPr lang="en-US" sz="2400" b="1" dirty="0" err="1">
                <a:solidFill>
                  <a:srgbClr val="FFFF00"/>
                </a:solidFill>
                <a:latin typeface="Comic Sans MS" pitchFamily="66" charset="0"/>
              </a:rPr>
              <a:t>masalah</a:t>
            </a:r>
            <a:endParaRPr lang="en-US" sz="2400" b="1" dirty="0">
              <a:solidFill>
                <a:srgbClr val="FFFF00"/>
              </a:solidFill>
              <a:latin typeface="Comic Sans MS" pitchFamily="66" charset="0"/>
            </a:endParaRPr>
          </a:p>
          <a:p>
            <a:pPr algn="ctr" eaLnBrk="1" hangingPunct="1">
              <a:buFontTx/>
              <a:buNone/>
            </a:pPr>
            <a:r>
              <a:rPr lang="en-US" sz="24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mic Sans MS" pitchFamily="66" charset="0"/>
              </a:rPr>
              <a:t>kemudian</a:t>
            </a:r>
            <a:r>
              <a:rPr lang="en-US" sz="24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mic Sans MS" pitchFamily="66" charset="0"/>
              </a:rPr>
              <a:t>diselesaikan</a:t>
            </a:r>
            <a:r>
              <a:rPr lang="en-US" sz="24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mic Sans MS" pitchFamily="66" charset="0"/>
              </a:rPr>
              <a:t>dengan</a:t>
            </a:r>
            <a:r>
              <a:rPr lang="en-US" sz="24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mic Sans MS" pitchFamily="66" charset="0"/>
              </a:rPr>
              <a:t>cara</a:t>
            </a:r>
            <a:r>
              <a:rPr lang="en-US" sz="24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400" b="1" dirty="0" err="1">
                <a:solidFill>
                  <a:srgbClr val="FFFF00"/>
                </a:solidFill>
                <a:latin typeface="Comic Sans MS" pitchFamily="66" charset="0"/>
              </a:rPr>
              <a:t>matematika</a:t>
            </a:r>
            <a:endParaRPr lang="en-US" sz="2400" b="1" dirty="0">
              <a:solidFill>
                <a:srgbClr val="FFFF00"/>
              </a:solidFill>
              <a:latin typeface="Comic Sans MS" pitchFamily="66" charset="0"/>
            </a:endParaRPr>
          </a:p>
          <a:p>
            <a:pPr algn="ctr" eaLnBrk="1" hangingPunct="1">
              <a:buFontTx/>
              <a:buNone/>
            </a:pPr>
            <a:endParaRPr lang="en-US" sz="2400" b="1" dirty="0">
              <a:solidFill>
                <a:srgbClr val="FFFF00"/>
              </a:solidFill>
              <a:latin typeface="Comic Sans MS" pitchFamily="66" charset="0"/>
            </a:endParaRPr>
          </a:p>
        </p:txBody>
      </p:sp>
      <p:sp>
        <p:nvSpPr>
          <p:cNvPr id="11266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Inf</a:t>
            </a:r>
            <a:r>
              <a:rPr lang="en-US" dirty="0"/>
              <a:t> - ITS / 2009-2014</a:t>
            </a:r>
          </a:p>
        </p:txBody>
      </p:sp>
      <p:sp>
        <p:nvSpPr>
          <p:cNvPr id="1126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KomNum</a:t>
            </a: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FED879-F7BA-4C30-82B5-88B37F88BA90}" type="slidenum">
              <a:rPr lang="en-US"/>
              <a:pPr/>
              <a:t>3</a:t>
            </a:fld>
            <a:endParaRPr lang="en-US"/>
          </a:p>
        </p:txBody>
      </p:sp>
      <p:sp>
        <p:nvSpPr>
          <p:cNvPr id="11271" name="Line 4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1272" name="Rectangle 7"/>
          <p:cNvSpPr>
            <a:spLocks noChangeArrowheads="1"/>
          </p:cNvSpPr>
          <p:nvPr/>
        </p:nvSpPr>
        <p:spPr bwMode="auto">
          <a:xfrm>
            <a:off x="762000" y="2506662"/>
            <a:ext cx="7924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4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itchFamily="66" charset="0"/>
              </a:rPr>
              <a:t>Hubungan</a:t>
            </a: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itchFamily="66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itchFamily="66" charset="0"/>
              </a:rPr>
              <a:t>antara</a:t>
            </a: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itchFamily="66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itchFamily="66" charset="0"/>
              </a:rPr>
              <a:t>dunia</a:t>
            </a: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itchFamily="66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itchFamily="66" charset="0"/>
              </a:rPr>
              <a:t>nyata</a:t>
            </a: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itchFamily="66" charset="0"/>
              </a:rPr>
              <a:t> –</a:t>
            </a:r>
            <a:r>
              <a:rPr lang="id-ID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itchFamily="66" charset="0"/>
              </a:rPr>
              <a:t> </a:t>
            </a:r>
            <a:r>
              <a:rPr lang="en-US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itchFamily="66" charset="0"/>
              </a:rPr>
              <a:t>model – </a:t>
            </a:r>
            <a:r>
              <a:rPr lang="id-ID" sz="2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Comic Sans MS" pitchFamily="66" charset="0"/>
              </a:rPr>
              <a:t>solusi</a:t>
            </a:r>
            <a:endParaRPr lang="en-US" sz="2400" b="1" dirty="0">
              <a:solidFill>
                <a:schemeClr val="accent1">
                  <a:lumMod val="40000"/>
                  <a:lumOff val="60000"/>
                </a:schemeClr>
              </a:solidFill>
              <a:latin typeface="Comic Sans MS" pitchFamily="66" charset="0"/>
            </a:endParaRPr>
          </a:p>
        </p:txBody>
      </p:sp>
      <p:grpSp>
        <p:nvGrpSpPr>
          <p:cNvPr id="2" name="Group 29"/>
          <p:cNvGrpSpPr>
            <a:grpSpLocks/>
          </p:cNvGrpSpPr>
          <p:nvPr/>
        </p:nvGrpSpPr>
        <p:grpSpPr bwMode="auto">
          <a:xfrm>
            <a:off x="1295400" y="3268662"/>
            <a:ext cx="6572250" cy="909637"/>
            <a:chOff x="928662" y="3000372"/>
            <a:chExt cx="6572296" cy="908864"/>
          </a:xfrm>
        </p:grpSpPr>
        <p:sp>
          <p:nvSpPr>
            <p:cNvPr id="11" name="TextBox 10"/>
            <p:cNvSpPr txBox="1"/>
            <p:nvPr/>
          </p:nvSpPr>
          <p:spPr>
            <a:xfrm>
              <a:off x="928662" y="3000372"/>
              <a:ext cx="1285884" cy="908864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>
              <a:spAutoFit/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>
                <a:defRPr/>
              </a:pPr>
              <a:r>
                <a:rPr lang="en-US" b="1" dirty="0" err="1">
                  <a:ln w="11430"/>
                  <a:solidFill>
                    <a:srgbClr val="0000FF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Dunia</a:t>
              </a:r>
              <a:r>
                <a:rPr lang="en-US" b="1" dirty="0">
                  <a:ln w="11430"/>
                  <a:solidFill>
                    <a:srgbClr val="0000FF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 </a:t>
              </a:r>
              <a:r>
                <a:rPr lang="en-US" b="1" dirty="0" err="1">
                  <a:ln w="11430"/>
                  <a:solidFill>
                    <a:srgbClr val="0000FF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nyata</a:t>
              </a:r>
              <a:endParaRPr lang="en-US" b="1" dirty="0">
                <a:ln w="11430"/>
                <a:solidFill>
                  <a:srgbClr val="0000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643174" y="3214686"/>
              <a:ext cx="1571636" cy="519351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>
              <a:spAutoFit/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>
                <a:defRPr/>
              </a:pPr>
              <a:r>
                <a:rPr lang="en-US" b="1" dirty="0" err="1">
                  <a:ln w="11430"/>
                  <a:solidFill>
                    <a:srgbClr val="0000FF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masalah</a:t>
              </a:r>
              <a:endParaRPr lang="en-US" b="1" dirty="0">
                <a:ln w="11430"/>
                <a:solidFill>
                  <a:srgbClr val="0000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572000" y="3195401"/>
              <a:ext cx="1214446" cy="519351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>
              <a:spAutoFit/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>
                <a:defRPr/>
              </a:pPr>
              <a:r>
                <a:rPr lang="en-US" b="1" dirty="0">
                  <a:ln w="11430"/>
                  <a:solidFill>
                    <a:srgbClr val="0000FF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model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286512" y="3195401"/>
              <a:ext cx="1214446" cy="519351"/>
            </a:xfrm>
            <a:prstGeom prst="ellipse">
              <a:avLst/>
            </a:prstGeom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>
              <a:spAutoFit/>
              <a:scene3d>
                <a:camera prst="orthographicFront"/>
                <a:lightRig rig="flat" dir="tl">
                  <a:rot lat="0" lon="0" rev="6600000"/>
                </a:lightRig>
              </a:scene3d>
              <a:sp3d extrusionH="25400" contourW="8890">
                <a:bevelT w="38100" h="31750"/>
                <a:contourClr>
                  <a:schemeClr val="accent2">
                    <a:shade val="75000"/>
                  </a:schemeClr>
                </a:contourClr>
              </a:sp3d>
            </a:bodyPr>
            <a:lstStyle/>
            <a:p>
              <a:pPr>
                <a:defRPr/>
              </a:pPr>
              <a:r>
                <a:rPr lang="en-US" b="1" dirty="0" err="1">
                  <a:ln w="11430"/>
                  <a:solidFill>
                    <a:srgbClr val="0000FF"/>
                  </a:solidFill>
                  <a:effectLst>
                    <a:outerShdw blurRad="50800" dist="39000" dir="5460000" algn="tl">
                      <a:srgbClr val="000000">
                        <a:alpha val="38000"/>
                      </a:srgbClr>
                    </a:outerShdw>
                  </a:effectLst>
                </a:rPr>
                <a:t>solusi</a:t>
              </a:r>
              <a:endParaRPr lang="en-US" b="1" dirty="0">
                <a:ln w="11430"/>
                <a:solidFill>
                  <a:srgbClr val="0000FF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endParaRPr>
            </a:p>
          </p:txBody>
        </p:sp>
        <p:cxnSp>
          <p:nvCxnSpPr>
            <p:cNvPr id="15" name="Straight Arrow Connector 14"/>
            <p:cNvCxnSpPr>
              <a:stCxn id="11" idx="6"/>
              <a:endCxn id="12" idx="2"/>
            </p:cNvCxnSpPr>
            <p:nvPr/>
          </p:nvCxnSpPr>
          <p:spPr>
            <a:xfrm>
              <a:off x="2214546" y="3455597"/>
              <a:ext cx="428628" cy="190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>
              <a:stCxn id="12" idx="6"/>
              <a:endCxn id="13" idx="2"/>
            </p:cNvCxnSpPr>
            <p:nvPr/>
          </p:nvCxnSpPr>
          <p:spPr>
            <a:xfrm flipV="1">
              <a:off x="4214810" y="3455597"/>
              <a:ext cx="357189" cy="1903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3" idx="6"/>
              <a:endCxn id="14" idx="2"/>
            </p:cNvCxnSpPr>
            <p:nvPr/>
          </p:nvCxnSpPr>
          <p:spPr>
            <a:xfrm>
              <a:off x="5786446" y="3455597"/>
              <a:ext cx="500065" cy="158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Curved Connector 17"/>
            <p:cNvCxnSpPr>
              <a:stCxn id="12" idx="4"/>
              <a:endCxn id="14" idx="4"/>
            </p:cNvCxnSpPr>
            <p:nvPr/>
          </p:nvCxnSpPr>
          <p:spPr>
            <a:xfrm rot="5400000" flipH="1" flipV="1">
              <a:off x="5150656" y="1992475"/>
              <a:ext cx="20619" cy="3463949"/>
            </a:xfrm>
            <a:prstGeom prst="curvedConnector3">
              <a:avLst>
                <a:gd name="adj1" fmla="val -1185377"/>
              </a:avLst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9" name="TextBox 30"/>
          <p:cNvSpPr txBox="1">
            <a:spLocks noChangeArrowheads="1"/>
          </p:cNvSpPr>
          <p:nvPr/>
        </p:nvSpPr>
        <p:spPr bwMode="auto">
          <a:xfrm>
            <a:off x="5214938" y="4378325"/>
            <a:ext cx="1000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dirty="0"/>
              <a:t>model</a:t>
            </a:r>
          </a:p>
        </p:txBody>
      </p:sp>
      <p:sp>
        <p:nvSpPr>
          <p:cNvPr id="20" name="TextBox 31"/>
          <p:cNvSpPr txBox="1">
            <a:spLocks noChangeArrowheads="1"/>
          </p:cNvSpPr>
          <p:nvPr/>
        </p:nvSpPr>
        <p:spPr bwMode="auto">
          <a:xfrm>
            <a:off x="4357688" y="4949825"/>
            <a:ext cx="1000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fisik</a:t>
            </a:r>
          </a:p>
        </p:txBody>
      </p:sp>
      <p:sp>
        <p:nvSpPr>
          <p:cNvPr id="21" name="TextBox 32"/>
          <p:cNvSpPr txBox="1">
            <a:spLocks noChangeArrowheads="1"/>
          </p:cNvSpPr>
          <p:nvPr/>
        </p:nvSpPr>
        <p:spPr bwMode="auto">
          <a:xfrm>
            <a:off x="6286500" y="4949825"/>
            <a:ext cx="1357313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matematis</a:t>
            </a:r>
          </a:p>
        </p:txBody>
      </p:sp>
      <p:sp>
        <p:nvSpPr>
          <p:cNvPr id="22" name="TextBox 33"/>
          <p:cNvSpPr txBox="1">
            <a:spLocks noChangeArrowheads="1"/>
          </p:cNvSpPr>
          <p:nvPr/>
        </p:nvSpPr>
        <p:spPr bwMode="auto">
          <a:xfrm>
            <a:off x="5429250" y="5807075"/>
            <a:ext cx="1000125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analisis</a:t>
            </a:r>
          </a:p>
        </p:txBody>
      </p:sp>
      <p:sp>
        <p:nvSpPr>
          <p:cNvPr id="23" name="TextBox 34"/>
          <p:cNvSpPr txBox="1">
            <a:spLocks noChangeArrowheads="1"/>
          </p:cNvSpPr>
          <p:nvPr/>
        </p:nvSpPr>
        <p:spPr bwMode="auto">
          <a:xfrm>
            <a:off x="7643813" y="5878512"/>
            <a:ext cx="114300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id-ID" dirty="0"/>
              <a:t>numerik</a:t>
            </a:r>
            <a:endParaRPr lang="en-US" dirty="0"/>
          </a:p>
        </p:txBody>
      </p:sp>
      <p:cxnSp>
        <p:nvCxnSpPr>
          <p:cNvPr id="24" name="Straight Connector 23"/>
          <p:cNvCxnSpPr>
            <a:stCxn id="19" idx="2"/>
          </p:cNvCxnSpPr>
          <p:nvPr/>
        </p:nvCxnSpPr>
        <p:spPr>
          <a:xfrm rot="5400000">
            <a:off x="5078413" y="4384674"/>
            <a:ext cx="273050" cy="100012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stCxn id="19" idx="2"/>
            <a:endCxn id="21" idx="0"/>
          </p:cNvCxnSpPr>
          <p:nvPr/>
        </p:nvCxnSpPr>
        <p:spPr>
          <a:xfrm rot="16200000" flipH="1">
            <a:off x="6239668" y="4223544"/>
            <a:ext cx="201613" cy="12509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21" idx="2"/>
            <a:endCxn id="22" idx="0"/>
          </p:cNvCxnSpPr>
          <p:nvPr/>
        </p:nvCxnSpPr>
        <p:spPr>
          <a:xfrm rot="5400000">
            <a:off x="6203950" y="5045075"/>
            <a:ext cx="487363" cy="10366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000875" y="5307012"/>
            <a:ext cx="1214438" cy="50006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wheel spokes="8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63000" cy="792163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b="1" dirty="0" err="1">
                <a:solidFill>
                  <a:schemeClr val="tx1"/>
                </a:solidFill>
              </a:rPr>
              <a:t>Apa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Itu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Komputasi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Numerik</a:t>
            </a:r>
            <a:r>
              <a:rPr lang="en-US" b="1" dirty="0">
                <a:solidFill>
                  <a:schemeClr val="tx1"/>
                </a:solidFill>
                <a:latin typeface="Albert" pitchFamily="2" charset="0"/>
              </a:rPr>
              <a:t>?</a:t>
            </a:r>
            <a:r>
              <a:rPr lang="en-US" sz="2000" b="1" dirty="0">
                <a:solidFill>
                  <a:schemeClr val="tx1"/>
                </a:solidFill>
                <a:latin typeface="Albert" pitchFamily="2" charset="0"/>
              </a:rPr>
              <a:t>  </a:t>
            </a:r>
            <a:r>
              <a:rPr lang="en-US" sz="2000" b="1" dirty="0">
                <a:solidFill>
                  <a:srgbClr val="969696"/>
                </a:solidFill>
                <a:latin typeface="Arial Unicode MS" pitchFamily="34" charset="-128"/>
              </a:rPr>
              <a:t>(</a:t>
            </a:r>
            <a:r>
              <a:rPr lang="id-ID" sz="2000" b="1" dirty="0">
                <a:solidFill>
                  <a:srgbClr val="969696"/>
                </a:solidFill>
                <a:latin typeface="Arial Unicode MS" pitchFamily="34" charset="-128"/>
              </a:rPr>
              <a:t>2)</a:t>
            </a:r>
            <a:endParaRPr lang="en-US" sz="2000" b="1" dirty="0">
              <a:solidFill>
                <a:srgbClr val="969696"/>
              </a:solidFill>
              <a:latin typeface="Arial Unicode MS" pitchFamily="34" charset="-128"/>
            </a:endParaRPr>
          </a:p>
        </p:txBody>
      </p:sp>
      <p:sp>
        <p:nvSpPr>
          <p:cNvPr id="28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244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sz="2400" dirty="0">
                <a:solidFill>
                  <a:srgbClr val="FFFF00"/>
                </a:solidFill>
              </a:rPr>
              <a:t>Model </a:t>
            </a:r>
            <a:r>
              <a:rPr lang="en-US" sz="2400" dirty="0" err="1">
                <a:solidFill>
                  <a:srgbClr val="FFFF00"/>
                </a:solidFill>
              </a:rPr>
              <a:t>untuk</a:t>
            </a:r>
            <a:r>
              <a:rPr lang="en-US" sz="2400" dirty="0">
                <a:solidFill>
                  <a:srgbClr val="FFFF00"/>
                </a:solidFill>
              </a:rPr>
              <a:t> :</a:t>
            </a:r>
          </a:p>
          <a:p>
            <a:pPr eaLnBrk="1" hangingPunct="1">
              <a:buFontTx/>
              <a:buChar char="-"/>
            </a:pPr>
            <a:r>
              <a:rPr lang="en-US" sz="2400" dirty="0" err="1">
                <a:solidFill>
                  <a:srgbClr val="FFFF00"/>
                </a:solidFill>
              </a:rPr>
              <a:t>Memudahkan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dalam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analisa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masalah</a:t>
            </a:r>
            <a:endParaRPr lang="en-US" sz="2400" dirty="0">
              <a:solidFill>
                <a:srgbClr val="FFFF00"/>
              </a:solidFill>
            </a:endParaRPr>
          </a:p>
          <a:p>
            <a:pPr eaLnBrk="1" hangingPunct="1">
              <a:buFontTx/>
              <a:buChar char="-"/>
            </a:pPr>
            <a:r>
              <a:rPr lang="en-US" sz="2400" dirty="0" err="1">
                <a:solidFill>
                  <a:srgbClr val="FFFF00"/>
                </a:solidFill>
              </a:rPr>
              <a:t>Menghemat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waktu</a:t>
            </a:r>
            <a:endParaRPr lang="en-US" sz="2400" dirty="0">
              <a:solidFill>
                <a:srgbClr val="FFFF00"/>
              </a:solidFill>
            </a:endParaRPr>
          </a:p>
          <a:p>
            <a:pPr eaLnBrk="1" hangingPunct="1">
              <a:buFontTx/>
              <a:buChar char="-"/>
            </a:pPr>
            <a:r>
              <a:rPr lang="en-US" sz="2400" dirty="0" err="1">
                <a:solidFill>
                  <a:srgbClr val="FFFF00"/>
                </a:solidFill>
              </a:rPr>
              <a:t>Mengurangi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resiko</a:t>
            </a:r>
            <a:endParaRPr lang="en-US" sz="2400" dirty="0">
              <a:solidFill>
                <a:srgbClr val="FFFF00"/>
              </a:solidFill>
            </a:endParaRPr>
          </a:p>
          <a:p>
            <a:pPr eaLnBrk="1" hangingPunct="1">
              <a:buFontTx/>
              <a:buChar char="-"/>
            </a:pPr>
            <a:r>
              <a:rPr lang="en-US" sz="2400" dirty="0" err="1">
                <a:solidFill>
                  <a:srgbClr val="FFFF00"/>
                </a:solidFill>
              </a:rPr>
              <a:t>Menirukan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hal-hal</a:t>
            </a:r>
            <a:r>
              <a:rPr lang="en-US" sz="2400" dirty="0">
                <a:solidFill>
                  <a:srgbClr val="FFFF00"/>
                </a:solidFill>
              </a:rPr>
              <a:t> yang </a:t>
            </a:r>
            <a:r>
              <a:rPr lang="en-US" sz="2400" dirty="0" err="1">
                <a:solidFill>
                  <a:srgbClr val="FFFF00"/>
                </a:solidFill>
              </a:rPr>
              <a:t>ada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di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dunia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nyata</a:t>
            </a:r>
            <a:endParaRPr lang="en-US" sz="2400" dirty="0">
              <a:solidFill>
                <a:srgbClr val="FFFF00"/>
              </a:solidFill>
            </a:endParaRPr>
          </a:p>
          <a:p>
            <a:pPr eaLnBrk="1" hangingPunct="1">
              <a:buFontTx/>
              <a:buChar char="-"/>
            </a:pPr>
            <a:r>
              <a:rPr lang="en-US" sz="2400" dirty="0" err="1">
                <a:solidFill>
                  <a:srgbClr val="FFFF00"/>
                </a:solidFill>
              </a:rPr>
              <a:t>Dapat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diulang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kapanpun</a:t>
            </a:r>
            <a:endParaRPr lang="en-US" sz="2400" dirty="0">
              <a:solidFill>
                <a:srgbClr val="FFFF00"/>
              </a:solidFill>
            </a:endParaRPr>
          </a:p>
          <a:p>
            <a:pPr eaLnBrk="1" hangingPunct="1">
              <a:buFontTx/>
              <a:buNone/>
            </a:pPr>
            <a:endParaRPr lang="en-US" sz="2400" dirty="0">
              <a:solidFill>
                <a:srgbClr val="FFFF00"/>
              </a:solidFill>
            </a:endParaRPr>
          </a:p>
          <a:p>
            <a:pPr eaLnBrk="1" hangingPunct="1">
              <a:buFontTx/>
              <a:buNone/>
            </a:pPr>
            <a:r>
              <a:rPr lang="en-US" sz="2400" dirty="0" err="1">
                <a:solidFill>
                  <a:srgbClr val="FFFF00"/>
                </a:solidFill>
              </a:rPr>
              <a:t>Contoh</a:t>
            </a:r>
            <a:r>
              <a:rPr lang="en-US" sz="2400" dirty="0">
                <a:solidFill>
                  <a:srgbClr val="FFFF00"/>
                </a:solidFill>
              </a:rPr>
              <a:t> :</a:t>
            </a:r>
          </a:p>
          <a:p>
            <a:pPr eaLnBrk="1" hangingPunct="1">
              <a:buFontTx/>
              <a:buChar char="-"/>
            </a:pPr>
            <a:r>
              <a:rPr lang="en-US" sz="2400" dirty="0" err="1">
                <a:solidFill>
                  <a:srgbClr val="FFFF00"/>
                </a:solidFill>
              </a:rPr>
              <a:t>Simulasi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pesawat</a:t>
            </a:r>
            <a:endParaRPr lang="en-US" sz="2400" dirty="0">
              <a:solidFill>
                <a:srgbClr val="FFFF00"/>
              </a:solidFill>
            </a:endParaRPr>
          </a:p>
          <a:p>
            <a:pPr eaLnBrk="1" hangingPunct="1">
              <a:buFontTx/>
              <a:buChar char="-"/>
            </a:pPr>
            <a:r>
              <a:rPr lang="en-US" sz="2400" dirty="0" err="1">
                <a:solidFill>
                  <a:srgbClr val="FFFF00"/>
                </a:solidFill>
              </a:rPr>
              <a:t>Simulasi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bom</a:t>
            </a:r>
            <a:r>
              <a:rPr lang="en-US" sz="2400" dirty="0">
                <a:solidFill>
                  <a:srgbClr val="FFFF00"/>
                </a:solidFill>
              </a:rPr>
              <a:t> atom</a:t>
            </a:r>
          </a:p>
          <a:p>
            <a:pPr eaLnBrk="1" hangingPunct="1">
              <a:buFontTx/>
              <a:buChar char="-"/>
            </a:pPr>
            <a:r>
              <a:rPr lang="en-US" sz="2400" dirty="0" err="1">
                <a:solidFill>
                  <a:srgbClr val="FFFF00"/>
                </a:solidFill>
              </a:rPr>
              <a:t>Perhitungan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simulasi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bisa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menggunakan</a:t>
            </a:r>
            <a:r>
              <a:rPr lang="en-US" sz="2400" dirty="0">
                <a:solidFill>
                  <a:srgbClr val="FFFF00"/>
                </a:solidFill>
              </a:rPr>
              <a:t> </a:t>
            </a:r>
            <a:r>
              <a:rPr lang="en-US" sz="2400" dirty="0" err="1">
                <a:solidFill>
                  <a:srgbClr val="FFFF00"/>
                </a:solidFill>
              </a:rPr>
              <a:t>Komnum</a:t>
            </a:r>
            <a:endParaRPr lang="en-US" sz="2400" dirty="0">
              <a:solidFill>
                <a:srgbClr val="FFFF00"/>
              </a:solidFill>
            </a:endParaRPr>
          </a:p>
          <a:p>
            <a:pPr eaLnBrk="1" hangingPunct="1">
              <a:buFontTx/>
              <a:buNone/>
            </a:pPr>
            <a:endParaRPr lang="en-US" sz="2400" dirty="0"/>
          </a:p>
        </p:txBody>
      </p:sp>
      <p:sp>
        <p:nvSpPr>
          <p:cNvPr id="11266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Inf</a:t>
            </a:r>
            <a:r>
              <a:rPr lang="en-US" dirty="0"/>
              <a:t> - ITS / 2009-2014</a:t>
            </a:r>
          </a:p>
        </p:txBody>
      </p:sp>
      <p:sp>
        <p:nvSpPr>
          <p:cNvPr id="1126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KomNum</a:t>
            </a: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FED879-F7BA-4C30-82B5-88B37F88BA90}" type="slidenum">
              <a:rPr lang="en-US"/>
              <a:pPr/>
              <a:t>4</a:t>
            </a:fld>
            <a:endParaRPr lang="en-US"/>
          </a:p>
        </p:txBody>
      </p:sp>
      <p:sp>
        <p:nvSpPr>
          <p:cNvPr id="11271" name="Line 4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</p:spTree>
  </p:cSld>
  <p:clrMapOvr>
    <a:masterClrMapping/>
  </p:clrMapOvr>
  <p:transition spd="slow">
    <p:wheel spokes="8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763000" cy="792163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b="1" dirty="0" err="1">
                <a:solidFill>
                  <a:schemeClr val="tx1"/>
                </a:solidFill>
              </a:rPr>
              <a:t>Apa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Itu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Komputasi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Numerik</a:t>
            </a:r>
            <a:r>
              <a:rPr lang="en-US" b="1" dirty="0">
                <a:solidFill>
                  <a:schemeClr val="tx1"/>
                </a:solidFill>
              </a:rPr>
              <a:t>?</a:t>
            </a:r>
            <a:r>
              <a:rPr lang="en-US" sz="2000" b="1" dirty="0">
                <a:solidFill>
                  <a:schemeClr val="tx1"/>
                </a:solidFill>
                <a:latin typeface="Albert" pitchFamily="2" charset="0"/>
              </a:rPr>
              <a:t>  </a:t>
            </a:r>
            <a:r>
              <a:rPr lang="en-US" sz="2000" b="1" dirty="0">
                <a:solidFill>
                  <a:srgbClr val="969696"/>
                </a:solidFill>
                <a:latin typeface="Arial Unicode MS" pitchFamily="34" charset="-128"/>
              </a:rPr>
              <a:t>(</a:t>
            </a:r>
            <a:r>
              <a:rPr lang="id-ID" sz="2000" b="1" dirty="0">
                <a:solidFill>
                  <a:srgbClr val="969696"/>
                </a:solidFill>
                <a:latin typeface="Arial Unicode MS" pitchFamily="34" charset="-128"/>
              </a:rPr>
              <a:t>3)</a:t>
            </a:r>
            <a:endParaRPr lang="en-US" sz="2000" b="1" dirty="0">
              <a:solidFill>
                <a:srgbClr val="969696"/>
              </a:solidFill>
              <a:latin typeface="Arial Unicode MS" pitchFamily="34" charset="-128"/>
            </a:endParaRPr>
          </a:p>
        </p:txBody>
      </p:sp>
      <p:sp>
        <p:nvSpPr>
          <p:cNvPr id="11266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r>
              <a:rPr lang="en-US" dirty="0"/>
              <a:t>T. </a:t>
            </a:r>
            <a:r>
              <a:rPr lang="en-US" dirty="0" err="1"/>
              <a:t>Inf</a:t>
            </a:r>
            <a:r>
              <a:rPr lang="en-US" dirty="0"/>
              <a:t> - ITS / 2009-2014</a:t>
            </a:r>
          </a:p>
        </p:txBody>
      </p:sp>
      <p:sp>
        <p:nvSpPr>
          <p:cNvPr id="1126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KomNum</a:t>
            </a: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6FED879-F7BA-4C30-82B5-88B37F88BA90}" type="slidenum">
              <a:rPr lang="en-US"/>
              <a:pPr/>
              <a:t>5</a:t>
            </a:fld>
            <a:endParaRPr lang="en-US"/>
          </a:p>
        </p:txBody>
      </p:sp>
      <p:sp>
        <p:nvSpPr>
          <p:cNvPr id="11271" name="Line 4"/>
          <p:cNvSpPr>
            <a:spLocks noChangeShapeType="1"/>
          </p:cNvSpPr>
          <p:nvPr/>
        </p:nvSpPr>
        <p:spPr bwMode="auto">
          <a:xfrm>
            <a:off x="304800" y="990600"/>
            <a:ext cx="8534400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304800" y="1371600"/>
            <a:ext cx="8229600" cy="51260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Menghitung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sesuatu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-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analisis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hasil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sebenarnya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-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numerik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hasil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mendekati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sebenarnya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-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aproximasi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	-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pendekatan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Contoh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: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V = km/jam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sebenarnya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kecepatan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juga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dipengaruhi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oleh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angin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Wingdings" pitchFamily="2" charset="2"/>
              </a:rPr>
              <a:t> 	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menggunakan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pendekatan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</a:t>
            </a:r>
            <a:r>
              <a: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karena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adanya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faktor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luar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</a:p>
        </p:txBody>
      </p:sp>
      <p:grpSp>
        <p:nvGrpSpPr>
          <p:cNvPr id="2" name="Group 16"/>
          <p:cNvGrpSpPr/>
          <p:nvPr/>
        </p:nvGrpSpPr>
        <p:grpSpPr>
          <a:xfrm>
            <a:off x="5441181" y="3071813"/>
            <a:ext cx="3286125" cy="2644775"/>
            <a:chOff x="5441181" y="3071813"/>
            <a:chExt cx="3286125" cy="2644775"/>
          </a:xfrm>
        </p:grpSpPr>
        <p:sp>
          <p:nvSpPr>
            <p:cNvPr id="18" name="Freeform 17"/>
            <p:cNvSpPr/>
            <p:nvPr/>
          </p:nvSpPr>
          <p:spPr>
            <a:xfrm>
              <a:off x="5508104" y="4076800"/>
              <a:ext cx="1592263" cy="1466850"/>
            </a:xfrm>
            <a:custGeom>
              <a:avLst/>
              <a:gdLst>
                <a:gd name="connsiteX0" fmla="*/ 0 w 1592317"/>
                <a:gd name="connsiteY0" fmla="*/ 1466193 h 1466193"/>
                <a:gd name="connsiteX1" fmla="*/ 756745 w 1592317"/>
                <a:gd name="connsiteY1" fmla="*/ 362607 h 1466193"/>
                <a:gd name="connsiteX2" fmla="*/ 1592317 w 1592317"/>
                <a:gd name="connsiteY2" fmla="*/ 0 h 1466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592317" h="1466193">
                  <a:moveTo>
                    <a:pt x="0" y="1466193"/>
                  </a:moveTo>
                  <a:cubicBezTo>
                    <a:pt x="245679" y="1036582"/>
                    <a:pt x="491359" y="606972"/>
                    <a:pt x="756745" y="362607"/>
                  </a:cubicBezTo>
                  <a:cubicBezTo>
                    <a:pt x="1022131" y="118242"/>
                    <a:pt x="1592317" y="0"/>
                    <a:pt x="1592317" y="0"/>
                  </a:cubicBezTo>
                </a:path>
              </a:pathLst>
            </a:custGeom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3" name="Group 16"/>
            <p:cNvGrpSpPr/>
            <p:nvPr/>
          </p:nvGrpSpPr>
          <p:grpSpPr>
            <a:xfrm>
              <a:off x="5441181" y="3071813"/>
              <a:ext cx="3286125" cy="2644775"/>
              <a:chOff x="5357813" y="3071813"/>
              <a:chExt cx="3286125" cy="2644775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 rot="16200000" flipH="1">
                <a:off x="4071938" y="4357688"/>
                <a:ext cx="2643187" cy="71437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/>
              <p:nvPr/>
            </p:nvCxnSpPr>
            <p:spPr>
              <a:xfrm>
                <a:off x="5429250" y="5715000"/>
                <a:ext cx="2714625" cy="158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2" name="Freeform 21"/>
              <p:cNvSpPr/>
              <p:nvPr/>
            </p:nvSpPr>
            <p:spPr>
              <a:xfrm>
                <a:off x="5438775" y="3541713"/>
                <a:ext cx="1484313" cy="2149475"/>
              </a:xfrm>
              <a:custGeom>
                <a:avLst/>
                <a:gdLst>
                  <a:gd name="connsiteX0" fmla="*/ 0 w 1484586"/>
                  <a:gd name="connsiteY0" fmla="*/ 2149366 h 2149366"/>
                  <a:gd name="connsiteX1" fmla="*/ 409904 w 1484586"/>
                  <a:gd name="connsiteY1" fmla="*/ 635876 h 2149366"/>
                  <a:gd name="connsiteX2" fmla="*/ 1308538 w 1484586"/>
                  <a:gd name="connsiteY2" fmla="*/ 99848 h 2149366"/>
                  <a:gd name="connsiteX3" fmla="*/ 1466194 w 1484586"/>
                  <a:gd name="connsiteY3" fmla="*/ 36786 h 2149366"/>
                  <a:gd name="connsiteX4" fmla="*/ 709449 w 1484586"/>
                  <a:gd name="connsiteY4" fmla="*/ 352097 h 2149366"/>
                  <a:gd name="connsiteX5" fmla="*/ 772511 w 1484586"/>
                  <a:gd name="connsiteY5" fmla="*/ 320566 h 21493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484586" h="2149366">
                    <a:moveTo>
                      <a:pt x="0" y="2149366"/>
                    </a:moveTo>
                    <a:cubicBezTo>
                      <a:pt x="95907" y="1563414"/>
                      <a:pt x="191814" y="977462"/>
                      <a:pt x="409904" y="635876"/>
                    </a:cubicBezTo>
                    <a:cubicBezTo>
                      <a:pt x="627994" y="294290"/>
                      <a:pt x="1132490" y="199696"/>
                      <a:pt x="1308538" y="99848"/>
                    </a:cubicBezTo>
                    <a:cubicBezTo>
                      <a:pt x="1484586" y="0"/>
                      <a:pt x="1466194" y="36786"/>
                      <a:pt x="1466194" y="36786"/>
                    </a:cubicBezTo>
                    <a:lnTo>
                      <a:pt x="709449" y="352097"/>
                    </a:lnTo>
                    <a:cubicBezTo>
                      <a:pt x="593835" y="399394"/>
                      <a:pt x="683173" y="359980"/>
                      <a:pt x="772511" y="320566"/>
                    </a:cubicBezTo>
                  </a:path>
                </a:pathLst>
              </a:custGeom>
            </p:spPr>
            <p:style>
              <a:lnRef idx="2">
                <a:schemeClr val="accent2"/>
              </a:lnRef>
              <a:fillRef idx="0">
                <a:schemeClr val="accent2"/>
              </a:fillRef>
              <a:effectRef idx="1">
                <a:schemeClr val="accent2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3" name="TextBox 21"/>
              <p:cNvSpPr txBox="1">
                <a:spLocks noChangeArrowheads="1"/>
              </p:cNvSpPr>
              <p:nvPr/>
            </p:nvSpPr>
            <p:spPr bwMode="auto">
              <a:xfrm>
                <a:off x="7215188" y="4000500"/>
                <a:ext cx="1428750" cy="3698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dirty="0" err="1">
                    <a:solidFill>
                      <a:srgbClr val="FFFF00"/>
                    </a:solidFill>
                  </a:rPr>
                  <a:t>pendekatan</a:t>
                </a:r>
                <a:endParaRPr lang="en-US" dirty="0">
                  <a:solidFill>
                    <a:srgbClr val="FFFF00"/>
                  </a:solidFill>
                </a:endParaRPr>
              </a:p>
            </p:txBody>
          </p:sp>
          <p:sp>
            <p:nvSpPr>
              <p:cNvPr id="24" name="TextBox 22"/>
              <p:cNvSpPr txBox="1">
                <a:spLocks noChangeArrowheads="1"/>
              </p:cNvSpPr>
              <p:nvPr/>
            </p:nvSpPr>
            <p:spPr bwMode="auto">
              <a:xfrm>
                <a:off x="7143750" y="3357563"/>
                <a:ext cx="1428750" cy="36988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US" dirty="0" err="1">
                    <a:solidFill>
                      <a:srgbClr val="FFFF00"/>
                    </a:solidFill>
                  </a:rPr>
                  <a:t>sebenarnya</a:t>
                </a:r>
                <a:endParaRPr lang="en-US" dirty="0">
                  <a:solidFill>
                    <a:srgbClr val="FFFF00"/>
                  </a:solidFill>
                </a:endParaRPr>
              </a:p>
            </p:txBody>
          </p:sp>
        </p:grpSp>
      </p:grpSp>
    </p:spTree>
  </p:cSld>
  <p:clrMapOvr>
    <a:masterClrMapping/>
  </p:clrMapOvr>
  <p:transition spd="slow">
    <p:wheel spokes="8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686800" cy="792163"/>
          </a:xfrm>
        </p:spPr>
        <p:txBody>
          <a:bodyPr>
            <a:normAutofit/>
          </a:bodyPr>
          <a:lstStyle/>
          <a:p>
            <a:pPr algn="l" eaLnBrk="1" hangingPunct="1"/>
            <a:r>
              <a:rPr lang="en-US" b="1" dirty="0" err="1">
                <a:solidFill>
                  <a:schemeClr val="tx1"/>
                </a:solidFill>
              </a:rPr>
              <a:t>Apa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Itu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Komputasi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Numerik</a:t>
            </a:r>
            <a:r>
              <a:rPr lang="en-US" b="1" dirty="0">
                <a:solidFill>
                  <a:schemeClr val="tx1"/>
                </a:solidFill>
                <a:latin typeface="Albert" pitchFamily="2" charset="0"/>
              </a:rPr>
              <a:t>?</a:t>
            </a:r>
            <a:r>
              <a:rPr lang="en-US" sz="2000" b="1" dirty="0">
                <a:solidFill>
                  <a:srgbClr val="000099"/>
                </a:solidFill>
                <a:latin typeface="Albert" pitchFamily="2" charset="0"/>
              </a:rPr>
              <a:t>  </a:t>
            </a:r>
            <a:r>
              <a:rPr lang="en-US" sz="2000" b="1" dirty="0">
                <a:solidFill>
                  <a:srgbClr val="969696"/>
                </a:solidFill>
                <a:latin typeface="Arial Unicode MS" pitchFamily="34" charset="-128"/>
              </a:rPr>
              <a:t>(</a:t>
            </a:r>
            <a:r>
              <a:rPr lang="id-ID" sz="2000" b="1" dirty="0">
                <a:solidFill>
                  <a:srgbClr val="969696"/>
                </a:solidFill>
                <a:latin typeface="Arial Unicode MS" pitchFamily="34" charset="-128"/>
              </a:rPr>
              <a:t>4</a:t>
            </a:r>
            <a:r>
              <a:rPr lang="en-US" sz="2000" b="1" dirty="0">
                <a:solidFill>
                  <a:srgbClr val="969696"/>
                </a:solidFill>
                <a:latin typeface="Arial Unicode MS" pitchFamily="34" charset="-128"/>
              </a:rPr>
              <a:t>)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3429000"/>
            <a:ext cx="8382000" cy="12954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Permasalahan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di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atas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adalah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contoh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sebuah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persoalan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yang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dapat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diselesaikan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melalui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2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pendekatan</a:t>
            </a: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:</a:t>
            </a:r>
          </a:p>
          <a:p>
            <a:pPr marL="0" indent="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Analitis</a:t>
            </a:r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  <a:latin typeface="Comic Sans MS" pitchFamily="66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AutoNum type="arabicPeriod"/>
            </a:pPr>
            <a:r>
              <a:rPr lang="en-US" sz="2000" b="1" dirty="0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  </a:t>
            </a:r>
            <a:r>
              <a:rPr lang="en-US" sz="2000" b="1" dirty="0" err="1">
                <a:solidFill>
                  <a:schemeClr val="accent4">
                    <a:lumMod val="40000"/>
                    <a:lumOff val="60000"/>
                  </a:schemeClr>
                </a:solidFill>
                <a:latin typeface="Comic Sans MS" pitchFamily="66" charset="0"/>
              </a:rPr>
              <a:t>Numeris</a:t>
            </a:r>
            <a:endParaRPr lang="en-US" sz="2000" b="1" dirty="0">
              <a:solidFill>
                <a:schemeClr val="accent4">
                  <a:lumMod val="40000"/>
                  <a:lumOff val="6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13314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r>
              <a:rPr lang="en-US"/>
              <a:t>T. Inf - ITS / 2009-2014</a:t>
            </a:r>
          </a:p>
        </p:txBody>
      </p:sp>
      <p:sp>
        <p:nvSpPr>
          <p:cNvPr id="13315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 err="1"/>
              <a:t>KomNum</a:t>
            </a:r>
            <a:endParaRPr lang="en-US" dirty="0"/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F89FCC6-06F0-476D-833F-D653EAA5DE26}" type="slidenum">
              <a:rPr lang="en-US"/>
              <a:pPr/>
              <a:t>6</a:t>
            </a:fld>
            <a:endParaRPr lang="en-US"/>
          </a:p>
        </p:txBody>
      </p:sp>
      <p:sp>
        <p:nvSpPr>
          <p:cNvPr id="13319" name="Line 4"/>
          <p:cNvSpPr>
            <a:spLocks noChangeShapeType="1"/>
          </p:cNvSpPr>
          <p:nvPr/>
        </p:nvSpPr>
        <p:spPr bwMode="auto">
          <a:xfrm>
            <a:off x="304800" y="838200"/>
            <a:ext cx="8534400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3320" name="Rectangle 5"/>
          <p:cNvSpPr>
            <a:spLocks noChangeArrowheads="1"/>
          </p:cNvSpPr>
          <p:nvPr/>
        </p:nvSpPr>
        <p:spPr bwMode="auto">
          <a:xfrm>
            <a:off x="228600" y="5257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ctr">
              <a:spcBef>
                <a:spcPct val="20000"/>
              </a:spcBef>
            </a:pPr>
            <a:r>
              <a:rPr lang="en-US" sz="2400" b="1" i="1" dirty="0">
                <a:solidFill>
                  <a:srgbClr val="800080"/>
                </a:solidFill>
                <a:latin typeface="Comic Sans MS" pitchFamily="66" charset="0"/>
              </a:rPr>
              <a:t>Now let’s see each approaches playing their roles!</a:t>
            </a:r>
            <a:endParaRPr lang="en-US" sz="2400" b="1" i="1" u="sng" dirty="0">
              <a:solidFill>
                <a:srgbClr val="800080"/>
              </a:solidFill>
              <a:latin typeface="Comic Sans MS" pitchFamily="66" charset="0"/>
            </a:endParaRPr>
          </a:p>
        </p:txBody>
      </p:sp>
      <p:sp>
        <p:nvSpPr>
          <p:cNvPr id="13321" name="Rectangle 6"/>
          <p:cNvSpPr>
            <a:spLocks noChangeArrowheads="1"/>
          </p:cNvSpPr>
          <p:nvPr/>
        </p:nvSpPr>
        <p:spPr bwMode="auto">
          <a:xfrm>
            <a:off x="304800" y="1371600"/>
            <a:ext cx="8610600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Seorang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penerjun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yang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memiliki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bobot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68.100 gr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meloncat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dari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sebuah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pesawat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terbang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.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Jika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diketahui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koefisien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tahanan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udara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c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adalah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12.500 gr/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dt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dan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konstanta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gravitasi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sebesar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980 cm/dt</a:t>
            </a:r>
            <a:r>
              <a:rPr lang="en-US" sz="2000" b="1" baseline="30000" dirty="0">
                <a:solidFill>
                  <a:srgbClr val="FFFF00"/>
                </a:solidFill>
                <a:latin typeface="Comic Sans MS" pitchFamily="66" charset="0"/>
              </a:rPr>
              <a:t>2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.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Hitung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kecepatan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penerjunan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tepat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sebelum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penerjun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membuka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payungnya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53242677"/>
      </p:ext>
    </p:extLst>
  </p:cSld>
  <p:clrMapOvr>
    <a:masterClrMapping/>
  </p:clrMapOvr>
  <p:transition spd="slow">
    <p:wheel spokes="8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76200"/>
            <a:ext cx="8229600" cy="4873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sz="4000" b="1" dirty="0" err="1">
                <a:solidFill>
                  <a:schemeClr val="tx1"/>
                </a:solidFill>
                <a:latin typeface="+mn-lt"/>
              </a:rPr>
              <a:t>Apa</a:t>
            </a:r>
            <a:r>
              <a:rPr lang="en-US" sz="40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+mn-lt"/>
              </a:rPr>
              <a:t>Itu</a:t>
            </a:r>
            <a:r>
              <a:rPr lang="en-US" sz="40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+mn-lt"/>
              </a:rPr>
              <a:t>Komputasi</a:t>
            </a:r>
            <a:r>
              <a:rPr lang="en-US" sz="4000" b="1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sz="4000" b="1" dirty="0" err="1">
                <a:solidFill>
                  <a:schemeClr val="tx1"/>
                </a:solidFill>
                <a:latin typeface="+mn-lt"/>
              </a:rPr>
              <a:t>Numerik</a:t>
            </a:r>
            <a:r>
              <a:rPr lang="en-US" sz="4000" b="1" dirty="0">
                <a:solidFill>
                  <a:schemeClr val="tx1"/>
                </a:solidFill>
                <a:latin typeface="Albert" pitchFamily="2" charset="0"/>
              </a:rPr>
              <a:t>?</a:t>
            </a:r>
            <a:r>
              <a:rPr lang="en-US" sz="1800" b="1" dirty="0">
                <a:solidFill>
                  <a:srgbClr val="000099"/>
                </a:solidFill>
                <a:latin typeface="Albert" pitchFamily="2" charset="0"/>
              </a:rPr>
              <a:t>  </a:t>
            </a:r>
            <a:r>
              <a:rPr lang="en-US" sz="1800" b="1" dirty="0">
                <a:solidFill>
                  <a:srgbClr val="969696"/>
                </a:solidFill>
                <a:latin typeface="Arial Unicode MS" pitchFamily="34" charset="-128"/>
              </a:rPr>
              <a:t>(</a:t>
            </a:r>
            <a:r>
              <a:rPr lang="id-ID" sz="1800" b="1" dirty="0">
                <a:solidFill>
                  <a:srgbClr val="969696"/>
                </a:solidFill>
                <a:latin typeface="Arial Unicode MS" pitchFamily="34" charset="-128"/>
              </a:rPr>
              <a:t>5</a:t>
            </a:r>
            <a:r>
              <a:rPr lang="en-US" sz="1800" b="1" dirty="0">
                <a:solidFill>
                  <a:srgbClr val="969696"/>
                </a:solidFill>
                <a:latin typeface="Arial Unicode MS" pitchFamily="34" charset="-128"/>
              </a:rPr>
              <a:t>)</a:t>
            </a:r>
          </a:p>
        </p:txBody>
      </p:sp>
      <p:sp>
        <p:nvSpPr>
          <p:cNvPr id="103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752600"/>
            <a:ext cx="2133600" cy="9144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1600" b="1">
                <a:solidFill>
                  <a:srgbClr val="000099"/>
                </a:solidFill>
                <a:latin typeface="Comic Sans MS" pitchFamily="66" charset="0"/>
              </a:rPr>
              <a:t>Jika   F = m.a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1600" b="1">
                <a:solidFill>
                  <a:srgbClr val="000099"/>
                </a:solidFill>
                <a:latin typeface="Comic Sans MS" pitchFamily="66" charset="0"/>
              </a:rPr>
              <a:t>Dan   a  = dv/dt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1600" b="1">
                <a:solidFill>
                  <a:srgbClr val="000099"/>
                </a:solidFill>
                <a:latin typeface="Comic Sans MS" pitchFamily="66" charset="0"/>
              </a:rPr>
              <a:t>Maka  F = m dv/dt</a:t>
            </a:r>
          </a:p>
        </p:txBody>
      </p:sp>
      <p:graphicFrame>
        <p:nvGraphicFramePr>
          <p:cNvPr id="18501" name="Group 69"/>
          <p:cNvGraphicFramePr>
            <a:graphicFrameLocks noGrp="1"/>
          </p:cNvGraphicFramePr>
          <p:nvPr>
            <p:ph sz="quarter" idx="2"/>
          </p:nvPr>
        </p:nvGraphicFramePr>
        <p:xfrm>
          <a:off x="6400800" y="2624138"/>
          <a:ext cx="1905000" cy="301752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t, det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v, cm/det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1.640,5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2.776,9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3.564,2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4.109,5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4.487,3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4.749,0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∞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5.339,0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026" name="Object 63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955675" y="3063875"/>
          <a:ext cx="4564063" cy="297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2" imgW="3638550" imgH="2371725" progId="Excel.Sheet.8">
                  <p:embed/>
                </p:oleObj>
              </mc:Choice>
              <mc:Fallback>
                <p:oleObj name="Chart" r:id="rId2" imgW="3638550" imgH="2371725" progId="Excel.Sheet.8">
                  <p:embed/>
                  <p:pic>
                    <p:nvPicPr>
                      <p:cNvPr id="0" name="Picture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5675" y="3063875"/>
                        <a:ext cx="4564063" cy="297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7" name="Date Placeholder 5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r>
              <a:rPr lang="en-US"/>
              <a:t>T. Inf - ITS / 2009-2014</a:t>
            </a:r>
          </a:p>
        </p:txBody>
      </p:sp>
      <p:sp>
        <p:nvSpPr>
          <p:cNvPr id="1028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KomNum</a:t>
            </a:r>
          </a:p>
        </p:txBody>
      </p:sp>
      <p:sp>
        <p:nvSpPr>
          <p:cNvPr id="1029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845D36F-04B9-4DEA-90A1-9C3C86FE701F}" type="slidenum">
              <a:rPr lang="en-US"/>
              <a:pPr/>
              <a:t>7</a:t>
            </a:fld>
            <a:endParaRPr lang="en-US"/>
          </a:p>
        </p:txBody>
      </p:sp>
      <p:sp>
        <p:nvSpPr>
          <p:cNvPr id="1064" name="Line 4"/>
          <p:cNvSpPr>
            <a:spLocks noChangeShapeType="1"/>
          </p:cNvSpPr>
          <p:nvPr/>
        </p:nvSpPr>
        <p:spPr bwMode="auto">
          <a:xfrm>
            <a:off x="304800" y="762000"/>
            <a:ext cx="8534400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065" name="Rectangle 5"/>
          <p:cNvSpPr>
            <a:spLocks noChangeArrowheads="1"/>
          </p:cNvSpPr>
          <p:nvPr/>
        </p:nvSpPr>
        <p:spPr bwMode="auto">
          <a:xfrm>
            <a:off x="381000" y="1066800"/>
            <a:ext cx="31242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>
                <a:solidFill>
                  <a:srgbClr val="FF0000"/>
                </a:solidFill>
                <a:latin typeface="Comic Sans MS" pitchFamily="66" charset="0"/>
              </a:rPr>
              <a:t>Pendekatan Analitis</a:t>
            </a:r>
          </a:p>
        </p:txBody>
      </p:sp>
      <p:sp>
        <p:nvSpPr>
          <p:cNvPr id="1066" name="Rectangle 7"/>
          <p:cNvSpPr>
            <a:spLocks noChangeArrowheads="1"/>
          </p:cNvSpPr>
          <p:nvPr/>
        </p:nvSpPr>
        <p:spPr bwMode="auto">
          <a:xfrm>
            <a:off x="2819400" y="1676400"/>
            <a:ext cx="28956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b="1">
                <a:solidFill>
                  <a:srgbClr val="006600"/>
                </a:solidFill>
                <a:latin typeface="Comic Sans MS" pitchFamily="66" charset="0"/>
              </a:rPr>
              <a:t>Jika   F  = F</a:t>
            </a:r>
            <a:r>
              <a:rPr lang="en-US" sz="1600" b="1" baseline="-25000">
                <a:solidFill>
                  <a:srgbClr val="006600"/>
                </a:solidFill>
                <a:latin typeface="Comic Sans MS" pitchFamily="66" charset="0"/>
              </a:rPr>
              <a:t>D</a:t>
            </a:r>
            <a:r>
              <a:rPr lang="en-US" sz="1600" b="1">
                <a:solidFill>
                  <a:srgbClr val="006600"/>
                </a:solidFill>
                <a:latin typeface="Comic Sans MS" pitchFamily="66" charset="0"/>
              </a:rPr>
              <a:t> + F</a:t>
            </a:r>
            <a:r>
              <a:rPr lang="en-US" sz="1600" b="1" baseline="-25000">
                <a:solidFill>
                  <a:srgbClr val="006600"/>
                </a:solidFill>
                <a:latin typeface="Comic Sans MS" pitchFamily="66" charset="0"/>
              </a:rPr>
              <a:t>U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b="1">
                <a:solidFill>
                  <a:srgbClr val="006600"/>
                </a:solidFill>
                <a:latin typeface="Comic Sans MS" pitchFamily="66" charset="0"/>
              </a:rPr>
              <a:t>Dan    F</a:t>
            </a:r>
            <a:r>
              <a:rPr lang="en-US" sz="1600" b="1" baseline="-25000">
                <a:solidFill>
                  <a:srgbClr val="006600"/>
                </a:solidFill>
                <a:latin typeface="Comic Sans MS" pitchFamily="66" charset="0"/>
              </a:rPr>
              <a:t>D</a:t>
            </a:r>
            <a:r>
              <a:rPr lang="en-US" sz="1600" b="1">
                <a:solidFill>
                  <a:srgbClr val="006600"/>
                </a:solidFill>
                <a:latin typeface="Comic Sans MS" pitchFamily="66" charset="0"/>
              </a:rPr>
              <a:t> = m.g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b="1">
                <a:solidFill>
                  <a:srgbClr val="006600"/>
                </a:solidFill>
                <a:latin typeface="Comic Sans MS" pitchFamily="66" charset="0"/>
              </a:rPr>
              <a:t>Dan    F</a:t>
            </a:r>
            <a:r>
              <a:rPr lang="en-US" sz="1600" b="1" baseline="-25000">
                <a:solidFill>
                  <a:srgbClr val="006600"/>
                </a:solidFill>
                <a:latin typeface="Comic Sans MS" pitchFamily="66" charset="0"/>
              </a:rPr>
              <a:t>U</a:t>
            </a:r>
            <a:r>
              <a:rPr lang="en-US" sz="1600" b="1">
                <a:solidFill>
                  <a:srgbClr val="006600"/>
                </a:solidFill>
                <a:latin typeface="Comic Sans MS" pitchFamily="66" charset="0"/>
              </a:rPr>
              <a:t> = -c.v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b="1">
                <a:solidFill>
                  <a:srgbClr val="006600"/>
                </a:solidFill>
                <a:latin typeface="Comic Sans MS" pitchFamily="66" charset="0"/>
              </a:rPr>
              <a:t>Maka  m dv/dt = mg – cv</a:t>
            </a: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sz="1600" b="1">
                <a:solidFill>
                  <a:srgbClr val="006600"/>
                </a:solidFill>
                <a:latin typeface="Comic Sans MS" pitchFamily="66" charset="0"/>
              </a:rPr>
              <a:t>Atau   dv/dt = g – (c/m).v</a:t>
            </a:r>
          </a:p>
        </p:txBody>
      </p:sp>
      <p:sp>
        <p:nvSpPr>
          <p:cNvPr id="1067" name="Rectangle 10"/>
          <p:cNvSpPr>
            <a:spLocks noChangeArrowheads="1"/>
          </p:cNvSpPr>
          <p:nvPr/>
        </p:nvSpPr>
        <p:spPr bwMode="auto">
          <a:xfrm>
            <a:off x="5867400" y="1371600"/>
            <a:ext cx="31242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endParaRPr lang="en-US" b="1">
              <a:solidFill>
                <a:srgbClr val="800080"/>
              </a:solidFill>
              <a:latin typeface="Comic Sans MS" pitchFamily="66" charset="0"/>
            </a:endParaRPr>
          </a:p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en-US" b="1">
                <a:solidFill>
                  <a:srgbClr val="800080"/>
                </a:solidFill>
                <a:latin typeface="Comic Sans MS" pitchFamily="66" charset="0"/>
              </a:rPr>
              <a:t>V(t) = gm/c . [1 – e</a:t>
            </a:r>
            <a:r>
              <a:rPr lang="en-US" b="1" baseline="30000">
                <a:solidFill>
                  <a:srgbClr val="800080"/>
                </a:solidFill>
                <a:latin typeface="Comic Sans MS" pitchFamily="66" charset="0"/>
              </a:rPr>
              <a:t>-(c/m)t</a:t>
            </a:r>
            <a:r>
              <a:rPr lang="en-US" b="1">
                <a:solidFill>
                  <a:srgbClr val="800080"/>
                </a:solidFill>
                <a:latin typeface="Comic Sans MS" pitchFamily="66" charset="0"/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0064449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0"/>
            <a:ext cx="8229600" cy="609600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sz="4000" b="1" dirty="0" err="1">
                <a:solidFill>
                  <a:schemeClr val="tx1"/>
                </a:solidFill>
              </a:rPr>
              <a:t>Apa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Itu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Komputasi</a:t>
            </a:r>
            <a:r>
              <a:rPr lang="en-US" sz="4000" b="1" dirty="0">
                <a:solidFill>
                  <a:schemeClr val="tx1"/>
                </a:solidFill>
              </a:rPr>
              <a:t> </a:t>
            </a:r>
            <a:r>
              <a:rPr lang="en-US" sz="4000" b="1" dirty="0" err="1">
                <a:solidFill>
                  <a:schemeClr val="tx1"/>
                </a:solidFill>
              </a:rPr>
              <a:t>Numerik</a:t>
            </a:r>
            <a:r>
              <a:rPr lang="en-US" sz="4000" b="1" dirty="0">
                <a:solidFill>
                  <a:schemeClr val="tx1"/>
                </a:solidFill>
                <a:latin typeface="Albert" pitchFamily="2" charset="0"/>
              </a:rPr>
              <a:t>?</a:t>
            </a:r>
            <a:r>
              <a:rPr lang="en-US" sz="1800" b="1" dirty="0">
                <a:solidFill>
                  <a:srgbClr val="000099"/>
                </a:solidFill>
                <a:latin typeface="Albert" pitchFamily="2" charset="0"/>
              </a:rPr>
              <a:t>  </a:t>
            </a:r>
            <a:r>
              <a:rPr lang="en-US" sz="1800" b="1" dirty="0">
                <a:solidFill>
                  <a:srgbClr val="969696"/>
                </a:solidFill>
                <a:latin typeface="Arial Unicode MS" pitchFamily="34" charset="-128"/>
              </a:rPr>
              <a:t>(</a:t>
            </a:r>
            <a:r>
              <a:rPr lang="id-ID" sz="1800" b="1" dirty="0">
                <a:solidFill>
                  <a:srgbClr val="969696"/>
                </a:solidFill>
                <a:latin typeface="Arial Unicode MS" pitchFamily="34" charset="-128"/>
              </a:rPr>
              <a:t>6</a:t>
            </a:r>
            <a:r>
              <a:rPr lang="en-US" sz="1800" b="1" dirty="0">
                <a:solidFill>
                  <a:srgbClr val="969696"/>
                </a:solidFill>
                <a:latin typeface="Arial Unicode MS" pitchFamily="34" charset="-128"/>
              </a:rPr>
              <a:t>)</a:t>
            </a:r>
          </a:p>
        </p:txBody>
      </p:sp>
      <p:sp>
        <p:nvSpPr>
          <p:cNvPr id="30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819400" y="990600"/>
            <a:ext cx="5715000" cy="16002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1600" b="1">
                <a:solidFill>
                  <a:srgbClr val="FF0000"/>
                </a:solidFill>
                <a:latin typeface="Comic Sans MS" pitchFamily="66" charset="0"/>
              </a:rPr>
              <a:t>Jika</a:t>
            </a:r>
            <a:r>
              <a:rPr lang="en-US" sz="1600" b="1">
                <a:solidFill>
                  <a:srgbClr val="00CC00"/>
                </a:solidFill>
                <a:latin typeface="Comic Sans MS" pitchFamily="66" charset="0"/>
              </a:rPr>
              <a:t>    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dv/dt  =  [ v(t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i+1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) – v(t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) ] / (t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i+1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 – 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1600" b="1">
              <a:solidFill>
                <a:srgbClr val="800080"/>
              </a:solidFill>
              <a:latin typeface="Comic Sans MS" pitchFamily="66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1600" b="1">
                <a:solidFill>
                  <a:srgbClr val="FF0000"/>
                </a:solidFill>
                <a:latin typeface="Comic Sans MS" pitchFamily="66" charset="0"/>
              </a:rPr>
              <a:t>Maka </a:t>
            </a:r>
            <a:r>
              <a:rPr lang="en-US" sz="1600" b="1">
                <a:solidFill>
                  <a:srgbClr val="00CC00"/>
                </a:solidFill>
                <a:latin typeface="Comic Sans MS" pitchFamily="66" charset="0"/>
              </a:rPr>
              <a:t>  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[ v(t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i+1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) – v(t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) ] / (t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i+1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 – 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)  = g – (c/m).v(t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)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sz="1600" b="1">
              <a:solidFill>
                <a:srgbClr val="800080"/>
              </a:solidFill>
              <a:latin typeface="Comic Sans MS" pitchFamily="66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sz="1600" b="1">
                <a:solidFill>
                  <a:srgbClr val="FF0000"/>
                </a:solidFill>
                <a:latin typeface="Comic Sans MS" pitchFamily="66" charset="0"/>
              </a:rPr>
              <a:t>atau</a:t>
            </a:r>
            <a:r>
              <a:rPr lang="en-US" sz="1600" b="1">
                <a:solidFill>
                  <a:srgbClr val="00CC00"/>
                </a:solidFill>
                <a:latin typeface="Comic Sans MS" pitchFamily="66" charset="0"/>
              </a:rPr>
              <a:t>    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v(t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i+1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)  =  V(t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) + [ g – (c/m).v(t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) ] . (t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i+1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 – t</a:t>
            </a:r>
            <a:r>
              <a:rPr lang="en-US" sz="1600" b="1" baseline="-25000">
                <a:solidFill>
                  <a:srgbClr val="800080"/>
                </a:solidFill>
                <a:latin typeface="Comic Sans MS" pitchFamily="66" charset="0"/>
              </a:rPr>
              <a:t>i</a:t>
            </a:r>
            <a:r>
              <a:rPr lang="en-US" sz="1600" b="1">
                <a:solidFill>
                  <a:srgbClr val="800080"/>
                </a:solidFill>
                <a:latin typeface="Comic Sans MS" pitchFamily="66" charset="0"/>
              </a:rPr>
              <a:t>)</a:t>
            </a:r>
            <a:endParaRPr lang="en-US" sz="800" b="1">
              <a:solidFill>
                <a:srgbClr val="800080"/>
              </a:solidFill>
              <a:latin typeface="Comic Sans MS" pitchFamily="66" charset="0"/>
            </a:endParaRPr>
          </a:p>
        </p:txBody>
      </p:sp>
      <p:graphicFrame>
        <p:nvGraphicFramePr>
          <p:cNvPr id="23595" name="Group 43"/>
          <p:cNvGraphicFramePr>
            <a:graphicFrameLocks noGrp="1"/>
          </p:cNvGraphicFramePr>
          <p:nvPr>
            <p:ph sz="quarter" idx="2"/>
          </p:nvPr>
        </p:nvGraphicFramePr>
        <p:xfrm>
          <a:off x="533400" y="2700338"/>
          <a:ext cx="1905000" cy="301752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49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t, det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v, cm/det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1.960,0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3.200,5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3.985,6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4.482,5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4.796,9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4.995,9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∞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5.339,0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3074" name="Object 75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051175" y="2438400"/>
          <a:ext cx="5554663" cy="362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3638550" imgH="2371725" progId="Excel.Sheet.8">
                  <p:embed/>
                </p:oleObj>
              </mc:Choice>
              <mc:Fallback>
                <p:oleObj name="Chart" r:id="rId3" imgW="3638550" imgH="2371725" progId="Excel.Sheet.8">
                  <p:embed/>
                  <p:pic>
                    <p:nvPicPr>
                      <p:cNvPr id="0" name="Picture 10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1175" y="2438400"/>
                        <a:ext cx="5554663" cy="362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5" name="Date Placeholder 5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r>
              <a:rPr lang="en-US"/>
              <a:t>T. Inf - ITS / 2009-2014</a:t>
            </a:r>
          </a:p>
        </p:txBody>
      </p:sp>
      <p:sp>
        <p:nvSpPr>
          <p:cNvPr id="3076" name="Footer Placeholder 6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KomNum</a:t>
            </a:r>
          </a:p>
        </p:txBody>
      </p:sp>
      <p:sp>
        <p:nvSpPr>
          <p:cNvPr id="307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45B9E9B-F31B-4031-8EAE-BF69584ED01E}" type="slidenum">
              <a:rPr lang="en-US"/>
              <a:pPr/>
              <a:t>8</a:t>
            </a:fld>
            <a:endParaRPr lang="en-US"/>
          </a:p>
        </p:txBody>
      </p:sp>
      <p:sp>
        <p:nvSpPr>
          <p:cNvPr id="3112" name="Line 36"/>
          <p:cNvSpPr>
            <a:spLocks noChangeShapeType="1"/>
          </p:cNvSpPr>
          <p:nvPr/>
        </p:nvSpPr>
        <p:spPr bwMode="auto">
          <a:xfrm>
            <a:off x="304800" y="685800"/>
            <a:ext cx="8534400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3113" name="Rectangle 37"/>
          <p:cNvSpPr>
            <a:spLocks noChangeArrowheads="1"/>
          </p:cNvSpPr>
          <p:nvPr/>
        </p:nvSpPr>
        <p:spPr bwMode="auto">
          <a:xfrm>
            <a:off x="228600" y="990600"/>
            <a:ext cx="1905000" cy="91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sz="2400" b="1">
                <a:solidFill>
                  <a:srgbClr val="FF0000"/>
                </a:solidFill>
                <a:latin typeface="Comic Sans MS" pitchFamily="66" charset="0"/>
              </a:rPr>
              <a:t>Pendekatan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400" b="1">
                <a:solidFill>
                  <a:srgbClr val="FF0000"/>
                </a:solidFill>
                <a:latin typeface="Comic Sans MS" pitchFamily="66" charset="0"/>
              </a:rPr>
              <a:t>Numeris</a:t>
            </a:r>
          </a:p>
        </p:txBody>
      </p:sp>
      <p:sp>
        <p:nvSpPr>
          <p:cNvPr id="3114" name="AutoShape 77"/>
          <p:cNvSpPr>
            <a:spLocks noChangeArrowheads="1"/>
          </p:cNvSpPr>
          <p:nvPr/>
        </p:nvSpPr>
        <p:spPr bwMode="auto">
          <a:xfrm>
            <a:off x="3810000" y="2971800"/>
            <a:ext cx="1905000" cy="685800"/>
          </a:xfrm>
          <a:prstGeom prst="wedgeRoundRectCallout">
            <a:avLst>
              <a:gd name="adj1" fmla="val 41917"/>
              <a:gd name="adj2" fmla="val 89352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600" b="1" dirty="0" err="1">
                <a:solidFill>
                  <a:srgbClr val="00B050"/>
                </a:solidFill>
              </a:rPr>
              <a:t>taksiran</a:t>
            </a:r>
            <a:endParaRPr lang="en-US" sz="1600" b="1" dirty="0">
              <a:solidFill>
                <a:srgbClr val="00B050"/>
              </a:solidFill>
            </a:endParaRPr>
          </a:p>
          <a:p>
            <a:pPr algn="ctr"/>
            <a:r>
              <a:rPr lang="en-US" sz="1600" b="1" dirty="0">
                <a:solidFill>
                  <a:srgbClr val="00B050"/>
                </a:solidFill>
              </a:rPr>
              <a:t>(</a:t>
            </a:r>
            <a:r>
              <a:rPr lang="en-US" sz="1600" b="1" dirty="0" err="1">
                <a:solidFill>
                  <a:srgbClr val="00B050"/>
                </a:solidFill>
              </a:rPr>
              <a:t>solusi</a:t>
            </a:r>
            <a:r>
              <a:rPr lang="en-US" sz="1600" b="1" dirty="0">
                <a:solidFill>
                  <a:srgbClr val="00B050"/>
                </a:solidFill>
              </a:rPr>
              <a:t> </a:t>
            </a:r>
            <a:r>
              <a:rPr lang="en-US" sz="1600" b="1" dirty="0" err="1">
                <a:solidFill>
                  <a:srgbClr val="00B050"/>
                </a:solidFill>
              </a:rPr>
              <a:t>numerik</a:t>
            </a:r>
            <a:r>
              <a:rPr lang="en-US" sz="1600" b="1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3115" name="AutoShape 78"/>
          <p:cNvSpPr>
            <a:spLocks noChangeArrowheads="1"/>
          </p:cNvSpPr>
          <p:nvPr/>
        </p:nvSpPr>
        <p:spPr bwMode="auto">
          <a:xfrm>
            <a:off x="6324600" y="4267200"/>
            <a:ext cx="1905000" cy="685800"/>
          </a:xfrm>
          <a:prstGeom prst="wedgeRoundRectCallout">
            <a:avLst>
              <a:gd name="adj1" fmla="val -82083"/>
              <a:gd name="adj2" fmla="val -77315"/>
              <a:gd name="adj3" fmla="val 16667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algn="ctr"/>
            <a:r>
              <a:rPr lang="en-US" sz="1600" b="1" dirty="0" err="1">
                <a:solidFill>
                  <a:srgbClr val="00B050"/>
                </a:solidFill>
              </a:rPr>
              <a:t>pasti</a:t>
            </a:r>
            <a:endParaRPr lang="en-US" sz="1600" b="1" dirty="0">
              <a:solidFill>
                <a:srgbClr val="00B050"/>
              </a:solidFill>
            </a:endParaRPr>
          </a:p>
          <a:p>
            <a:pPr algn="ctr"/>
            <a:r>
              <a:rPr lang="en-US" sz="1600" b="1" dirty="0">
                <a:solidFill>
                  <a:srgbClr val="00B050"/>
                </a:solidFill>
              </a:rPr>
              <a:t>(</a:t>
            </a:r>
            <a:r>
              <a:rPr lang="en-US" sz="1600" b="1" dirty="0" err="1">
                <a:solidFill>
                  <a:srgbClr val="00B050"/>
                </a:solidFill>
              </a:rPr>
              <a:t>solusi</a:t>
            </a:r>
            <a:r>
              <a:rPr lang="en-US" sz="1600" b="1" dirty="0">
                <a:solidFill>
                  <a:srgbClr val="00B050"/>
                </a:solidFill>
              </a:rPr>
              <a:t> </a:t>
            </a:r>
            <a:r>
              <a:rPr lang="en-US" sz="1600" b="1" dirty="0" err="1">
                <a:solidFill>
                  <a:srgbClr val="00B050"/>
                </a:solidFill>
              </a:rPr>
              <a:t>analitis</a:t>
            </a:r>
            <a:r>
              <a:rPr lang="en-US" sz="1600" b="1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3116" name="AutoShape 80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458200" y="228600"/>
            <a:ext cx="381000" cy="304800"/>
          </a:xfrm>
          <a:prstGeom prst="actionButtonBackPrevious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00928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" y="0"/>
            <a:ext cx="8229600" cy="7159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sz="4800" b="1" dirty="0"/>
              <a:t>2. </a:t>
            </a:r>
            <a:r>
              <a:rPr lang="en-US" sz="4800" b="1" dirty="0" err="1"/>
              <a:t>Bilangan</a:t>
            </a:r>
            <a:r>
              <a:rPr lang="en-US" sz="4800" b="1" dirty="0"/>
              <a:t> </a:t>
            </a:r>
            <a:r>
              <a:rPr lang="en-US" sz="4800" b="1" dirty="0" err="1"/>
              <a:t>Berarti</a:t>
            </a:r>
            <a:r>
              <a:rPr lang="en-US" sz="4800" b="1" dirty="0"/>
              <a:t> </a:t>
            </a:r>
            <a:endParaRPr lang="en-US" sz="2000" b="1" dirty="0">
              <a:solidFill>
                <a:srgbClr val="969696"/>
              </a:solidFill>
            </a:endParaRPr>
          </a:p>
        </p:txBody>
      </p:sp>
      <p:sp>
        <p:nvSpPr>
          <p:cNvPr id="19463" name="Rectangle 7"/>
          <p:cNvSpPr>
            <a:spLocks noGrp="1" noChangeArrowheads="1"/>
          </p:cNvSpPr>
          <p:nvPr>
            <p:ph idx="1"/>
          </p:nvPr>
        </p:nvSpPr>
        <p:spPr>
          <a:xfrm>
            <a:off x="381000" y="1066800"/>
            <a:ext cx="7239000" cy="1066800"/>
          </a:xfrm>
        </p:spPr>
        <p:txBody>
          <a:bodyPr>
            <a:normAutofit/>
          </a:bodyPr>
          <a:lstStyle/>
          <a:p>
            <a:pPr marL="609600" indent="-609600" eaLnBrk="1" hangingPunct="1">
              <a:buFontTx/>
              <a:buNone/>
            </a:pPr>
            <a:r>
              <a:rPr lang="en-US" sz="1800">
                <a:latin typeface="Comic Sans MS" pitchFamily="66" charset="0"/>
              </a:rPr>
              <a:t>Secara umum, sebuah bilangan dapat dibedakan menjadi 2 :</a:t>
            </a:r>
          </a:p>
          <a:p>
            <a:pPr marL="609600" indent="-609600" eaLnBrk="1" hangingPunct="1">
              <a:buFontTx/>
              <a:buAutoNum type="alphaLcPeriod"/>
            </a:pPr>
            <a:r>
              <a:rPr lang="en-US" sz="1800">
                <a:latin typeface="Comic Sans MS" pitchFamily="66" charset="0"/>
              </a:rPr>
              <a:t>Bilangan Eksak	       (</a:t>
            </a:r>
            <a:r>
              <a:rPr lang="en-US" sz="1800"/>
              <a:t>π, √2, e, … )</a:t>
            </a:r>
            <a:endParaRPr lang="en-US" sz="1800">
              <a:latin typeface="Comic Sans MS" pitchFamily="66" charset="0"/>
            </a:endParaRPr>
          </a:p>
          <a:p>
            <a:pPr marL="609600" indent="-609600" eaLnBrk="1" hangingPunct="1">
              <a:buFontTx/>
              <a:buAutoNum type="alphaLcPeriod"/>
            </a:pPr>
            <a:r>
              <a:rPr lang="en-US" sz="1800">
                <a:latin typeface="Comic Sans MS" pitchFamily="66" charset="0"/>
              </a:rPr>
              <a:t>Bilangan Pendekatan    (3,1416 , 1,4142 , 2.7183 , …)</a:t>
            </a:r>
          </a:p>
        </p:txBody>
      </p:sp>
      <p:sp>
        <p:nvSpPr>
          <p:cNvPr id="19458" name="Date Placeholder 3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r>
              <a:rPr lang="en-US"/>
              <a:t>T. Inf - ITS / 2009-2014</a:t>
            </a:r>
          </a:p>
        </p:txBody>
      </p:sp>
      <p:sp>
        <p:nvSpPr>
          <p:cNvPr id="19459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 dirty="0" err="1"/>
              <a:t>KomNum</a:t>
            </a:r>
            <a:endParaRPr lang="en-US" dirty="0"/>
          </a:p>
        </p:txBody>
      </p:sp>
      <p:sp>
        <p:nvSpPr>
          <p:cNvPr id="1946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C7E70BB-77F8-4111-8284-F31993E03A04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19462" name="Line 4"/>
          <p:cNvSpPr>
            <a:spLocks noChangeShapeType="1"/>
          </p:cNvSpPr>
          <p:nvPr/>
        </p:nvSpPr>
        <p:spPr bwMode="auto">
          <a:xfrm>
            <a:off x="228600" y="762000"/>
            <a:ext cx="8686800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381000" y="2514600"/>
            <a:ext cx="85344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</a:pPr>
            <a:r>
              <a:rPr lang="en-US" dirty="0" err="1">
                <a:latin typeface="Comic Sans MS" pitchFamily="66" charset="0"/>
              </a:rPr>
              <a:t>Sementara</a:t>
            </a:r>
            <a:r>
              <a:rPr lang="en-US" dirty="0">
                <a:latin typeface="Comic Sans MS" pitchFamily="66" charset="0"/>
              </a:rPr>
              <a:t>, </a:t>
            </a:r>
            <a:r>
              <a:rPr lang="en-US" dirty="0" err="1">
                <a:latin typeface="Comic Sans MS" pitchFamily="66" charset="0"/>
              </a:rPr>
              <a:t>bilangan</a:t>
            </a:r>
            <a:r>
              <a:rPr lang="en-US" dirty="0">
                <a:latin typeface="Comic Sans MS" pitchFamily="66" charset="0"/>
              </a:rPr>
              <a:t> 1, 2, 3, 4, 5, 6, 7, 8, 9, </a:t>
            </a:r>
            <a:r>
              <a:rPr lang="en-US" dirty="0" err="1">
                <a:latin typeface="Comic Sans MS" pitchFamily="66" charset="0"/>
              </a:rPr>
              <a:t>dan</a:t>
            </a:r>
            <a:r>
              <a:rPr lang="en-US" dirty="0">
                <a:latin typeface="Comic Sans MS" pitchFamily="66" charset="0"/>
              </a:rPr>
              <a:t> 0 </a:t>
            </a:r>
            <a:r>
              <a:rPr lang="en-US" dirty="0" err="1">
                <a:latin typeface="Comic Sans MS" pitchFamily="66" charset="0"/>
              </a:rPr>
              <a:t>masing-masing</a:t>
            </a:r>
            <a:r>
              <a:rPr lang="en-US" dirty="0">
                <a:latin typeface="Comic Sans MS" pitchFamily="66" charset="0"/>
              </a:rPr>
              <a:t> </a:t>
            </a:r>
          </a:p>
          <a:p>
            <a:pPr marL="609600" indent="-609600">
              <a:spcBef>
                <a:spcPct val="20000"/>
              </a:spcBef>
            </a:pPr>
            <a:r>
              <a:rPr lang="en-US" dirty="0" err="1">
                <a:latin typeface="Comic Sans MS" pitchFamily="66" charset="0"/>
              </a:rPr>
              <a:t>adalah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bilangan</a:t>
            </a:r>
            <a:r>
              <a:rPr lang="en-US" dirty="0">
                <a:latin typeface="Comic Sans MS" pitchFamily="66" charset="0"/>
              </a:rPr>
              <a:t> BERARTI, </a:t>
            </a:r>
            <a:r>
              <a:rPr lang="en-US" dirty="0" err="1">
                <a:latin typeface="Comic Sans MS" pitchFamily="66" charset="0"/>
              </a:rPr>
              <a:t>kecuali</a:t>
            </a:r>
            <a:r>
              <a:rPr lang="en-US" dirty="0">
                <a:latin typeface="Comic Sans MS" pitchFamily="66" charset="0"/>
              </a:rPr>
              <a:t> :</a:t>
            </a:r>
          </a:p>
          <a:p>
            <a:pPr marL="609600" indent="-609600">
              <a:spcBef>
                <a:spcPct val="20000"/>
              </a:spcBef>
              <a:buFontTx/>
              <a:buAutoNum type="alphaLcPeriod"/>
            </a:pPr>
            <a:r>
              <a:rPr lang="en-US" dirty="0" err="1">
                <a:latin typeface="Comic Sans MS" pitchFamily="66" charset="0"/>
              </a:rPr>
              <a:t>jika</a:t>
            </a:r>
            <a:r>
              <a:rPr lang="en-US" dirty="0">
                <a:latin typeface="Comic Sans MS" pitchFamily="66" charset="0"/>
              </a:rPr>
              <a:t> 0 </a:t>
            </a:r>
            <a:r>
              <a:rPr lang="en-US" dirty="0" err="1">
                <a:latin typeface="Comic Sans MS" pitchFamily="66" charset="0"/>
              </a:rPr>
              <a:t>hanya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digunakan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untuk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menentukan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titik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desimal</a:t>
            </a:r>
            <a:endParaRPr lang="en-US" dirty="0">
              <a:latin typeface="Comic Sans MS" pitchFamily="66" charset="0"/>
            </a:endParaRPr>
          </a:p>
          <a:p>
            <a:pPr marL="609600" indent="-609600">
              <a:spcBef>
                <a:spcPct val="20000"/>
              </a:spcBef>
            </a:pPr>
            <a:r>
              <a:rPr lang="en-US" dirty="0">
                <a:latin typeface="Comic Sans MS" pitchFamily="66" charset="0"/>
              </a:rPr>
              <a:t>	</a:t>
            </a:r>
            <a:r>
              <a:rPr lang="en-US" dirty="0" err="1">
                <a:solidFill>
                  <a:srgbClr val="CC3300"/>
                </a:solidFill>
                <a:latin typeface="Comic Sans MS" pitchFamily="66" charset="0"/>
              </a:rPr>
              <a:t>contoh</a:t>
            </a:r>
            <a:r>
              <a:rPr lang="en-US" dirty="0">
                <a:solidFill>
                  <a:srgbClr val="CC3300"/>
                </a:solidFill>
                <a:latin typeface="Comic Sans MS" pitchFamily="66" charset="0"/>
              </a:rPr>
              <a:t> :</a:t>
            </a:r>
            <a:r>
              <a:rPr lang="en-US" dirty="0">
                <a:latin typeface="Comic Sans MS" pitchFamily="66" charset="0"/>
              </a:rPr>
              <a:t> 0,0069		</a:t>
            </a:r>
            <a:r>
              <a:rPr lang="en-US" dirty="0" err="1">
                <a:latin typeface="Comic Sans MS" pitchFamily="66" charset="0"/>
              </a:rPr>
              <a:t>hanya</a:t>
            </a:r>
            <a:r>
              <a:rPr lang="en-US" dirty="0">
                <a:latin typeface="Comic Sans MS" pitchFamily="66" charset="0"/>
              </a:rPr>
              <a:t> 6 </a:t>
            </a:r>
            <a:r>
              <a:rPr lang="en-US" dirty="0" err="1">
                <a:latin typeface="Comic Sans MS" pitchFamily="66" charset="0"/>
              </a:rPr>
              <a:t>dan</a:t>
            </a:r>
            <a:r>
              <a:rPr lang="en-US" dirty="0">
                <a:latin typeface="Comic Sans MS" pitchFamily="66" charset="0"/>
              </a:rPr>
              <a:t> 9 </a:t>
            </a:r>
            <a:r>
              <a:rPr lang="en-US" dirty="0" err="1">
                <a:latin typeface="Comic Sans MS" pitchFamily="66" charset="0"/>
              </a:rPr>
              <a:t>bilangan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berarti-nya</a:t>
            </a:r>
            <a:endParaRPr lang="en-US" dirty="0">
              <a:latin typeface="Comic Sans MS" pitchFamily="66" charset="0"/>
            </a:endParaRPr>
          </a:p>
          <a:p>
            <a:pPr marL="609600" indent="-609600">
              <a:spcBef>
                <a:spcPct val="20000"/>
              </a:spcBef>
            </a:pPr>
            <a:endParaRPr lang="en-US" dirty="0">
              <a:latin typeface="Comic Sans MS" pitchFamily="66" charset="0"/>
            </a:endParaRPr>
          </a:p>
          <a:p>
            <a:pPr marL="609600" indent="-609600">
              <a:spcBef>
                <a:spcPct val="20000"/>
              </a:spcBef>
              <a:buFontTx/>
              <a:buAutoNum type="alphaLcPeriod" startAt="2"/>
            </a:pPr>
            <a:r>
              <a:rPr lang="en-US" dirty="0" err="1">
                <a:latin typeface="Comic Sans MS" pitchFamily="66" charset="0"/>
              </a:rPr>
              <a:t>jika</a:t>
            </a:r>
            <a:r>
              <a:rPr lang="en-US" dirty="0">
                <a:latin typeface="Comic Sans MS" pitchFamily="66" charset="0"/>
              </a:rPr>
              <a:t> 0 </a:t>
            </a:r>
            <a:r>
              <a:rPr lang="en-US" dirty="0" err="1">
                <a:latin typeface="Comic Sans MS" pitchFamily="66" charset="0"/>
              </a:rPr>
              <a:t>digunakan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untuk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mengisi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tempat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dari</a:t>
            </a:r>
            <a:r>
              <a:rPr lang="en-US" dirty="0">
                <a:latin typeface="Comic Sans MS" pitchFamily="66" charset="0"/>
              </a:rPr>
              <a:t> digit yang </a:t>
            </a:r>
            <a:r>
              <a:rPr lang="en-US" dirty="0" err="1">
                <a:latin typeface="Comic Sans MS" pitchFamily="66" charset="0"/>
              </a:rPr>
              <a:t>dapat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dibuang</a:t>
            </a:r>
            <a:r>
              <a:rPr lang="en-US" dirty="0">
                <a:latin typeface="Comic Sans MS" pitchFamily="66" charset="0"/>
              </a:rPr>
              <a:t> (</a:t>
            </a:r>
            <a:r>
              <a:rPr lang="en-US" dirty="0" err="1">
                <a:latin typeface="Comic Sans MS" pitchFamily="66" charset="0"/>
              </a:rPr>
              <a:t>dapat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tidak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ditulis</a:t>
            </a:r>
            <a:r>
              <a:rPr lang="en-US" dirty="0">
                <a:latin typeface="Comic Sans MS" pitchFamily="66" charset="0"/>
              </a:rPr>
              <a:t>).</a:t>
            </a:r>
          </a:p>
          <a:p>
            <a:pPr marL="609600" indent="-609600">
              <a:spcBef>
                <a:spcPct val="20000"/>
              </a:spcBef>
            </a:pPr>
            <a:r>
              <a:rPr lang="en-US" dirty="0">
                <a:latin typeface="Comic Sans MS" pitchFamily="66" charset="0"/>
              </a:rPr>
              <a:t>	</a:t>
            </a:r>
            <a:r>
              <a:rPr lang="en-US" dirty="0" err="1">
                <a:solidFill>
                  <a:srgbClr val="CC3300"/>
                </a:solidFill>
                <a:latin typeface="Comic Sans MS" pitchFamily="66" charset="0"/>
              </a:rPr>
              <a:t>contoh</a:t>
            </a:r>
            <a:r>
              <a:rPr lang="en-US" dirty="0">
                <a:solidFill>
                  <a:srgbClr val="CC3300"/>
                </a:solidFill>
                <a:latin typeface="Comic Sans MS" pitchFamily="66" charset="0"/>
              </a:rPr>
              <a:t> :</a:t>
            </a:r>
            <a:r>
              <a:rPr lang="en-US" dirty="0">
                <a:latin typeface="Comic Sans MS" pitchFamily="66" charset="0"/>
              </a:rPr>
              <a:t> 46.300		4,63 x 10</a:t>
            </a:r>
            <a:r>
              <a:rPr lang="en-US" baseline="30000" dirty="0">
                <a:latin typeface="Comic Sans MS" pitchFamily="66" charset="0"/>
              </a:rPr>
              <a:t>4</a:t>
            </a:r>
            <a:r>
              <a:rPr lang="en-US" dirty="0">
                <a:latin typeface="Comic Sans MS" pitchFamily="66" charset="0"/>
              </a:rPr>
              <a:t>	</a:t>
            </a:r>
            <a:endParaRPr lang="en-US" baseline="30000" dirty="0">
              <a:latin typeface="Comic Sans MS" pitchFamily="66" charset="0"/>
            </a:endParaRPr>
          </a:p>
          <a:p>
            <a:pPr marL="609600" indent="-609600">
              <a:spcBef>
                <a:spcPct val="20000"/>
              </a:spcBef>
            </a:pPr>
            <a:endParaRPr lang="en-US" dirty="0">
              <a:latin typeface="Comic Sans MS" pitchFamily="66" charset="0"/>
            </a:endParaRPr>
          </a:p>
          <a:p>
            <a:pPr marL="609600" indent="-609600">
              <a:spcBef>
                <a:spcPct val="20000"/>
              </a:spcBef>
            </a:pPr>
            <a:endParaRPr lang="en-US" dirty="0">
              <a:latin typeface="Comic Sans MS" pitchFamily="66" charset="0"/>
            </a:endParaRPr>
          </a:p>
          <a:p>
            <a:pPr marL="609600" indent="-609600">
              <a:spcBef>
                <a:spcPct val="20000"/>
              </a:spcBef>
            </a:pPr>
            <a:r>
              <a:rPr lang="en-US" dirty="0">
                <a:latin typeface="Comic Sans MS" pitchFamily="66" charset="0"/>
              </a:rPr>
              <a:t>		          </a:t>
            </a:r>
            <a:r>
              <a:rPr lang="en-US" dirty="0" err="1">
                <a:latin typeface="Comic Sans MS" pitchFamily="66" charset="0"/>
              </a:rPr>
              <a:t>bilangan</a:t>
            </a:r>
            <a:r>
              <a:rPr lang="en-US" dirty="0">
                <a:latin typeface="Comic Sans MS" pitchFamily="66" charset="0"/>
              </a:rPr>
              <a:t> </a:t>
            </a:r>
            <a:r>
              <a:rPr lang="en-US" dirty="0" err="1">
                <a:latin typeface="Comic Sans MS" pitchFamily="66" charset="0"/>
              </a:rPr>
              <a:t>berarti</a:t>
            </a:r>
            <a:r>
              <a:rPr lang="en-US" dirty="0">
                <a:latin typeface="Comic Sans MS" pitchFamily="66" charset="0"/>
              </a:rPr>
              <a:t> :	   4  6  3		</a:t>
            </a:r>
          </a:p>
        </p:txBody>
      </p:sp>
      <p:sp>
        <p:nvSpPr>
          <p:cNvPr id="19465" name="AutoShape 10"/>
          <p:cNvSpPr>
            <a:spLocks noChangeArrowheads="1"/>
          </p:cNvSpPr>
          <p:nvPr/>
        </p:nvSpPr>
        <p:spPr bwMode="auto">
          <a:xfrm>
            <a:off x="3048000" y="3581400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19466" name="AutoShape 11"/>
          <p:cNvSpPr>
            <a:spLocks noChangeArrowheads="1"/>
          </p:cNvSpPr>
          <p:nvPr/>
        </p:nvSpPr>
        <p:spPr bwMode="auto">
          <a:xfrm>
            <a:off x="3048000" y="4800600"/>
            <a:ext cx="838200" cy="228600"/>
          </a:xfrm>
          <a:prstGeom prst="rightArrow">
            <a:avLst>
              <a:gd name="adj1" fmla="val 50000"/>
              <a:gd name="adj2" fmla="val 916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19467" name="AutoShape 13"/>
          <p:cNvSpPr>
            <a:spLocks noChangeArrowheads="1"/>
          </p:cNvSpPr>
          <p:nvPr/>
        </p:nvSpPr>
        <p:spPr bwMode="auto">
          <a:xfrm rot="5400000">
            <a:off x="4419600" y="5334000"/>
            <a:ext cx="533400" cy="228600"/>
          </a:xfrm>
          <a:prstGeom prst="rightArrow">
            <a:avLst>
              <a:gd name="adj1" fmla="val 50000"/>
              <a:gd name="adj2" fmla="val 58333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19469" name="AutoShape 15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458200" y="304800"/>
            <a:ext cx="381000" cy="304800"/>
          </a:xfrm>
          <a:prstGeom prst="actionButtonBackPrevious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12459042"/>
      </p:ext>
    </p:extLst>
  </p:cSld>
  <p:clrMapOvr>
    <a:masterClrMapping/>
  </p:clrMapOvr>
  <p:transition spd="slow">
    <p:wheel spokes="8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122237"/>
            <a:ext cx="8229600" cy="5635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b="1" dirty="0"/>
              <a:t>3. </a:t>
            </a:r>
            <a:r>
              <a:rPr lang="en-US" b="1" dirty="0" err="1"/>
              <a:t>Akurasi</a:t>
            </a:r>
            <a:r>
              <a:rPr lang="en-US" b="1" dirty="0"/>
              <a:t>  dan  </a:t>
            </a:r>
            <a:r>
              <a:rPr lang="en-US" b="1" dirty="0" err="1"/>
              <a:t>Presisi</a:t>
            </a:r>
            <a:r>
              <a:rPr lang="id-ID" b="1" dirty="0"/>
              <a:t> </a:t>
            </a:r>
            <a:r>
              <a:rPr lang="id-ID" b="1" dirty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Albert" pitchFamily="2" charset="0"/>
              </a:rPr>
              <a:t>(2)</a:t>
            </a:r>
            <a:endParaRPr lang="en-US" sz="1800" b="1" dirty="0">
              <a:solidFill>
                <a:srgbClr val="969696"/>
              </a:solidFill>
              <a:latin typeface="Arial Unicode MS" pitchFamily="34" charset="-128"/>
            </a:endParaRPr>
          </a:p>
        </p:txBody>
      </p:sp>
      <p:sp>
        <p:nvSpPr>
          <p:cNvPr id="20482" name="Content Placeholder 2"/>
          <p:cNvSpPr>
            <a:spLocks noGrp="1"/>
          </p:cNvSpPr>
          <p:nvPr>
            <p:ph idx="1"/>
          </p:nvPr>
        </p:nvSpPr>
        <p:spPr>
          <a:xfrm>
            <a:off x="304800" y="395286"/>
            <a:ext cx="8229600" cy="5697538"/>
          </a:xfrm>
        </p:spPr>
        <p:txBody>
          <a:bodyPr/>
          <a:lstStyle/>
          <a:p>
            <a:pPr>
              <a:buFontTx/>
              <a:buNone/>
            </a:pPr>
            <a:r>
              <a:rPr lang="en-US" sz="2400" dirty="0"/>
              <a:t>    </a:t>
            </a:r>
          </a:p>
          <a:p>
            <a:pPr>
              <a:buFontTx/>
              <a:buChar char="-"/>
            </a:pPr>
            <a:r>
              <a:rPr lang="en-US" sz="2400" dirty="0" err="1"/>
              <a:t>Akurasi</a:t>
            </a:r>
            <a:r>
              <a:rPr lang="en-US" sz="2400" dirty="0"/>
              <a:t> (Et): </a:t>
            </a:r>
            <a:r>
              <a:rPr lang="en-US" sz="2400" dirty="0" err="1"/>
              <a:t>mendekati</a:t>
            </a:r>
            <a:r>
              <a:rPr lang="en-US" sz="2400" dirty="0"/>
              <a:t> </a:t>
            </a:r>
            <a:r>
              <a:rPr lang="en-US" sz="2400" dirty="0" err="1"/>
              <a:t>akurat</a:t>
            </a:r>
            <a:r>
              <a:rPr lang="en-US" sz="2400" dirty="0"/>
              <a:t> / </a:t>
            </a:r>
            <a:r>
              <a:rPr lang="en-US" sz="2400" dirty="0" err="1"/>
              <a:t>kebenaran</a:t>
            </a:r>
            <a:endParaRPr lang="en-US" sz="2400" dirty="0"/>
          </a:p>
          <a:p>
            <a:pPr>
              <a:buFontTx/>
              <a:buChar char="-"/>
            </a:pPr>
            <a:r>
              <a:rPr lang="en-US" sz="2400" dirty="0" err="1"/>
              <a:t>Presisi</a:t>
            </a:r>
            <a:r>
              <a:rPr lang="en-US" sz="2400" dirty="0"/>
              <a:t> (</a:t>
            </a:r>
            <a:r>
              <a:rPr lang="en-US" sz="2400" dirty="0" err="1"/>
              <a:t>Ea</a:t>
            </a:r>
            <a:r>
              <a:rPr lang="en-US" sz="2400" dirty="0"/>
              <a:t>): </a:t>
            </a:r>
            <a:r>
              <a:rPr lang="en-US" sz="2400" dirty="0" err="1"/>
              <a:t>konsisten</a:t>
            </a:r>
            <a:r>
              <a:rPr lang="en-US" sz="2400" dirty="0"/>
              <a:t> / </a:t>
            </a:r>
            <a:r>
              <a:rPr lang="en-US" sz="2400" dirty="0" err="1"/>
              <a:t>tetap</a:t>
            </a:r>
            <a:r>
              <a:rPr lang="en-US" sz="2400" dirty="0"/>
              <a:t>  =&gt;   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berikutnya</a:t>
            </a:r>
            <a:r>
              <a:rPr lang="en-US" sz="2400" dirty="0"/>
              <a:t> </a:t>
            </a:r>
            <a:r>
              <a:rPr lang="en-US" sz="2400" dirty="0" err="1"/>
              <a:t>beda</a:t>
            </a:r>
            <a:r>
              <a:rPr lang="en-US" sz="2400" dirty="0"/>
              <a:t> </a:t>
            </a:r>
            <a:r>
              <a:rPr lang="en-US" sz="2400" dirty="0" err="1"/>
              <a:t>sedikit</a:t>
            </a:r>
            <a:r>
              <a:rPr lang="en-US" sz="2400" dirty="0"/>
              <a:t> </a:t>
            </a:r>
            <a:r>
              <a:rPr lang="en-US" sz="2400" dirty="0" err="1"/>
              <a:t>dari</a:t>
            </a:r>
            <a:r>
              <a:rPr lang="en-US" sz="2400" dirty="0"/>
              <a:t> </a:t>
            </a:r>
            <a:r>
              <a:rPr lang="en-US" sz="2400" dirty="0" err="1"/>
              <a:t>hasil</a:t>
            </a:r>
            <a:r>
              <a:rPr lang="en-US" sz="2400" dirty="0"/>
              <a:t> </a:t>
            </a:r>
            <a:r>
              <a:rPr lang="en-US" sz="2400" dirty="0" err="1"/>
              <a:t>saat</a:t>
            </a:r>
            <a:r>
              <a:rPr lang="en-US" sz="2400" dirty="0"/>
              <a:t> </a:t>
            </a:r>
            <a:r>
              <a:rPr lang="en-US" sz="2400" dirty="0" err="1"/>
              <a:t>ini</a:t>
            </a:r>
            <a:endParaRPr lang="en-US" sz="2400" dirty="0"/>
          </a:p>
          <a:p>
            <a:pPr>
              <a:buFontTx/>
              <a:buChar char="-"/>
            </a:pPr>
            <a:endParaRPr lang="en-US" dirty="0"/>
          </a:p>
          <a:p>
            <a:pPr>
              <a:buFontTx/>
              <a:buNone/>
            </a:pPr>
            <a:endParaRPr lang="en-US" dirty="0"/>
          </a:p>
        </p:txBody>
      </p:sp>
      <p:sp>
        <p:nvSpPr>
          <p:cNvPr id="91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/>
          <a:p>
            <a:r>
              <a:rPr lang="en-US"/>
              <a:t>Metnum 01-T.Informatika-ITS</a:t>
            </a:r>
          </a:p>
        </p:txBody>
      </p:sp>
      <p:sp>
        <p:nvSpPr>
          <p:cNvPr id="92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/>
          <a:p>
            <a:pPr>
              <a:defRPr/>
            </a:pPr>
            <a:fld id="{8354ADA5-99C7-482D-85AA-EAAB79D9345D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20484" name="Slide Number Placeholder 4"/>
          <p:cNvSpPr txBox="1">
            <a:spLocks noGrp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r"/>
            <a:fld id="{120AAF41-8181-4E35-B198-EFBA29819526}" type="slidenum">
              <a:rPr lang="en-US" sz="1400"/>
              <a:pPr algn="r"/>
              <a:t>10</a:t>
            </a:fld>
            <a:endParaRPr lang="en-US" sz="1400"/>
          </a:p>
        </p:txBody>
      </p:sp>
      <p:sp>
        <p:nvSpPr>
          <p:cNvPr id="93" name="AutoShape 22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34400" y="152400"/>
            <a:ext cx="381000" cy="304800"/>
          </a:xfrm>
          <a:prstGeom prst="actionButtonBackPrevious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  <p:sp>
        <p:nvSpPr>
          <p:cNvPr id="95" name="Line 3"/>
          <p:cNvSpPr>
            <a:spLocks noChangeShapeType="1"/>
          </p:cNvSpPr>
          <p:nvPr/>
        </p:nvSpPr>
        <p:spPr bwMode="auto">
          <a:xfrm>
            <a:off x="228600" y="609600"/>
            <a:ext cx="8686800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784D26D-00AC-A6E4-FFE1-167519D93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209800"/>
            <a:ext cx="4876800" cy="3774658"/>
          </a:xfrm>
          <a:prstGeom prst="rect">
            <a:avLst/>
          </a:prstGeom>
          <a:solidFill>
            <a:schemeClr val="accent1">
              <a:alpha val="69000"/>
            </a:schemeClr>
          </a:solidFill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25400"/>
          </a:effectLst>
          <a:scene3d>
            <a:camera prst="orthographicFront"/>
            <a:lightRig rig="threePt" dir="t"/>
          </a:scene3d>
          <a:sp3d>
            <a:bevelT prst="relaxedInset"/>
          </a:sp3d>
        </p:spPr>
      </p:pic>
    </p:spTree>
    <p:extLst>
      <p:ext uri="{BB962C8B-B14F-4D97-AF65-F5344CB8AC3E}">
        <p14:creationId xmlns:p14="http://schemas.microsoft.com/office/powerpoint/2010/main" val="2453181429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122237"/>
            <a:ext cx="8229600" cy="5635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sz="4800" b="1" dirty="0"/>
              <a:t>4. </a:t>
            </a:r>
            <a:r>
              <a:rPr lang="en-US" sz="4800" b="1" dirty="0" err="1"/>
              <a:t>Aturan</a:t>
            </a:r>
            <a:r>
              <a:rPr lang="en-US" sz="4800" b="1" dirty="0"/>
              <a:t> </a:t>
            </a:r>
            <a:r>
              <a:rPr lang="en-US" sz="4800" b="1" dirty="0" err="1"/>
              <a:t>Pembulatan</a:t>
            </a:r>
            <a:r>
              <a:rPr lang="en-US" sz="2000" dirty="0"/>
              <a:t>     </a:t>
            </a:r>
            <a:r>
              <a:rPr lang="en-US" sz="2000" b="1" dirty="0">
                <a:solidFill>
                  <a:srgbClr val="969696"/>
                </a:solidFill>
              </a:rPr>
              <a:t>(1)</a:t>
            </a:r>
          </a:p>
        </p:txBody>
      </p:sp>
      <p:sp>
        <p:nvSpPr>
          <p:cNvPr id="2048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28600" y="914400"/>
            <a:ext cx="8763000" cy="4267200"/>
          </a:xfrm>
        </p:spPr>
        <p:txBody>
          <a:bodyPr>
            <a:normAutofit/>
          </a:bodyPr>
          <a:lstStyle/>
          <a:p>
            <a:pPr marL="0" indent="0" eaLnBrk="1" hangingPunct="1">
              <a:buFontTx/>
              <a:buNone/>
            </a:pPr>
            <a:endParaRPr lang="en-US" sz="2800" b="1" dirty="0">
              <a:latin typeface="Comic Sans MS" pitchFamily="66" charset="0"/>
            </a:endParaRPr>
          </a:p>
          <a:p>
            <a:pPr marL="0" indent="0" eaLnBrk="1" hangingPunct="1"/>
            <a:r>
              <a:rPr lang="en-US" sz="2800" b="1" dirty="0" err="1">
                <a:latin typeface="Comic Sans MS" pitchFamily="66" charset="0"/>
              </a:rPr>
              <a:t>Angka</a:t>
            </a:r>
            <a:r>
              <a:rPr lang="en-US" sz="2800" b="1" dirty="0">
                <a:latin typeface="Comic Sans MS" pitchFamily="66" charset="0"/>
              </a:rPr>
              <a:t> &lt; 5, </a:t>
            </a:r>
            <a:r>
              <a:rPr lang="en-US" sz="2800" b="1" dirty="0" err="1">
                <a:latin typeface="Comic Sans MS" pitchFamily="66" charset="0"/>
              </a:rPr>
              <a:t>bulatkan</a:t>
            </a:r>
            <a:r>
              <a:rPr lang="en-US" sz="2800" b="1" dirty="0">
                <a:latin typeface="Comic Sans MS" pitchFamily="66" charset="0"/>
              </a:rPr>
              <a:t> </a:t>
            </a:r>
            <a:r>
              <a:rPr lang="en-US" sz="2800" b="1" dirty="0" err="1">
                <a:latin typeface="Comic Sans MS" pitchFamily="66" charset="0"/>
              </a:rPr>
              <a:t>ke</a:t>
            </a:r>
            <a:r>
              <a:rPr lang="en-US" sz="2800" b="1" dirty="0">
                <a:latin typeface="Comic Sans MS" pitchFamily="66" charset="0"/>
              </a:rPr>
              <a:t> </a:t>
            </a:r>
            <a:r>
              <a:rPr lang="en-US" sz="2800" b="1" dirty="0" err="1">
                <a:latin typeface="Comic Sans MS" pitchFamily="66" charset="0"/>
              </a:rPr>
              <a:t>bawah</a:t>
            </a:r>
            <a:endParaRPr lang="en-US" sz="2800" b="1" dirty="0">
              <a:latin typeface="Comic Sans MS" pitchFamily="66" charset="0"/>
            </a:endParaRPr>
          </a:p>
          <a:p>
            <a:pPr marL="0" indent="0" eaLnBrk="1" hangingPunct="1"/>
            <a:r>
              <a:rPr lang="en-US" sz="2800" b="1" dirty="0">
                <a:latin typeface="Comic Sans MS" pitchFamily="66" charset="0"/>
              </a:rPr>
              <a:t>Angka &gt;= 5, </a:t>
            </a:r>
            <a:r>
              <a:rPr lang="en-US" sz="2800" b="1" dirty="0" err="1">
                <a:latin typeface="Comic Sans MS" pitchFamily="66" charset="0"/>
              </a:rPr>
              <a:t>bulatkan</a:t>
            </a:r>
            <a:r>
              <a:rPr lang="en-US" sz="2800" b="1" dirty="0">
                <a:latin typeface="Comic Sans MS" pitchFamily="66" charset="0"/>
              </a:rPr>
              <a:t> </a:t>
            </a:r>
            <a:r>
              <a:rPr lang="en-US" sz="2800" b="1" dirty="0" err="1">
                <a:latin typeface="Comic Sans MS" pitchFamily="66" charset="0"/>
              </a:rPr>
              <a:t>ke</a:t>
            </a:r>
            <a:r>
              <a:rPr lang="en-US" sz="2800" b="1" dirty="0">
                <a:latin typeface="Comic Sans MS" pitchFamily="66" charset="0"/>
              </a:rPr>
              <a:t> </a:t>
            </a:r>
            <a:r>
              <a:rPr lang="en-US" sz="2800" b="1" dirty="0" err="1">
                <a:latin typeface="Comic Sans MS" pitchFamily="66" charset="0"/>
              </a:rPr>
              <a:t>atas</a:t>
            </a:r>
            <a:endParaRPr lang="en-US" sz="2800" b="1" dirty="0">
              <a:latin typeface="Comic Sans MS" pitchFamily="66" charset="0"/>
            </a:endParaRPr>
          </a:p>
          <a:p>
            <a:pPr marL="0" indent="0" eaLnBrk="1" hangingPunct="1"/>
            <a:r>
              <a:rPr lang="en-US" b="1" dirty="0" err="1">
                <a:latin typeface="Comic Sans MS" pitchFamily="66" charset="0"/>
              </a:rPr>
              <a:t>Contoh</a:t>
            </a:r>
            <a:r>
              <a:rPr lang="en-US" b="1" dirty="0">
                <a:latin typeface="Comic Sans MS" pitchFamily="66" charset="0"/>
              </a:rPr>
              <a:t> : </a:t>
            </a:r>
            <a:r>
              <a:rPr lang="en-US" b="1" dirty="0" err="1">
                <a:latin typeface="Comic Sans MS" pitchFamily="66" charset="0"/>
              </a:rPr>
              <a:t>bulatkan</a:t>
            </a:r>
            <a:r>
              <a:rPr lang="en-US" b="1" dirty="0">
                <a:latin typeface="Comic Sans MS" pitchFamily="66" charset="0"/>
              </a:rPr>
              <a:t> 2 </a:t>
            </a:r>
            <a:r>
              <a:rPr lang="en-US" b="1" dirty="0" err="1">
                <a:latin typeface="Comic Sans MS" pitchFamily="66" charset="0"/>
              </a:rPr>
              <a:t>angka</a:t>
            </a:r>
            <a:r>
              <a:rPr lang="en-US" b="1" dirty="0">
                <a:latin typeface="Comic Sans MS" pitchFamily="66" charset="0"/>
              </a:rPr>
              <a:t> </a:t>
            </a:r>
            <a:r>
              <a:rPr lang="en-US" b="1" dirty="0" err="1">
                <a:latin typeface="Comic Sans MS" pitchFamily="66" charset="0"/>
              </a:rPr>
              <a:t>dibelakang</a:t>
            </a:r>
            <a:r>
              <a:rPr lang="en-US" b="1" dirty="0">
                <a:latin typeface="Comic Sans MS" pitchFamily="66" charset="0"/>
              </a:rPr>
              <a:t> </a:t>
            </a:r>
            <a:r>
              <a:rPr lang="en-US" b="1" dirty="0" err="1">
                <a:latin typeface="Comic Sans MS" pitchFamily="66" charset="0"/>
              </a:rPr>
              <a:t>koma</a:t>
            </a:r>
            <a:endParaRPr lang="en-US" sz="2800" b="1" dirty="0">
              <a:latin typeface="Comic Sans MS" pitchFamily="66" charset="0"/>
            </a:endParaRPr>
          </a:p>
          <a:p>
            <a:pPr marL="0" indent="0" eaLnBrk="1" hangingPunct="1">
              <a:buFontTx/>
              <a:buNone/>
            </a:pPr>
            <a:r>
              <a:rPr lang="en-US" sz="1600" b="1" dirty="0">
                <a:latin typeface="Comic Sans MS" pitchFamily="66" charset="0"/>
              </a:rPr>
              <a:t>	</a:t>
            </a:r>
          </a:p>
        </p:txBody>
      </p:sp>
      <p:sp>
        <p:nvSpPr>
          <p:cNvPr id="20482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r>
              <a:rPr lang="en-US"/>
              <a:t>T. Inf - ITS / 2009-2014</a:t>
            </a:r>
          </a:p>
        </p:txBody>
      </p:sp>
      <p:sp>
        <p:nvSpPr>
          <p:cNvPr id="20483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KomNum</a:t>
            </a:r>
          </a:p>
        </p:txBody>
      </p:sp>
      <p:sp>
        <p:nvSpPr>
          <p:cNvPr id="2048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D4F6E1C-1D7D-4F8E-932B-B4B35EF4A93F}" type="slidenum">
              <a:rPr lang="en-US"/>
              <a:pPr/>
              <a:t>11</a:t>
            </a:fld>
            <a:endParaRPr lang="en-US"/>
          </a:p>
        </p:txBody>
      </p:sp>
      <p:sp>
        <p:nvSpPr>
          <p:cNvPr id="20487" name="Line 4"/>
          <p:cNvSpPr>
            <a:spLocks noChangeShapeType="1"/>
          </p:cNvSpPr>
          <p:nvPr/>
        </p:nvSpPr>
        <p:spPr bwMode="auto">
          <a:xfrm>
            <a:off x="228600" y="685800"/>
            <a:ext cx="8686800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B06A417-1F08-BB96-9377-FAFEC7AA6D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870876"/>
              </p:ext>
            </p:extLst>
          </p:nvPr>
        </p:nvGraphicFramePr>
        <p:xfrm>
          <a:off x="2286000" y="3276600"/>
          <a:ext cx="2438400" cy="21101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157020686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3700169263"/>
                    </a:ext>
                  </a:extLst>
                </a:gridCol>
              </a:tblGrid>
              <a:tr h="318407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3.4537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  <a:latin typeface="+mj-lt"/>
                        </a:rPr>
                        <a:t>3.45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962173182"/>
                  </a:ext>
                </a:extLst>
              </a:tr>
              <a:tr h="4347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  <a:latin typeface="+mj-lt"/>
                        </a:rPr>
                        <a:t>3.4547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3.45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772056706"/>
                  </a:ext>
                </a:extLst>
              </a:tr>
              <a:tr h="4347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  <a:latin typeface="+mj-lt"/>
                        </a:rPr>
                        <a:t>3.4557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  <a:latin typeface="+mj-lt"/>
                        </a:rPr>
                        <a:t>3.46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3247776724"/>
                  </a:ext>
                </a:extLst>
              </a:tr>
              <a:tr h="4347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>
                          <a:effectLst/>
                          <a:latin typeface="+mj-lt"/>
                        </a:rPr>
                        <a:t>3.4567</a:t>
                      </a:r>
                      <a:endParaRPr lang="en-US" sz="24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3.46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228516610"/>
                  </a:ext>
                </a:extLst>
              </a:tr>
              <a:tr h="434748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3.4577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400" u="none" strike="noStrike" dirty="0">
                          <a:effectLst/>
                          <a:latin typeface="+mj-lt"/>
                        </a:rPr>
                        <a:t>3.46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4223741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64350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7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563563"/>
          </a:xfrm>
        </p:spPr>
        <p:txBody>
          <a:bodyPr>
            <a:normAutofit fontScale="90000"/>
          </a:bodyPr>
          <a:lstStyle/>
          <a:p>
            <a:pPr algn="l" eaLnBrk="1" hangingPunct="1"/>
            <a:r>
              <a:rPr lang="en-US" sz="4800" b="1" dirty="0"/>
              <a:t>5. </a:t>
            </a:r>
            <a:r>
              <a:rPr lang="en-US" sz="4800" b="1" dirty="0" err="1"/>
              <a:t>Pengertian</a:t>
            </a:r>
            <a:r>
              <a:rPr lang="en-US" sz="4800" b="1" dirty="0"/>
              <a:t> Error</a:t>
            </a:r>
            <a:endParaRPr lang="en-US" sz="2000" b="1" dirty="0">
              <a:solidFill>
                <a:srgbClr val="969696"/>
              </a:solidFill>
            </a:endParaRPr>
          </a:p>
        </p:txBody>
      </p:sp>
      <p:sp>
        <p:nvSpPr>
          <p:cNvPr id="23554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r>
              <a:rPr lang="en-US"/>
              <a:t>T. Inf - ITS / 2009-2014</a:t>
            </a:r>
          </a:p>
        </p:txBody>
      </p:sp>
      <p:sp>
        <p:nvSpPr>
          <p:cNvPr id="23555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KomNum</a:t>
            </a:r>
          </a:p>
        </p:txBody>
      </p:sp>
      <p:sp>
        <p:nvSpPr>
          <p:cNvPr id="23556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0B61A29-C11F-4A48-BBC3-EEFA4C2F002E}" type="slidenum">
              <a:rPr lang="en-US"/>
              <a:pPr/>
              <a:t>12</a:t>
            </a:fld>
            <a:endParaRPr lang="en-US"/>
          </a:p>
        </p:txBody>
      </p:sp>
      <p:sp>
        <p:nvSpPr>
          <p:cNvPr id="23559" name="Line 4"/>
          <p:cNvSpPr>
            <a:spLocks noChangeShapeType="1"/>
          </p:cNvSpPr>
          <p:nvPr/>
        </p:nvSpPr>
        <p:spPr bwMode="auto">
          <a:xfrm>
            <a:off x="228600" y="685800"/>
            <a:ext cx="8686800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2569055"/>
              </p:ext>
            </p:extLst>
          </p:nvPr>
        </p:nvGraphicFramePr>
        <p:xfrm>
          <a:off x="457200" y="1371600"/>
          <a:ext cx="7993062" cy="226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047760" imgH="863280" progId="">
                  <p:embed/>
                </p:oleObj>
              </mc:Choice>
              <mc:Fallback>
                <p:oleObj name="Equation" r:id="rId2" imgW="3047760" imgH="863280" progId="">
                  <p:embed/>
                  <p:pic>
                    <p:nvPicPr>
                      <p:cNvPr id="0" name="Picture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371600"/>
                        <a:ext cx="7993062" cy="2265363"/>
                      </a:xfrm>
                      <a:prstGeom prst="rect">
                        <a:avLst/>
                      </a:prstGeom>
                      <a:blipFill dpi="0" rotWithShape="0">
                        <a:blip r:embed="rId4"/>
                        <a:srcRect/>
                        <a:tile tx="0" ty="0" sx="100000" sy="100000" flip="none" algn="tl"/>
                      </a:blip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90600" y="4222708"/>
            <a:ext cx="466986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Et = Error true (</a:t>
            </a:r>
            <a:r>
              <a:rPr lang="en-US" dirty="0" err="1">
                <a:solidFill>
                  <a:srgbClr val="FFFF00"/>
                </a:solidFill>
              </a:rPr>
              <a:t>sebenarnya</a:t>
            </a:r>
            <a:r>
              <a:rPr lang="en-US" dirty="0">
                <a:solidFill>
                  <a:srgbClr val="FFFF00"/>
                </a:solidFill>
              </a:rPr>
              <a:t>)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 </a:t>
            </a:r>
            <a:r>
              <a:rPr lang="en-US" dirty="0" err="1">
                <a:solidFill>
                  <a:srgbClr val="FFFF00"/>
                </a:solidFill>
                <a:sym typeface="Wingdings" panose="05000000000000000000" pitchFamily="2" charset="2"/>
              </a:rPr>
              <a:t>akurasi</a:t>
            </a:r>
            <a:endParaRPr lang="en-US" dirty="0">
              <a:solidFill>
                <a:srgbClr val="FFFF00"/>
              </a:solidFill>
            </a:endParaRPr>
          </a:p>
          <a:p>
            <a:endParaRPr lang="en-US" dirty="0">
              <a:solidFill>
                <a:srgbClr val="FFFF00"/>
              </a:solidFill>
            </a:endParaRPr>
          </a:p>
          <a:p>
            <a:r>
              <a:rPr lang="en-US" dirty="0" err="1">
                <a:solidFill>
                  <a:srgbClr val="FFFF00"/>
                </a:solidFill>
              </a:rPr>
              <a:t>Ea</a:t>
            </a:r>
            <a:r>
              <a:rPr lang="en-US" dirty="0">
                <a:solidFill>
                  <a:srgbClr val="FFFF00"/>
                </a:solidFill>
              </a:rPr>
              <a:t> = Error </a:t>
            </a:r>
            <a:r>
              <a:rPr lang="en-US" dirty="0" err="1">
                <a:solidFill>
                  <a:srgbClr val="FFFF00"/>
                </a:solidFill>
              </a:rPr>
              <a:t>aproximate</a:t>
            </a:r>
            <a:r>
              <a:rPr lang="en-US" dirty="0">
                <a:solidFill>
                  <a:srgbClr val="FFFF00"/>
                </a:solidFill>
              </a:rPr>
              <a:t> (</a:t>
            </a:r>
            <a:r>
              <a:rPr lang="en-US" dirty="0" err="1">
                <a:solidFill>
                  <a:srgbClr val="FFFF00"/>
                </a:solidFill>
              </a:rPr>
              <a:t>perkiraan</a:t>
            </a:r>
            <a:r>
              <a:rPr lang="en-US" dirty="0">
                <a:solidFill>
                  <a:srgbClr val="FFFF00"/>
                </a:solidFill>
              </a:rPr>
              <a:t>) </a:t>
            </a:r>
            <a:r>
              <a:rPr lang="en-US" dirty="0">
                <a:solidFill>
                  <a:srgbClr val="FFFF00"/>
                </a:solidFill>
                <a:sym typeface="Wingdings" panose="05000000000000000000" pitchFamily="2" charset="2"/>
              </a:rPr>
              <a:t> </a:t>
            </a:r>
            <a:r>
              <a:rPr lang="en-US" dirty="0" err="1">
                <a:solidFill>
                  <a:srgbClr val="FFFF00"/>
                </a:solidFill>
                <a:sym typeface="Wingdings" panose="05000000000000000000" pitchFamily="2" charset="2"/>
              </a:rPr>
              <a:t>presisi</a:t>
            </a:r>
            <a:endParaRPr lang="en-US" dirty="0">
              <a:solidFill>
                <a:srgbClr val="FFFF00"/>
              </a:solidFill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335DB40-B8BA-B9D1-532A-921F171327BF}"/>
              </a:ext>
            </a:extLst>
          </p:cNvPr>
          <p:cNvGrpSpPr/>
          <p:nvPr/>
        </p:nvGrpSpPr>
        <p:grpSpPr>
          <a:xfrm>
            <a:off x="1253386" y="1507809"/>
            <a:ext cx="108360" cy="689400"/>
            <a:chOff x="1253386" y="1507809"/>
            <a:chExt cx="108360" cy="68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2E42C6E-0EF1-A26E-CA10-73D058C5E4B9}"/>
                    </a:ext>
                  </a:extLst>
                </p14:cNvPr>
                <p14:cNvContentPartPr/>
                <p14:nvPr/>
              </p14:nvContentPartPr>
              <p14:xfrm>
                <a:off x="1291186" y="1525809"/>
                <a:ext cx="8280" cy="3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2E42C6E-0EF1-A26E-CA10-73D058C5E4B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285066" y="1519689"/>
                  <a:ext cx="2052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A4720D6-1F87-0A37-5694-1494939ABF2E}"/>
                    </a:ext>
                  </a:extLst>
                </p14:cNvPr>
                <p14:cNvContentPartPr/>
                <p14:nvPr/>
              </p14:nvContentPartPr>
              <p14:xfrm>
                <a:off x="1253386" y="1507809"/>
                <a:ext cx="108360" cy="689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A4720D6-1F87-0A37-5694-1494939ABF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247266" y="1501689"/>
                  <a:ext cx="120600" cy="701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6BBC5A0-DB99-4791-7CA6-440711B5A447}"/>
                  </a:ext>
                </a:extLst>
              </p14:cNvPr>
              <p14:cNvContentPartPr/>
              <p14:nvPr/>
            </p14:nvContentPartPr>
            <p14:xfrm>
              <a:off x="5304826" y="1507449"/>
              <a:ext cx="161280" cy="7268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6BBC5A0-DB99-4791-7CA6-440711B5A4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98706" y="1501329"/>
                <a:ext cx="173520" cy="73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52D2DE3-2711-61C8-F640-6DC284DA6A3A}"/>
                  </a:ext>
                </a:extLst>
              </p14:cNvPr>
              <p14:cNvContentPartPr/>
              <p14:nvPr/>
            </p14:nvContentPartPr>
            <p14:xfrm>
              <a:off x="1322506" y="2641809"/>
              <a:ext cx="74520" cy="75888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52D2DE3-2711-61C8-F640-6DC284DA6A3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316386" y="2635689"/>
                <a:ext cx="86760" cy="77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90384BE-F2B3-006C-A9EF-AE5645F62379}"/>
                  </a:ext>
                </a:extLst>
              </p14:cNvPr>
              <p14:cNvContentPartPr/>
              <p14:nvPr/>
            </p14:nvContentPartPr>
            <p14:xfrm>
              <a:off x="7234066" y="2659809"/>
              <a:ext cx="720" cy="7304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90384BE-F2B3-006C-A9EF-AE5645F6237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21826" y="2653689"/>
                <a:ext cx="25200" cy="742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0646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9" name="Rectangle 10"/>
          <p:cNvSpPr>
            <a:spLocks noGrp="1" noChangeArrowheads="1"/>
          </p:cNvSpPr>
          <p:nvPr>
            <p:ph type="title"/>
          </p:nvPr>
        </p:nvSpPr>
        <p:spPr>
          <a:xfrm>
            <a:off x="152400" y="0"/>
            <a:ext cx="8839200" cy="563563"/>
          </a:xfrm>
          <a:noFill/>
        </p:spPr>
        <p:txBody>
          <a:bodyPr>
            <a:normAutofit fontScale="90000"/>
          </a:bodyPr>
          <a:lstStyle/>
          <a:p>
            <a:pPr algn="l"/>
            <a:r>
              <a:rPr lang="en-US" b="1" dirty="0" err="1"/>
              <a:t>Pengertian</a:t>
            </a:r>
            <a:r>
              <a:rPr lang="en-US" b="1" dirty="0"/>
              <a:t> </a:t>
            </a:r>
            <a:r>
              <a:rPr lang="en-US" sz="4400" dirty="0"/>
              <a:t>Error</a:t>
            </a:r>
            <a:endParaRPr lang="en-US" sz="2000" b="1" dirty="0">
              <a:solidFill>
                <a:srgbClr val="969696"/>
              </a:solidFill>
            </a:endParaRPr>
          </a:p>
        </p:txBody>
      </p:sp>
      <p:sp>
        <p:nvSpPr>
          <p:cNvPr id="25602" name="Date Placeholder 4"/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r>
              <a:rPr lang="en-US"/>
              <a:t>T. Inf - ITS / 2009-2014</a:t>
            </a:r>
          </a:p>
        </p:txBody>
      </p:sp>
      <p:sp>
        <p:nvSpPr>
          <p:cNvPr id="25603" name="Footer Placeholder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r>
              <a:rPr lang="en-US"/>
              <a:t>KomNum</a:t>
            </a:r>
          </a:p>
        </p:txBody>
      </p:sp>
      <p:sp>
        <p:nvSpPr>
          <p:cNvPr id="2560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3468D740-6D7E-414F-9577-28324EA33A62}" type="slidenum">
              <a:rPr lang="en-US"/>
              <a:pPr/>
              <a:t>13</a:t>
            </a:fld>
            <a:endParaRPr lang="en-US"/>
          </a:p>
        </p:txBody>
      </p:sp>
      <p:sp>
        <p:nvSpPr>
          <p:cNvPr id="25605" name="Line 3"/>
          <p:cNvSpPr>
            <a:spLocks noChangeShapeType="1"/>
          </p:cNvSpPr>
          <p:nvPr/>
        </p:nvSpPr>
        <p:spPr bwMode="auto">
          <a:xfrm>
            <a:off x="228600" y="685800"/>
            <a:ext cx="8686800" cy="0"/>
          </a:xfrm>
          <a:prstGeom prst="line">
            <a:avLst/>
          </a:prstGeom>
          <a:noFill/>
          <a:ln w="57150">
            <a:solidFill>
              <a:srgbClr val="969696"/>
            </a:solidFill>
            <a:round/>
            <a:headEnd/>
            <a:tailEnd/>
          </a:ln>
        </p:spPr>
        <p:txBody>
          <a:bodyPr/>
          <a:lstStyle/>
          <a:p>
            <a:endParaRPr lang="id-ID"/>
          </a:p>
        </p:txBody>
      </p:sp>
      <p:sp>
        <p:nvSpPr>
          <p:cNvPr id="25606" name="Rectangle 4"/>
          <p:cNvSpPr>
            <a:spLocks noChangeArrowheads="1"/>
          </p:cNvSpPr>
          <p:nvPr/>
        </p:nvSpPr>
        <p:spPr bwMode="auto">
          <a:xfrm>
            <a:off x="76200" y="990600"/>
            <a:ext cx="90678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sz="1600" b="1" dirty="0" err="1">
                <a:solidFill>
                  <a:srgbClr val="CC3300"/>
                </a:solidFill>
                <a:latin typeface="Comic Sans MS" pitchFamily="66" charset="0"/>
              </a:rPr>
              <a:t>contoh</a:t>
            </a:r>
            <a:r>
              <a:rPr lang="en-US" sz="1600" b="1" dirty="0">
                <a:solidFill>
                  <a:srgbClr val="CC3300"/>
                </a:solidFill>
                <a:latin typeface="Comic Sans MS" pitchFamily="66" charset="0"/>
              </a:rPr>
              <a:t> :</a:t>
            </a:r>
            <a:r>
              <a:rPr lang="en-US" sz="1600" b="1" dirty="0">
                <a:latin typeface="Comic Sans MS" pitchFamily="66" charset="0"/>
              </a:rPr>
              <a:t>	</a:t>
            </a:r>
            <a:r>
              <a:rPr lang="en-US" sz="1600" b="1" dirty="0" err="1">
                <a:latin typeface="Comic Sans MS" pitchFamily="66" charset="0"/>
              </a:rPr>
              <a:t>Pengukuran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panjang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sebuah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jembatan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dan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sebuah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pensil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memberikan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hasil</a:t>
            </a:r>
            <a:r>
              <a:rPr lang="en-US" sz="1600" b="1" dirty="0">
                <a:latin typeface="Comic Sans MS" pitchFamily="66" charset="0"/>
              </a:rPr>
              <a:t> </a:t>
            </a:r>
          </a:p>
          <a:p>
            <a:pPr>
              <a:spcBef>
                <a:spcPct val="20000"/>
              </a:spcBef>
            </a:pPr>
            <a:r>
              <a:rPr lang="en-US" sz="1600" b="1" dirty="0">
                <a:latin typeface="Comic Sans MS" pitchFamily="66" charset="0"/>
              </a:rPr>
              <a:t>          </a:t>
            </a:r>
            <a:r>
              <a:rPr lang="en-US" sz="1600" b="1" dirty="0" err="1">
                <a:latin typeface="Comic Sans MS" pitchFamily="66" charset="0"/>
              </a:rPr>
              <a:t>masing-masing</a:t>
            </a:r>
            <a:r>
              <a:rPr lang="en-US" sz="1600" b="1" dirty="0">
                <a:latin typeface="Comic Sans MS" pitchFamily="66" charset="0"/>
              </a:rPr>
              <a:t> 9.999 cm </a:t>
            </a:r>
            <a:r>
              <a:rPr lang="en-US" sz="1600" b="1" dirty="0" err="1">
                <a:latin typeface="Comic Sans MS" pitchFamily="66" charset="0"/>
              </a:rPr>
              <a:t>dan</a:t>
            </a:r>
            <a:r>
              <a:rPr lang="en-US" sz="1600" b="1" dirty="0">
                <a:latin typeface="Comic Sans MS" pitchFamily="66" charset="0"/>
              </a:rPr>
              <a:t> 9 cm.</a:t>
            </a:r>
          </a:p>
          <a:p>
            <a:pPr>
              <a:spcBef>
                <a:spcPct val="20000"/>
              </a:spcBef>
            </a:pPr>
            <a:r>
              <a:rPr lang="en-US" sz="1600" b="1" dirty="0">
                <a:latin typeface="Comic Sans MS" pitchFamily="66" charset="0"/>
              </a:rPr>
              <a:t>	</a:t>
            </a:r>
            <a:r>
              <a:rPr lang="en-US" sz="1600" b="1" dirty="0" err="1">
                <a:latin typeface="Comic Sans MS" pitchFamily="66" charset="0"/>
              </a:rPr>
              <a:t>Jika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panjang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eksak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jembatan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adalah</a:t>
            </a:r>
            <a:r>
              <a:rPr lang="en-US" sz="1600" b="1" dirty="0">
                <a:latin typeface="Comic Sans MS" pitchFamily="66" charset="0"/>
              </a:rPr>
              <a:t> 10.000 cm </a:t>
            </a:r>
            <a:r>
              <a:rPr lang="en-US" sz="1600" b="1" dirty="0" err="1">
                <a:latin typeface="Comic Sans MS" pitchFamily="66" charset="0"/>
              </a:rPr>
              <a:t>dan</a:t>
            </a:r>
            <a:r>
              <a:rPr lang="en-US" sz="1600" b="1" dirty="0">
                <a:latin typeface="Comic Sans MS" pitchFamily="66" charset="0"/>
              </a:rPr>
              <a:t> </a:t>
            </a:r>
            <a:r>
              <a:rPr lang="en-US" sz="1600" b="1" dirty="0" err="1">
                <a:latin typeface="Comic Sans MS" pitchFamily="66" charset="0"/>
              </a:rPr>
              <a:t>pensil</a:t>
            </a:r>
            <a:r>
              <a:rPr lang="en-US" sz="1600" b="1" dirty="0">
                <a:latin typeface="Comic Sans MS" pitchFamily="66" charset="0"/>
              </a:rPr>
              <a:t> 10 cm, </a:t>
            </a:r>
            <a:r>
              <a:rPr lang="en-US" sz="1600" b="1" dirty="0" err="1">
                <a:latin typeface="Comic Sans MS" pitchFamily="66" charset="0"/>
              </a:rPr>
              <a:t>hitunglah</a:t>
            </a:r>
            <a:endParaRPr lang="en-US" sz="1600" b="1" dirty="0">
              <a:latin typeface="Comic Sans MS" pitchFamily="66" charset="0"/>
            </a:endParaRPr>
          </a:p>
          <a:p>
            <a:pPr>
              <a:spcBef>
                <a:spcPct val="20000"/>
              </a:spcBef>
            </a:pPr>
            <a:r>
              <a:rPr lang="en-US" sz="1600" b="1" dirty="0">
                <a:latin typeface="Comic Sans MS" pitchFamily="66" charset="0"/>
              </a:rPr>
              <a:t>	</a:t>
            </a:r>
            <a:r>
              <a:rPr lang="en-US" sz="1600" b="1" dirty="0" err="1">
                <a:latin typeface="Comic Sans MS" pitchFamily="66" charset="0"/>
              </a:rPr>
              <a:t>kesalahan</a:t>
            </a:r>
            <a:r>
              <a:rPr lang="en-US" sz="1600" b="1" dirty="0">
                <a:latin typeface="Comic Sans MS" pitchFamily="66" charset="0"/>
              </a:rPr>
              <a:t> true.</a:t>
            </a:r>
            <a:endParaRPr lang="en-US" sz="1600" b="1" dirty="0">
              <a:solidFill>
                <a:srgbClr val="CC9900"/>
              </a:solidFill>
              <a:latin typeface="Comic Sans MS" pitchFamily="66" charset="0"/>
            </a:endParaRPr>
          </a:p>
        </p:txBody>
      </p:sp>
      <p:sp>
        <p:nvSpPr>
          <p:cNvPr id="25607" name="Rectangle 5"/>
          <p:cNvSpPr>
            <a:spLocks noChangeArrowheads="1"/>
          </p:cNvSpPr>
          <p:nvPr/>
        </p:nvSpPr>
        <p:spPr bwMode="auto">
          <a:xfrm>
            <a:off x="152400" y="2362200"/>
            <a:ext cx="8839200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</a:pPr>
            <a:endParaRPr lang="en-US" sz="1600" b="1" dirty="0">
              <a:solidFill>
                <a:srgbClr val="000099"/>
              </a:solidFill>
              <a:latin typeface="Comic Sans MS" pitchFamily="66" charset="0"/>
            </a:endParaRPr>
          </a:p>
          <a:p>
            <a:pPr>
              <a:spcBef>
                <a:spcPct val="20000"/>
              </a:spcBef>
            </a:pP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Kesalahan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sebenarnya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(true)</a:t>
            </a:r>
          </a:p>
          <a:p>
            <a:pPr>
              <a:spcBef>
                <a:spcPct val="20000"/>
              </a:spcBef>
            </a:pP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	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Jembatan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: E</a:t>
            </a:r>
            <a:r>
              <a:rPr lang="en-US" sz="2000" b="1" baseline="-25000" dirty="0">
                <a:solidFill>
                  <a:srgbClr val="FFFF00"/>
                </a:solidFill>
                <a:latin typeface="Comic Sans MS" pitchFamily="66" charset="0"/>
              </a:rPr>
              <a:t>t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= (10.000 – 9.999)/10.000 x 100% = 0.01%</a:t>
            </a:r>
          </a:p>
          <a:p>
            <a:pPr>
              <a:spcBef>
                <a:spcPct val="20000"/>
              </a:spcBef>
            </a:pP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	</a:t>
            </a:r>
            <a:r>
              <a:rPr lang="en-US" sz="2000" b="1" dirty="0" err="1">
                <a:solidFill>
                  <a:srgbClr val="FFFF00"/>
                </a:solidFill>
                <a:latin typeface="Comic Sans MS" pitchFamily="66" charset="0"/>
              </a:rPr>
              <a:t>Pensil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     : E</a:t>
            </a:r>
            <a:r>
              <a:rPr lang="en-US" sz="2000" b="1" baseline="-25000" dirty="0">
                <a:solidFill>
                  <a:srgbClr val="FFFF00"/>
                </a:solidFill>
                <a:latin typeface="Comic Sans MS" pitchFamily="66" charset="0"/>
              </a:rPr>
              <a:t>t</a:t>
            </a:r>
            <a:r>
              <a:rPr lang="en-US" sz="2000" b="1" dirty="0">
                <a:solidFill>
                  <a:srgbClr val="FFFF00"/>
                </a:solidFill>
                <a:latin typeface="Comic Sans MS" pitchFamily="66" charset="0"/>
              </a:rPr>
              <a:t> = (10-9)/10) x 100% = 10%</a:t>
            </a:r>
            <a:endParaRPr lang="en-US" sz="2000" b="1" baseline="30000" dirty="0">
              <a:solidFill>
                <a:srgbClr val="FFFF00"/>
              </a:solidFill>
              <a:latin typeface="Comic Sans MS" pitchFamily="66" charset="0"/>
            </a:endParaRPr>
          </a:p>
        </p:txBody>
      </p:sp>
      <p:sp>
        <p:nvSpPr>
          <p:cNvPr id="25608" name="Rectangle 6"/>
          <p:cNvSpPr>
            <a:spLocks noChangeArrowheads="1"/>
          </p:cNvSpPr>
          <p:nvPr/>
        </p:nvSpPr>
        <p:spPr bwMode="auto">
          <a:xfrm>
            <a:off x="76200" y="3962400"/>
            <a:ext cx="8839200" cy="144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ct val="20000"/>
              </a:spcBef>
            </a:pPr>
            <a:endParaRPr lang="en-US" sz="2000" b="1" dirty="0">
              <a:solidFill>
                <a:srgbClr val="800080"/>
              </a:solidFill>
              <a:latin typeface="Comic Sans MS" pitchFamily="66" charset="0"/>
            </a:endParaRPr>
          </a:p>
          <a:p>
            <a:pPr algn="ctr">
              <a:spcBef>
                <a:spcPct val="20000"/>
              </a:spcBef>
            </a:pP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Dari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penghitungan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kesalahan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sebenarnya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dapat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disimpulkan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bahwa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hasil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pengukuran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terhadap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jembatan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lebih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memuaskan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dibanding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hasil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pengukuran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pada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 </a:t>
            </a:r>
            <a:r>
              <a:rPr lang="en-US" sz="2000" b="1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pensil</a:t>
            </a:r>
            <a:r>
              <a:rPr lang="en-US" sz="2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Comic Sans MS" pitchFamily="66" charset="0"/>
              </a:rPr>
              <a:t>.</a:t>
            </a:r>
            <a:endParaRPr lang="en-US" sz="2000" b="1" baseline="30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5610" name="AutoShape 11">
            <a:hlinkClick r:id="" action="ppaction://noaction" highlightClick="1"/>
          </p:cNvPr>
          <p:cNvSpPr>
            <a:spLocks noChangeArrowheads="1"/>
          </p:cNvSpPr>
          <p:nvPr/>
        </p:nvSpPr>
        <p:spPr bwMode="auto">
          <a:xfrm>
            <a:off x="8534400" y="228600"/>
            <a:ext cx="381000" cy="304800"/>
          </a:xfrm>
          <a:prstGeom prst="actionButtonBackPrevious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008123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err="1">
                <a:solidFill>
                  <a:schemeClr val="bg2"/>
                </a:solidFill>
              </a:rPr>
              <a:t>Buku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717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da-DK" dirty="0"/>
              <a:t>Chapra, S.C., Canale, R.P., “Numerical Methods for Engineers” </a:t>
            </a:r>
            <a:r>
              <a:rPr lang="id-ID" dirty="0"/>
              <a:t>6</a:t>
            </a:r>
            <a:r>
              <a:rPr lang="da-DK" dirty="0"/>
              <a:t>th ed., McGraw-Hill, 20</a:t>
            </a:r>
            <a:r>
              <a:rPr lang="id-ID" dirty="0"/>
              <a:t>10</a:t>
            </a:r>
            <a:r>
              <a:rPr lang="da-DK" dirty="0"/>
              <a:t>;</a:t>
            </a:r>
          </a:p>
          <a:p>
            <a:pPr eaLnBrk="1" hangingPunct="1"/>
            <a:r>
              <a:rPr lang="da-DK" dirty="0"/>
              <a:t>Munif, A., Prastyoko, A., “Penguasaan dan Penggunaan Metode Numerik”, Guna Widya, 1995</a:t>
            </a:r>
          </a:p>
        </p:txBody>
      </p:sp>
    </p:spTree>
  </p:cSld>
  <p:clrMapOvr>
    <a:masterClrMapping/>
  </p:clrMapOvr>
  <p:transition spd="slow">
    <p:wheel spokes="8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28995336"/>
              </p:ext>
            </p:extLst>
          </p:nvPr>
        </p:nvGraphicFramePr>
        <p:xfrm>
          <a:off x="457200" y="609600"/>
          <a:ext cx="7772400" cy="5048640"/>
        </p:xfrm>
        <a:graphic>
          <a:graphicData uri="http://schemas.openxmlformats.org/drawingml/2006/table">
            <a:tbl>
              <a:tblPr firstRow="1" firstCol="1" bandRow="1"/>
              <a:tblGrid>
                <a:gridCol w="5709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17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39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b="1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No</a:t>
                      </a:r>
                      <a:endParaRPr lang="id-I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Materi</a:t>
                      </a:r>
                      <a:endParaRPr lang="id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b="1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Keterangan</a:t>
                      </a:r>
                      <a:endParaRPr lang="id-ID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Pengertian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Komputasi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Numerik</a:t>
                      </a:r>
                      <a:endParaRPr lang="id-I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Grafik + tabulasi + bagi dua + regula falsi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Satu titik + Newton Raphson + Secand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QUIZ 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NR Modif + faktorisasi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id-I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Regresi Linier + aplikasi RL + Reg. Polinomial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Jacobi dan Gauss Seidel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QUIZ 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Interpolasi Newton + Lagrange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Newton Gregory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strilling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Bessel</a:t>
                      </a:r>
                      <a:endParaRPr lang="id-I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Differensiasi</a:t>
                      </a:r>
                      <a:endParaRPr lang="id-I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QUIZ 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Integrasi trapesium +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simpson</a:t>
                      </a:r>
                      <a:endParaRPr lang="id-I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Reim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nn </a:t>
                      </a:r>
                      <a:r>
                        <a:rPr lang="en-US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+ gauss</a:t>
                      </a:r>
                      <a:endParaRPr lang="id-I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15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Euler + Heun + Range Kutta 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16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QUIZ 4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5400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id-ID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</p:cSld>
  <p:clrMapOvr>
    <a:masterClrMapping/>
  </p:clrMapOvr>
  <p:transition spd="slow">
    <p:wheel spokes="8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532C20-ECA4-2904-E714-0739C3A0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Penilaian</a:t>
            </a:r>
            <a:r>
              <a:rPr lang="en-US" dirty="0"/>
              <a:t>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2AE088F-E0B9-29E3-D50F-C969B947A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4840743"/>
              </p:ext>
            </p:extLst>
          </p:nvPr>
        </p:nvGraphicFramePr>
        <p:xfrm>
          <a:off x="914400" y="2036862"/>
          <a:ext cx="3124200" cy="302899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1610197619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85247423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912189383"/>
                    </a:ext>
                  </a:extLst>
                </a:gridCol>
              </a:tblGrid>
              <a:tr h="3093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Q1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3096302"/>
                  </a:ext>
                </a:extLst>
              </a:tr>
              <a:tr h="3093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2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Q2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3175910"/>
                  </a:ext>
                </a:extLst>
              </a:tr>
              <a:tr h="3093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3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Q3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773045"/>
                  </a:ext>
                </a:extLst>
              </a:tr>
              <a:tr h="3093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4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Q4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</a:rPr>
                        <a:t>22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5914691"/>
                  </a:ext>
                </a:extLst>
              </a:tr>
              <a:tr h="3093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5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 err="1">
                          <a:effectLst/>
                          <a:highlight>
                            <a:srgbClr val="FFFF00"/>
                          </a:highlight>
                        </a:rPr>
                        <a:t>Keaktifan</a:t>
                      </a:r>
                      <a:r>
                        <a:rPr lang="en-US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 di </a:t>
                      </a:r>
                      <a:r>
                        <a:rPr lang="en-US" sz="1800" u="none" strike="noStrike" dirty="0" err="1">
                          <a:effectLst/>
                          <a:highlight>
                            <a:srgbClr val="FFFF00"/>
                          </a:highlight>
                        </a:rPr>
                        <a:t>kelas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9892026"/>
                  </a:ext>
                </a:extLst>
              </a:tr>
              <a:tr h="3093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6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542743"/>
                  </a:ext>
                </a:extLst>
              </a:tr>
              <a:tr h="3093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7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Program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 dirty="0">
                          <a:effectLst/>
                          <a:highlight>
                            <a:srgbClr val="FFFF00"/>
                          </a:highlight>
                        </a:rPr>
                        <a:t>4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766346"/>
                  </a:ext>
                </a:extLst>
              </a:tr>
              <a:tr h="3093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8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6159045"/>
                  </a:ext>
                </a:extLst>
              </a:tr>
              <a:tr h="309364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u="none" strike="noStrike">
                          <a:effectLst/>
                        </a:rPr>
                        <a:t>Total</a:t>
                      </a:r>
                      <a:endParaRPr lang="en-US" sz="1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5443" marR="5443" marT="5443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5443" marR="5443" marT="5443" marB="0" anchor="b"/>
                </a:tc>
                <a:extLst>
                  <a:ext uri="{0D108BD9-81ED-4DB2-BD59-A6C34878D82A}">
                    <a16:rowId xmlns:a16="http://schemas.microsoft.com/office/drawing/2014/main" val="180345959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3BB852F-09DF-5248-1AEC-74F680C9514C}"/>
              </a:ext>
            </a:extLst>
          </p:cNvPr>
          <p:cNvSpPr txBox="1"/>
          <p:nvPr/>
        </p:nvSpPr>
        <p:spPr>
          <a:xfrm>
            <a:off x="4648200" y="1420292"/>
            <a:ext cx="378821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Quiz </a:t>
            </a:r>
            <a:r>
              <a:rPr lang="en-US" dirty="0" err="1"/>
              <a:t>susulan</a:t>
            </a:r>
            <a:r>
              <a:rPr lang="en-US" dirty="0"/>
              <a:t> : </a:t>
            </a:r>
          </a:p>
          <a:p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mahasiswa</a:t>
            </a:r>
            <a:r>
              <a:rPr lang="en-US" dirty="0"/>
              <a:t> </a:t>
            </a:r>
            <a:r>
              <a:rPr lang="en-US" dirty="0" err="1"/>
              <a:t>ijin</a:t>
            </a:r>
            <a:r>
              <a:rPr lang="en-US" dirty="0"/>
              <a:t> </a:t>
            </a:r>
            <a:r>
              <a:rPr lang="en-US" dirty="0" err="1"/>
              <a:t>saat</a:t>
            </a:r>
            <a:r>
              <a:rPr lang="en-US" dirty="0"/>
              <a:t> Quiz :</a:t>
            </a:r>
          </a:p>
          <a:p>
            <a:pPr marL="342900" indent="-342900">
              <a:buAutoNum type="arabicPeriod"/>
            </a:pPr>
            <a:r>
              <a:rPr lang="en-US" dirty="0"/>
              <a:t>Sakit : </a:t>
            </a:r>
            <a:r>
              <a:rPr lang="en-US" dirty="0" err="1"/>
              <a:t>surat</a:t>
            </a:r>
            <a:r>
              <a:rPr lang="en-US" dirty="0"/>
              <a:t> </a:t>
            </a:r>
            <a:r>
              <a:rPr lang="en-US" dirty="0" err="1"/>
              <a:t>pribadi</a:t>
            </a:r>
            <a:r>
              <a:rPr lang="en-US" dirty="0"/>
              <a:t> / </a:t>
            </a:r>
            <a:r>
              <a:rPr lang="en-US" dirty="0" err="1"/>
              <a:t>ortu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Di </a:t>
            </a:r>
            <a:r>
              <a:rPr lang="en-US" dirty="0" err="1"/>
              <a:t>tugaskan</a:t>
            </a:r>
            <a:r>
              <a:rPr lang="en-US" dirty="0"/>
              <a:t> </a:t>
            </a:r>
            <a:r>
              <a:rPr lang="en-US" dirty="0" err="1"/>
              <a:t>ikut</a:t>
            </a:r>
            <a:r>
              <a:rPr lang="en-US" dirty="0"/>
              <a:t> </a:t>
            </a:r>
            <a:r>
              <a:rPr lang="en-US" dirty="0" err="1"/>
              <a:t>lomba</a:t>
            </a:r>
            <a:r>
              <a:rPr lang="en-US" dirty="0"/>
              <a:t> oleh ITS</a:t>
            </a:r>
          </a:p>
          <a:p>
            <a:pPr marL="342900" indent="-342900">
              <a:buAutoNum type="arabicPeriod"/>
            </a:pPr>
            <a:r>
              <a:rPr lang="en-US" dirty="0"/>
              <a:t>Ibadah agama</a:t>
            </a:r>
          </a:p>
          <a:p>
            <a:pPr marL="342900" indent="-342900">
              <a:buAutoNum type="arabicPeriod"/>
            </a:pPr>
            <a:r>
              <a:rPr lang="en-US" dirty="0"/>
              <a:t>Acara </a:t>
            </a:r>
            <a:r>
              <a:rPr lang="en-US" dirty="0" err="1"/>
              <a:t>keluarga</a:t>
            </a:r>
            <a:r>
              <a:rPr lang="en-US" dirty="0"/>
              <a:t> : </a:t>
            </a:r>
            <a:r>
              <a:rPr lang="en-US" dirty="0" err="1"/>
              <a:t>surat</a:t>
            </a:r>
            <a:r>
              <a:rPr lang="en-US" dirty="0"/>
              <a:t> </a:t>
            </a:r>
            <a:r>
              <a:rPr lang="en-US" dirty="0" err="1"/>
              <a:t>ortu</a:t>
            </a:r>
            <a:r>
              <a:rPr lang="en-US" dirty="0"/>
              <a:t> (</a:t>
            </a:r>
            <a:r>
              <a:rPr lang="en-US" dirty="0" err="1"/>
              <a:t>ttd</a:t>
            </a:r>
            <a:r>
              <a:rPr lang="en-US" dirty="0"/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040F63-0F79-B547-6150-93253DA947DC}"/>
              </a:ext>
            </a:extLst>
          </p:cNvPr>
          <p:cNvSpPr txBox="1"/>
          <p:nvPr/>
        </p:nvSpPr>
        <p:spPr>
          <a:xfrm>
            <a:off x="4629288" y="3369952"/>
            <a:ext cx="35241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 : (</a:t>
            </a:r>
            <a:r>
              <a:rPr lang="en-US" dirty="0" err="1"/>
              <a:t>tiap</a:t>
            </a:r>
            <a:r>
              <a:rPr lang="en-US" dirty="0"/>
              <a:t> </a:t>
            </a:r>
            <a:r>
              <a:rPr lang="en-US" dirty="0" err="1"/>
              <a:t>pertemuan</a:t>
            </a:r>
            <a:r>
              <a:rPr lang="en-US" dirty="0"/>
              <a:t>)</a:t>
            </a:r>
            <a:br>
              <a:rPr lang="en-US" dirty="0"/>
            </a:br>
            <a:r>
              <a:rPr lang="en-US" dirty="0" err="1"/>
              <a:t>tulis</a:t>
            </a:r>
            <a:r>
              <a:rPr lang="en-US" dirty="0"/>
              <a:t> </a:t>
            </a:r>
            <a:r>
              <a:rPr lang="en-US" dirty="0" err="1"/>
              <a:t>tangan</a:t>
            </a:r>
            <a:r>
              <a:rPr lang="en-US" dirty="0"/>
              <a:t> di </a:t>
            </a:r>
            <a:r>
              <a:rPr lang="en-US" dirty="0" err="1"/>
              <a:t>kertas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individu</a:t>
            </a:r>
            <a:r>
              <a:rPr lang="en-US" dirty="0"/>
              <a:t>, </a:t>
            </a:r>
            <a:br>
              <a:rPr lang="en-US" dirty="0"/>
            </a:br>
            <a:r>
              <a:rPr lang="en-US" dirty="0"/>
              <a:t>masing-masing </a:t>
            </a:r>
            <a:r>
              <a:rPr lang="en-US" dirty="0" err="1"/>
              <a:t>akan</a:t>
            </a:r>
            <a:r>
              <a:rPr lang="en-US" dirty="0"/>
              <a:t> </a:t>
            </a:r>
            <a:r>
              <a:rPr lang="en-US" dirty="0" err="1"/>
              <a:t>membuat</a:t>
            </a:r>
            <a:r>
              <a:rPr lang="en-US" dirty="0"/>
              <a:t> 1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soal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dan </a:t>
            </a:r>
            <a:r>
              <a:rPr lang="en-US" dirty="0" err="1"/>
              <a:t>menjawab</a:t>
            </a:r>
            <a:r>
              <a:rPr lang="en-US" dirty="0"/>
              <a:t> </a:t>
            </a:r>
            <a:r>
              <a:rPr lang="en-US" dirty="0" err="1"/>
              <a:t>sendiri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58E389-6F55-56CC-58AC-DEB344528DE3}"/>
              </a:ext>
            </a:extLst>
          </p:cNvPr>
          <p:cNvSpPr txBox="1"/>
          <p:nvPr/>
        </p:nvSpPr>
        <p:spPr>
          <a:xfrm>
            <a:off x="4629288" y="5291213"/>
            <a:ext cx="3124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Program : </a:t>
            </a:r>
            <a:br>
              <a:rPr lang="en-US" dirty="0"/>
            </a:br>
            <a:r>
              <a:rPr lang="en-US" dirty="0" err="1"/>
              <a:t>Berkelompok</a:t>
            </a:r>
            <a:r>
              <a:rPr lang="en-US" dirty="0"/>
              <a:t>, 1 </a:t>
            </a:r>
            <a:r>
              <a:rPr lang="en-US" dirty="0" err="1"/>
              <a:t>kel</a:t>
            </a:r>
            <a:r>
              <a:rPr lang="en-US" dirty="0"/>
              <a:t> = 1 </a:t>
            </a:r>
            <a:r>
              <a:rPr lang="en-US" dirty="0" err="1"/>
              <a:t>contoh</a:t>
            </a:r>
            <a:r>
              <a:rPr lang="en-US" dirty="0"/>
              <a:t> quiz</a:t>
            </a:r>
          </a:p>
        </p:txBody>
      </p:sp>
    </p:spTree>
    <p:extLst>
      <p:ext uri="{BB962C8B-B14F-4D97-AF65-F5344CB8AC3E}">
        <p14:creationId xmlns:p14="http://schemas.microsoft.com/office/powerpoint/2010/main" val="2273696977"/>
      </p:ext>
    </p:extLst>
  </p:cSld>
  <p:clrMapOvr>
    <a:masterClrMapping/>
  </p:clrMapOvr>
  <p:transition spd="slow">
    <p:wheel spokes="8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ex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Apex">
      <a:majorFont>
        <a:latin typeface="Lucida Sans"/>
        <a:ea typeface=""/>
        <a:cs typeface=""/>
        <a:font script="Grek" typeface="Arial"/>
        <a:font script="Cyrl" typeface="Arial"/>
        <a:font script="Jpan" typeface="HG丸ｺﾞｼｯｸM-PRO"/>
        <a:font script="Hang" typeface="휴먼옛체"/>
        <a:font script="Hans" typeface="黑体"/>
        <a:font script="Hant" typeface="微軟正黑體"/>
        <a:font script="Arab" typeface="Tahoma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 Antiqua"/>
        <a:ea typeface=""/>
        <a:cs typeface=""/>
        <a:font script="Grek" typeface="Times New Roman"/>
        <a:font script="Cyrl" typeface="Times New Roman"/>
        <a:font script="Jpan" typeface="HG明朝B"/>
        <a:font script="Hang" typeface="돋움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pex">
      <a:fillStyleLst>
        <a:solidFill>
          <a:schemeClr val="phClr"/>
        </a:solidFill>
        <a:gradFill rotWithShape="1">
          <a:gsLst>
            <a:gs pos="20000">
              <a:schemeClr val="phClr">
                <a:tint val="9000"/>
              </a:schemeClr>
            </a:gs>
            <a:gs pos="100000">
              <a:schemeClr val="phClr">
                <a:tint val="70000"/>
                <a:satMod val="100000"/>
              </a:schemeClr>
            </a:gs>
          </a:gsLst>
          <a:path path="circle">
            <a:fillToRect l="-15000" t="-15000" r="115000" b="115000"/>
          </a:path>
        </a:gradFill>
        <a:gradFill rotWithShape="1">
          <a:gsLst>
            <a:gs pos="0">
              <a:schemeClr val="phClr">
                <a:shade val="60000"/>
              </a:schemeClr>
            </a:gs>
            <a:gs pos="33000">
              <a:schemeClr val="phClr">
                <a:tint val="86500"/>
              </a:schemeClr>
            </a:gs>
            <a:gs pos="46750">
              <a:schemeClr val="phClr">
                <a:tint val="71000"/>
                <a:satMod val="112000"/>
              </a:schemeClr>
            </a:gs>
            <a:gs pos="53000">
              <a:schemeClr val="phClr">
                <a:tint val="71000"/>
                <a:satMod val="112000"/>
              </a:schemeClr>
            </a:gs>
            <a:gs pos="68000">
              <a:schemeClr val="phClr">
                <a:tint val="86000"/>
              </a:schemeClr>
            </a:gs>
            <a:gs pos="100000">
              <a:schemeClr val="phClr">
                <a:shade val="60000"/>
              </a:schemeClr>
            </a:gs>
          </a:gsLst>
          <a:lin ang="8350000" scaled="1"/>
        </a:gradFill>
      </a:fillStyleLst>
      <a:lnStyleLst>
        <a:ln w="9525" cap="flat" cmpd="sng" algn="ctr">
          <a:solidFill>
            <a:schemeClr val="phClr">
              <a:shade val="48000"/>
              <a:satMod val="11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30000" dist="101600" dir="2700000" algn="tl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</a:effectStyle>
        <a:effectStyle>
          <a:effectLst>
            <a:outerShdw blurRad="190500" dist="228600" dir="2700000" sy="90000" rotWithShape="0">
              <a:srgbClr val="000000">
                <a:alpha val="2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180000"/>
              </a:schemeClr>
            </a:gs>
            <a:gs pos="100000">
              <a:schemeClr val="phClr">
                <a:shade val="45000"/>
                <a:satMod val="120000"/>
              </a:schemeClr>
            </a:gs>
          </a:gsLst>
          <a:path path="circle">
            <a:fillToRect r="1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"/>
                <a:satMod val="110000"/>
              </a:schemeClr>
              <a:schemeClr val="phClr">
                <a:tint val="60000"/>
                <a:satMod val="42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3603</TotalTime>
  <Words>1164</Words>
  <Application>Microsoft Office PowerPoint</Application>
  <PresentationFormat>On-screen Show (4:3)</PresentationFormat>
  <Paragraphs>296</Paragraphs>
  <Slides>16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30" baseType="lpstr">
      <vt:lpstr>Albert</vt:lpstr>
      <vt:lpstr>Aptos Narrow</vt:lpstr>
      <vt:lpstr>Arial</vt:lpstr>
      <vt:lpstr>Arial Unicode MS</vt:lpstr>
      <vt:lpstr>Book Antiqua</vt:lpstr>
      <vt:lpstr>Calibri</vt:lpstr>
      <vt:lpstr>Comic Sans MS</vt:lpstr>
      <vt:lpstr>Lucida Sans</vt:lpstr>
      <vt:lpstr>Wingdings</vt:lpstr>
      <vt:lpstr>Wingdings 2</vt:lpstr>
      <vt:lpstr>Wingdings 3</vt:lpstr>
      <vt:lpstr>Apex</vt:lpstr>
      <vt:lpstr>Chart</vt:lpstr>
      <vt:lpstr>Equation</vt:lpstr>
      <vt:lpstr>PENGANTAR  Komputasi Numerik </vt:lpstr>
      <vt:lpstr>Materi minggu ini</vt:lpstr>
      <vt:lpstr>1. Pengertian Komputasi Numerik</vt:lpstr>
      <vt:lpstr>Apa Itu Komputasi Numerik?  (2)</vt:lpstr>
      <vt:lpstr>Apa Itu Komputasi Numerik?  (3)</vt:lpstr>
      <vt:lpstr>Apa Itu Komputasi Numerik?  (4)</vt:lpstr>
      <vt:lpstr>Apa Itu Komputasi Numerik?  (5)</vt:lpstr>
      <vt:lpstr>Apa Itu Komputasi Numerik?  (6)</vt:lpstr>
      <vt:lpstr>2. Bilangan Berarti </vt:lpstr>
      <vt:lpstr>3. Akurasi  dan  Presisi (2)</vt:lpstr>
      <vt:lpstr>4. Aturan Pembulatan     (1)</vt:lpstr>
      <vt:lpstr>5. Pengertian Error</vt:lpstr>
      <vt:lpstr>Pengertian Error</vt:lpstr>
      <vt:lpstr>Buku</vt:lpstr>
      <vt:lpstr>PowerPoint Presentation</vt:lpstr>
      <vt:lpstr>Penilaian </vt:lpstr>
    </vt:vector>
  </TitlesOfParts>
  <Company>Surabaya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Aturan RO 2006</dc:title>
  <dc:creator>Guest</dc:creator>
  <cp:lastModifiedBy>Bilqis Amaliah</cp:lastModifiedBy>
  <cp:revision>137</cp:revision>
  <dcterms:created xsi:type="dcterms:W3CDTF">2006-08-30T12:50:48Z</dcterms:created>
  <dcterms:modified xsi:type="dcterms:W3CDTF">2026-02-22T03:56:40Z</dcterms:modified>
</cp:coreProperties>
</file>